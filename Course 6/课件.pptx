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75" r:id="rId4"/>
    <p:sldId id="276" r:id="rId5"/>
    <p:sldId id="277" r:id="rId6"/>
    <p:sldId id="278" r:id="rId7"/>
    <p:sldId id="279" r:id="rId8"/>
    <p:sldId id="274" r:id="rId9"/>
    <p:sldId id="282" r:id="rId10"/>
    <p:sldId id="283" r:id="rId11"/>
    <p:sldId id="280" r:id="rId12"/>
    <p:sldId id="281" r:id="rId13"/>
    <p:sldId id="285" r:id="rId14"/>
    <p:sldId id="266" r:id="rId15"/>
    <p:sldId id="284" r:id="rId16"/>
    <p:sldId id="272" r:id="rId17"/>
    <p:sldId id="286" r:id="rId18"/>
    <p:sldId id="28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87715" autoAdjust="0"/>
  </p:normalViewPr>
  <p:slideViewPr>
    <p:cSldViewPr snapToGrid="0">
      <p:cViewPr varScale="1">
        <p:scale>
          <a:sx n="97" d="100"/>
          <a:sy n="97" d="100"/>
        </p:scale>
        <p:origin x="4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6B98F1-4929-4136-A9CC-2BB66C9B3A9D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36BA4-AC12-4B47-A9B7-4DBFC532E7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840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297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2ED03-AECC-F044-DDB6-B8E607C79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F57C87-90A2-E68C-4D7C-F22F5292D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49EDA6-32D5-1C6B-5F40-5D054B772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F16F40-DABE-4E66-F0AE-B4D11AA86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918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EBB3C-F8E6-E48C-E609-8BDA5062B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2C1C97-E42F-0C28-0B72-859E120AE1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23E8AA-F8F2-83B2-5F29-67E1EFFF7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7849EE-CA9F-123D-C795-708540A88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567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C17A2-F981-9DF1-7B63-E2C7651FA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E2A4E4-43CA-989F-6031-52DF73B3E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D198F2-471D-2C31-B099-B3DB47ECE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C52BED-E458-620F-1E08-323A4FAD9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510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4A002-F7F2-2E81-8488-39FCFF9D7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2EA0D53-5D0D-8C23-89D6-4A67E0E01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4825FC-95E6-E10C-4AB0-F63CDD686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1A3B55-63FE-C934-E317-0C7AF077C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316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42C71-80D8-FF85-A173-208A68CE6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EC0847-199F-6790-4AEE-0D9637E03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4ACF6A-04B5-AE19-125A-B6EB11983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F34B37-A8DB-6E33-5E77-BCFD7E085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939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535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554DD-35B5-079F-A27B-3B722B299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BBD93A-9DCF-7B66-B140-D61C90D53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82EE1A-C5C8-E72E-46DC-2928C5E2C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3639CA-67DA-C525-BED2-3D6EA08EA6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2678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5591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7C3CA-A301-E1AB-D26B-F800772E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3F8156-15CE-88D0-C959-CEFE048FB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1ECE40-AA5F-064D-15E1-57AAAEF46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D2B605-8C4C-99F2-FDC6-3A4845E6B6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0832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271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10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98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963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770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952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680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44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783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2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89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6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A9CC7-114C-49AD-8DE5-1FF5B4BC8B9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384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unoob.com/note/46684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12E11-7C8B-699E-AFF6-F06255C44F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DCC62B-10E0-FB1D-6444-C409AD2032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第六课</a:t>
            </a:r>
          </a:p>
        </p:txBody>
      </p:sp>
    </p:spTree>
    <p:extLst>
      <p:ext uri="{BB962C8B-B14F-4D97-AF65-F5344CB8AC3E}">
        <p14:creationId xmlns:p14="http://schemas.microsoft.com/office/powerpoint/2010/main" val="1973430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37FA9-E991-4C7A-A6AF-69300F410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本节主要内容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14170C-730F-1C95-B8B9-4E1E25CBF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772609"/>
          </a:xfrm>
        </p:spPr>
        <p:txBody>
          <a:bodyPr>
            <a:normAutofit/>
          </a:bodyPr>
          <a:lstStyle/>
          <a:p>
            <a:r>
              <a:rPr lang="zh-CN" altLang="en-US" dirty="0"/>
              <a:t>介绍最后两种数据类型：</a:t>
            </a:r>
            <a:r>
              <a:rPr lang="en-US" altLang="zh-CN" dirty="0"/>
              <a:t>set</a:t>
            </a:r>
            <a:r>
              <a:rPr lang="zh-CN" altLang="en-US" dirty="0"/>
              <a:t>和</a:t>
            </a:r>
            <a:r>
              <a:rPr lang="en-US" altLang="zh-CN" dirty="0" err="1"/>
              <a:t>NoneType</a:t>
            </a:r>
            <a:r>
              <a:rPr lang="zh-CN" altLang="en-US" dirty="0"/>
              <a:t>。至此我们就介绍完了</a:t>
            </a:r>
            <a:r>
              <a:rPr lang="en-US" altLang="zh-CN" dirty="0"/>
              <a:t>python</a:t>
            </a:r>
            <a:r>
              <a:rPr lang="zh-CN" altLang="en-US" dirty="0"/>
              <a:t>全部的基本数据类型：</a:t>
            </a:r>
            <a:r>
              <a:rPr lang="en-US" altLang="zh-CN" dirty="0"/>
              <a:t>int, float, bool, str, </a:t>
            </a:r>
            <a:r>
              <a:rPr lang="en-US" altLang="zh-CN" dirty="0" err="1"/>
              <a:t>NoneType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list, tuple, </a:t>
            </a:r>
            <a:r>
              <a:rPr lang="en-US" altLang="zh-CN" dirty="0" err="1">
                <a:solidFill>
                  <a:srgbClr val="FF0000"/>
                </a:solidFill>
              </a:rPr>
              <a:t>dict</a:t>
            </a:r>
            <a:r>
              <a:rPr lang="en-US" altLang="zh-CN" dirty="0">
                <a:solidFill>
                  <a:srgbClr val="FF0000"/>
                </a:solidFill>
              </a:rPr>
              <a:t>, set, </a:t>
            </a:r>
            <a:r>
              <a:rPr lang="en-US" altLang="zh-CN" dirty="0"/>
              <a:t>range(</a:t>
            </a:r>
            <a:r>
              <a:rPr lang="zh-CN" altLang="en-US" dirty="0"/>
              <a:t>用于生成给</a:t>
            </a:r>
            <a:r>
              <a:rPr lang="en-US" altLang="zh-CN" dirty="0"/>
              <a:t>for x in range()</a:t>
            </a:r>
            <a:r>
              <a:rPr lang="zh-CN" altLang="en-US" dirty="0"/>
              <a:t>使用的可循环数列</a:t>
            </a:r>
            <a:r>
              <a:rPr lang="en-US" altLang="zh-CN" dirty="0"/>
              <a:t>),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通过对于</a:t>
            </a:r>
            <a:r>
              <a:rPr lang="en-US" altLang="zh-CN" dirty="0"/>
              <a:t>list</a:t>
            </a:r>
            <a:r>
              <a:rPr lang="zh-CN" altLang="en-US" dirty="0"/>
              <a:t>和</a:t>
            </a:r>
            <a:r>
              <a:rPr lang="en-US" altLang="zh-CN" dirty="0"/>
              <a:t>tuple</a:t>
            </a:r>
            <a:r>
              <a:rPr lang="zh-CN" altLang="en-US" dirty="0"/>
              <a:t>进行浅和深两种不同的</a:t>
            </a:r>
            <a:r>
              <a:rPr lang="en-US" altLang="zh-CN" dirty="0"/>
              <a:t>copy</a:t>
            </a:r>
            <a:r>
              <a:rPr lang="zh-CN" altLang="en-US" dirty="0"/>
              <a:t>复制，巩固上节课讲的一个变量可以存放“地址”或“值”的概念。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09344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914C1-14D6-871C-4415-3C98F1D77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F5686C-0880-94F4-51B2-884A39F0B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Set</a:t>
            </a:r>
            <a:endParaRPr lang="zh-CN" altLang="en-US" strike="sngStrike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B6EA55A-A790-9E4B-7E84-E61A17EAEA56}"/>
              </a:ext>
            </a:extLst>
          </p:cNvPr>
          <p:cNvSpPr txBox="1">
            <a:spLocks/>
          </p:cNvSpPr>
          <p:nvPr/>
        </p:nvSpPr>
        <p:spPr>
          <a:xfrm>
            <a:off x="752680" y="3014577"/>
            <a:ext cx="10515600" cy="1026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特性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C0244719-E3F3-E72B-7DA7-6AC2C700087B}"/>
              </a:ext>
            </a:extLst>
          </p:cNvPr>
          <p:cNvSpPr txBox="1">
            <a:spLocks/>
          </p:cNvSpPr>
          <p:nvPr/>
        </p:nvSpPr>
        <p:spPr>
          <a:xfrm>
            <a:off x="1081601" y="3545801"/>
            <a:ext cx="10186679" cy="142090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/>
              <a:t>集合里的元素不可更改，但可以增删。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意思是你无法通过类似 </a:t>
            </a:r>
            <a:r>
              <a:rPr lang="en-US" altLang="zh-CN" sz="2400" dirty="0"/>
              <a:t>list[1] = 5 </a:t>
            </a:r>
            <a:r>
              <a:rPr lang="zh-CN" altLang="en-US" sz="2400" dirty="0"/>
              <a:t>这样的赋值语句更改已经在集合里的元素。但可以使用</a:t>
            </a:r>
            <a:r>
              <a:rPr lang="en-US" altLang="zh-CN" sz="2400" dirty="0"/>
              <a:t>add(), remove()</a:t>
            </a:r>
            <a:r>
              <a:rPr lang="zh-CN" altLang="en-US" sz="2400" dirty="0"/>
              <a:t>来增删。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（回忆：对于数据的基础操作是</a:t>
            </a: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CRUD/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增删改查。集合不支持改，但支持其他）</a:t>
            </a:r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49E43FC8-8B41-74F6-7B03-1E8997F3CB0B}"/>
              </a:ext>
            </a:extLst>
          </p:cNvPr>
          <p:cNvSpPr txBox="1">
            <a:spLocks/>
          </p:cNvSpPr>
          <p:nvPr/>
        </p:nvSpPr>
        <p:spPr>
          <a:xfrm>
            <a:off x="838200" y="1328875"/>
            <a:ext cx="10515600" cy="2100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简介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顾名思义，集合。集合代表里面的元素</a:t>
            </a:r>
            <a:r>
              <a:rPr lang="zh-CN" altLang="en-US" sz="2400" b="1" u="sng" dirty="0">
                <a:solidFill>
                  <a:srgbClr val="FF0000"/>
                </a:solidFill>
              </a:rPr>
              <a:t>不可重复</a:t>
            </a:r>
            <a:r>
              <a:rPr lang="zh-CN" altLang="en-US" sz="2400" dirty="0"/>
              <a:t>，</a:t>
            </a:r>
            <a:r>
              <a:rPr lang="zh-CN" altLang="en-US" sz="2400" b="1" u="sng" dirty="0">
                <a:solidFill>
                  <a:srgbClr val="FF0000"/>
                </a:solidFill>
              </a:rPr>
              <a:t>没有顺序</a:t>
            </a:r>
            <a:r>
              <a:rPr lang="zh-CN" altLang="en-US" sz="2400" dirty="0"/>
              <a:t>（无法通过索引</a:t>
            </a:r>
            <a:r>
              <a:rPr lang="en-US" altLang="zh-CN" sz="2400" dirty="0"/>
              <a:t>0</a:t>
            </a:r>
            <a:r>
              <a:rPr lang="zh-CN" altLang="en-US" sz="2400" dirty="0"/>
              <a:t>、</a:t>
            </a:r>
            <a:r>
              <a:rPr lang="en-US" altLang="zh-CN" sz="2400" dirty="0"/>
              <a:t>1</a:t>
            </a:r>
            <a:r>
              <a:rPr lang="zh-CN" altLang="en-US" sz="2400" dirty="0"/>
              <a:t>、</a:t>
            </a:r>
            <a:r>
              <a:rPr lang="en-US" altLang="zh-CN" sz="2400" dirty="0"/>
              <a:t>2…</a:t>
            </a:r>
            <a:r>
              <a:rPr lang="zh-CN" altLang="en-US" sz="2400" dirty="0"/>
              <a:t>定位元素，且不会按照添加顺序排序）。</a:t>
            </a: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82304EB-009E-BEED-B018-B6446667AF2B}"/>
              </a:ext>
            </a:extLst>
          </p:cNvPr>
          <p:cNvSpPr txBox="1">
            <a:spLocks/>
          </p:cNvSpPr>
          <p:nvPr/>
        </p:nvSpPr>
        <p:spPr>
          <a:xfrm>
            <a:off x="752680" y="5310446"/>
            <a:ext cx="10515600" cy="1026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代码演示</a:t>
            </a:r>
          </a:p>
        </p:txBody>
      </p:sp>
    </p:spTree>
    <p:extLst>
      <p:ext uri="{BB962C8B-B14F-4D97-AF65-F5344CB8AC3E}">
        <p14:creationId xmlns:p14="http://schemas.microsoft.com/office/powerpoint/2010/main" val="376053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4D942-A8C1-951A-60F2-8AAE5B292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C263E7-1CF6-6C15-2177-E1CED20A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Set</a:t>
            </a:r>
            <a:r>
              <a:rPr lang="zh-CN" altLang="en-US" dirty="0"/>
              <a:t>的数学运算</a:t>
            </a:r>
            <a:endParaRPr lang="zh-CN" altLang="en-US" strike="sngStrike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6939AC02-14B8-EB91-A667-549B43C2256F}"/>
              </a:ext>
            </a:extLst>
          </p:cNvPr>
          <p:cNvSpPr txBox="1">
            <a:spLocks/>
          </p:cNvSpPr>
          <p:nvPr/>
        </p:nvSpPr>
        <p:spPr>
          <a:xfrm>
            <a:off x="838200" y="1328875"/>
            <a:ext cx="10515600" cy="2100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并集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语法：</a:t>
            </a:r>
            <a:r>
              <a:rPr lang="en-US" altLang="zh-CN" sz="2400" dirty="0" err="1"/>
              <a:t>set_a.union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set_b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set_c</a:t>
            </a:r>
            <a:r>
              <a:rPr lang="en-US" altLang="zh-CN" sz="2400" dirty="0"/>
              <a:t>, …) </a:t>
            </a:r>
            <a:r>
              <a:rPr lang="zh-CN" altLang="en-US" sz="2400" dirty="0"/>
              <a:t>或者</a:t>
            </a:r>
            <a:r>
              <a:rPr lang="en-GB" altLang="zh-CN" sz="2400" dirty="0" err="1"/>
              <a:t>set_a</a:t>
            </a:r>
            <a:r>
              <a:rPr lang="en-GB" altLang="zh-CN" sz="2400" dirty="0"/>
              <a:t> | </a:t>
            </a:r>
            <a:r>
              <a:rPr lang="en-GB" altLang="zh-CN" sz="2400" dirty="0" err="1"/>
              <a:t>set_b</a:t>
            </a:r>
            <a:r>
              <a:rPr lang="en-GB" altLang="zh-CN" sz="2400" dirty="0"/>
              <a:t> | </a:t>
            </a:r>
            <a:r>
              <a:rPr lang="en-GB" altLang="zh-CN" sz="2400" dirty="0" err="1"/>
              <a:t>set_c</a:t>
            </a:r>
            <a:endParaRPr lang="zh-CN" altLang="en-US" sz="2400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B34C18B-D36E-C46E-C265-CA9AC3E5D519}"/>
              </a:ext>
            </a:extLst>
          </p:cNvPr>
          <p:cNvGrpSpPr/>
          <p:nvPr/>
        </p:nvGrpSpPr>
        <p:grpSpPr>
          <a:xfrm>
            <a:off x="1414358" y="2468551"/>
            <a:ext cx="1841959" cy="1164382"/>
            <a:chOff x="2078778" y="2448816"/>
            <a:chExt cx="1841959" cy="1164382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51F3AEF9-1B75-EE8C-B930-148509221B9F}"/>
                </a:ext>
              </a:extLst>
            </p:cNvPr>
            <p:cNvSpPr/>
            <p:nvPr/>
          </p:nvSpPr>
          <p:spPr>
            <a:xfrm>
              <a:off x="2078778" y="2448816"/>
              <a:ext cx="1164382" cy="11643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F0F208FF-D4C7-5412-2A7F-98EBB9BE2FEA}"/>
                </a:ext>
              </a:extLst>
            </p:cNvPr>
            <p:cNvSpPr/>
            <p:nvPr/>
          </p:nvSpPr>
          <p:spPr>
            <a:xfrm>
              <a:off x="2756355" y="2448816"/>
              <a:ext cx="1164382" cy="11643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361407F-ADAF-9A8A-F8BC-DC9066BF3494}"/>
              </a:ext>
            </a:extLst>
          </p:cNvPr>
          <p:cNvCxnSpPr>
            <a:cxnSpLocks/>
          </p:cNvCxnSpPr>
          <p:nvPr/>
        </p:nvCxnSpPr>
        <p:spPr>
          <a:xfrm flipH="1">
            <a:off x="1559935" y="2606179"/>
            <a:ext cx="243921" cy="2356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A4CA307-91D0-D4B2-0695-3F6C5CC73FEA}"/>
              </a:ext>
            </a:extLst>
          </p:cNvPr>
          <p:cNvCxnSpPr>
            <a:cxnSpLocks/>
          </p:cNvCxnSpPr>
          <p:nvPr/>
        </p:nvCxnSpPr>
        <p:spPr>
          <a:xfrm flipH="1">
            <a:off x="1559935" y="2468551"/>
            <a:ext cx="578051" cy="5490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9835CE1-215F-F535-00AA-70DCA35E2E18}"/>
              </a:ext>
            </a:extLst>
          </p:cNvPr>
          <p:cNvCxnSpPr>
            <a:cxnSpLocks/>
          </p:cNvCxnSpPr>
          <p:nvPr/>
        </p:nvCxnSpPr>
        <p:spPr>
          <a:xfrm flipH="1">
            <a:off x="1487573" y="2554070"/>
            <a:ext cx="716197" cy="6937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5C4BD43-7A52-2ACF-4401-B654A8211553}"/>
              </a:ext>
            </a:extLst>
          </p:cNvPr>
          <p:cNvCxnSpPr>
            <a:cxnSpLocks/>
          </p:cNvCxnSpPr>
          <p:nvPr/>
        </p:nvCxnSpPr>
        <p:spPr>
          <a:xfrm flipH="1">
            <a:off x="1527044" y="2600119"/>
            <a:ext cx="795990" cy="7792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599B967-865D-604A-F7DF-A7509F9A0A96}"/>
              </a:ext>
            </a:extLst>
          </p:cNvPr>
          <p:cNvCxnSpPr>
            <a:cxnSpLocks/>
            <a:stCxn id="4" idx="0"/>
          </p:cNvCxnSpPr>
          <p:nvPr/>
        </p:nvCxnSpPr>
        <p:spPr>
          <a:xfrm flipH="1">
            <a:off x="1632298" y="2468551"/>
            <a:ext cx="1041828" cy="9963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851A47C-549A-F9DE-C47C-D63382C965D6}"/>
              </a:ext>
            </a:extLst>
          </p:cNvPr>
          <p:cNvCxnSpPr>
            <a:cxnSpLocks/>
          </p:cNvCxnSpPr>
          <p:nvPr/>
        </p:nvCxnSpPr>
        <p:spPr>
          <a:xfrm flipH="1">
            <a:off x="1749859" y="2501443"/>
            <a:ext cx="1053399" cy="10070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186C859-3B27-FD1B-6D00-A2DF4DD595C2}"/>
              </a:ext>
            </a:extLst>
          </p:cNvPr>
          <p:cNvCxnSpPr>
            <a:cxnSpLocks/>
          </p:cNvCxnSpPr>
          <p:nvPr/>
        </p:nvCxnSpPr>
        <p:spPr>
          <a:xfrm flipH="1">
            <a:off x="1881427" y="2560648"/>
            <a:ext cx="1053399" cy="10070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FFEDD78-9BE7-2E27-1E73-31907C3315D5}"/>
              </a:ext>
            </a:extLst>
          </p:cNvPr>
          <p:cNvCxnSpPr>
            <a:cxnSpLocks/>
          </p:cNvCxnSpPr>
          <p:nvPr/>
        </p:nvCxnSpPr>
        <p:spPr>
          <a:xfrm flipH="1">
            <a:off x="2098515" y="2633011"/>
            <a:ext cx="1053399" cy="10070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3F66DCE9-234F-DBD8-3477-6B30B818FAAF}"/>
              </a:ext>
            </a:extLst>
          </p:cNvPr>
          <p:cNvCxnSpPr>
            <a:cxnSpLocks/>
          </p:cNvCxnSpPr>
          <p:nvPr/>
        </p:nvCxnSpPr>
        <p:spPr>
          <a:xfrm flipH="1">
            <a:off x="2420858" y="2841876"/>
            <a:ext cx="737636" cy="7323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08EDADC-8DE5-AFAE-66C6-35F5C95C7398}"/>
              </a:ext>
            </a:extLst>
          </p:cNvPr>
          <p:cNvCxnSpPr>
            <a:cxnSpLocks/>
          </p:cNvCxnSpPr>
          <p:nvPr/>
        </p:nvCxnSpPr>
        <p:spPr>
          <a:xfrm flipH="1">
            <a:off x="2569298" y="2920817"/>
            <a:ext cx="661559" cy="6362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F8EA67E-333D-788F-5DE7-43C6FC31CA68}"/>
              </a:ext>
            </a:extLst>
          </p:cNvPr>
          <p:cNvCxnSpPr>
            <a:cxnSpLocks/>
            <a:endCxn id="4" idx="4"/>
          </p:cNvCxnSpPr>
          <p:nvPr/>
        </p:nvCxnSpPr>
        <p:spPr>
          <a:xfrm flipH="1">
            <a:off x="2674126" y="3177939"/>
            <a:ext cx="542721" cy="4549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09996ED9-032A-126D-C39F-1973E9D85158}"/>
              </a:ext>
            </a:extLst>
          </p:cNvPr>
          <p:cNvGrpSpPr/>
          <p:nvPr/>
        </p:nvGrpSpPr>
        <p:grpSpPr>
          <a:xfrm>
            <a:off x="1217006" y="5001257"/>
            <a:ext cx="1841959" cy="1164382"/>
            <a:chOff x="2078778" y="2448816"/>
            <a:chExt cx="1841959" cy="1164382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DE5BC80C-D96B-79A0-8606-78B61A33D065}"/>
                </a:ext>
              </a:extLst>
            </p:cNvPr>
            <p:cNvSpPr/>
            <p:nvPr/>
          </p:nvSpPr>
          <p:spPr>
            <a:xfrm>
              <a:off x="2078778" y="2448816"/>
              <a:ext cx="1164382" cy="11643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5E8EBC9F-A709-FF8E-6C42-3E1CBCCEC1C0}"/>
                </a:ext>
              </a:extLst>
            </p:cNvPr>
            <p:cNvSpPr/>
            <p:nvPr/>
          </p:nvSpPr>
          <p:spPr>
            <a:xfrm>
              <a:off x="2756355" y="2448816"/>
              <a:ext cx="1164382" cy="11643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1" name="内容占位符 2">
            <a:extLst>
              <a:ext uri="{FF2B5EF4-FFF2-40B4-BE49-F238E27FC236}">
                <a16:creationId xmlns:a16="http://schemas.microsoft.com/office/drawing/2014/main" id="{FE6FD361-217F-6B69-AFD2-FB5CBAB93FD9}"/>
              </a:ext>
            </a:extLst>
          </p:cNvPr>
          <p:cNvSpPr txBox="1">
            <a:spLocks/>
          </p:cNvSpPr>
          <p:nvPr/>
        </p:nvSpPr>
        <p:spPr>
          <a:xfrm>
            <a:off x="838200" y="3894458"/>
            <a:ext cx="10515600" cy="2100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交集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语法：</a:t>
            </a:r>
            <a:r>
              <a:rPr lang="en-GB" altLang="zh-CN" sz="2400" dirty="0" err="1"/>
              <a:t>set_a.intersection</a:t>
            </a:r>
            <a:r>
              <a:rPr lang="en-GB" altLang="zh-CN" sz="2400" dirty="0"/>
              <a:t>(</a:t>
            </a:r>
            <a:r>
              <a:rPr lang="en-GB" altLang="zh-CN" sz="2400" dirty="0" err="1"/>
              <a:t>set_b</a:t>
            </a:r>
            <a:r>
              <a:rPr lang="en-GB" altLang="zh-CN" sz="2400" dirty="0"/>
              <a:t>)</a:t>
            </a:r>
            <a:r>
              <a:rPr lang="zh-CN" altLang="en-US" sz="2400" dirty="0"/>
              <a:t>或者</a:t>
            </a:r>
            <a:r>
              <a:rPr lang="en-GB" altLang="zh-CN" sz="2400" dirty="0" err="1"/>
              <a:t>set_a</a:t>
            </a:r>
            <a:r>
              <a:rPr lang="en-GB" altLang="zh-CN" sz="2400" dirty="0"/>
              <a:t> &amp; </a:t>
            </a:r>
            <a:r>
              <a:rPr lang="en-GB" altLang="zh-CN" sz="2400" dirty="0" err="1"/>
              <a:t>set_b</a:t>
            </a:r>
            <a:endParaRPr lang="zh-CN" altLang="en-US" sz="2400" dirty="0"/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D0C3C99D-90FE-4211-5A1E-7A08E3455B3F}"/>
              </a:ext>
            </a:extLst>
          </p:cNvPr>
          <p:cNvCxnSpPr>
            <a:cxnSpLocks/>
            <a:stCxn id="39" idx="7"/>
          </p:cNvCxnSpPr>
          <p:nvPr/>
        </p:nvCxnSpPr>
        <p:spPr>
          <a:xfrm flipH="1">
            <a:off x="1894584" y="5171777"/>
            <a:ext cx="316284" cy="408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5D4E873B-D283-38FB-684C-7C77DE1CAF8C}"/>
              </a:ext>
            </a:extLst>
          </p:cNvPr>
          <p:cNvCxnSpPr>
            <a:cxnSpLocks/>
          </p:cNvCxnSpPr>
          <p:nvPr/>
        </p:nvCxnSpPr>
        <p:spPr>
          <a:xfrm flipH="1">
            <a:off x="1947211" y="5270454"/>
            <a:ext cx="316284" cy="408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646A95F2-CFCC-E6D4-6CE4-3A230D1B7EFA}"/>
              </a:ext>
            </a:extLst>
          </p:cNvPr>
          <p:cNvCxnSpPr>
            <a:cxnSpLocks/>
          </p:cNvCxnSpPr>
          <p:nvPr/>
        </p:nvCxnSpPr>
        <p:spPr>
          <a:xfrm flipH="1">
            <a:off x="1999839" y="5388866"/>
            <a:ext cx="316284" cy="408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D273468D-C8AA-65B1-AEBD-F8216082D547}"/>
              </a:ext>
            </a:extLst>
          </p:cNvPr>
          <p:cNvCxnSpPr>
            <a:cxnSpLocks/>
          </p:cNvCxnSpPr>
          <p:nvPr/>
        </p:nvCxnSpPr>
        <p:spPr>
          <a:xfrm flipH="1">
            <a:off x="2039309" y="5480964"/>
            <a:ext cx="316284" cy="408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2913E20-040C-6BF1-CD57-38D8C00D1112}"/>
              </a:ext>
            </a:extLst>
          </p:cNvPr>
          <p:cNvCxnSpPr>
            <a:cxnSpLocks/>
          </p:cNvCxnSpPr>
          <p:nvPr/>
        </p:nvCxnSpPr>
        <p:spPr>
          <a:xfrm flipH="1">
            <a:off x="2078780" y="5586218"/>
            <a:ext cx="316284" cy="408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338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42A9F-4775-FDAA-4D52-84AF12DA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87A34F-93FD-E605-988C-4D2E7E884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Set</a:t>
            </a:r>
            <a:r>
              <a:rPr lang="zh-CN" altLang="en-US" dirty="0"/>
              <a:t>的数学运算</a:t>
            </a:r>
            <a:endParaRPr lang="zh-CN" altLang="en-US" strike="sngStrike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3CAD215F-BA40-CDC3-045C-0933CCE79C2A}"/>
              </a:ext>
            </a:extLst>
          </p:cNvPr>
          <p:cNvSpPr txBox="1">
            <a:spLocks/>
          </p:cNvSpPr>
          <p:nvPr/>
        </p:nvSpPr>
        <p:spPr>
          <a:xfrm>
            <a:off x="838200" y="1328875"/>
            <a:ext cx="10515600" cy="2100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差集</a:t>
            </a:r>
            <a:r>
              <a:rPr lang="en-US" altLang="zh-CN" dirty="0"/>
              <a:t>/</a:t>
            </a:r>
            <a:r>
              <a:rPr lang="zh-CN" altLang="en-US" dirty="0"/>
              <a:t>补集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语法：</a:t>
            </a:r>
            <a:r>
              <a:rPr lang="en-GB" altLang="zh-CN" sz="2400" dirty="0" err="1"/>
              <a:t>set_a.difference</a:t>
            </a:r>
            <a:r>
              <a:rPr lang="en-GB" altLang="zh-CN" sz="2400" dirty="0"/>
              <a:t>(</a:t>
            </a:r>
            <a:r>
              <a:rPr lang="en-GB" altLang="zh-CN" sz="2400" dirty="0" err="1"/>
              <a:t>set_b</a:t>
            </a:r>
            <a:r>
              <a:rPr lang="en-GB" altLang="zh-CN" sz="2400" dirty="0"/>
              <a:t>)</a:t>
            </a:r>
            <a:r>
              <a:rPr lang="zh-CN" altLang="en-US" sz="2400" dirty="0"/>
              <a:t>或者</a:t>
            </a:r>
            <a:r>
              <a:rPr lang="en-GB" altLang="zh-CN" sz="2400" dirty="0" err="1"/>
              <a:t>set_a</a:t>
            </a:r>
            <a:r>
              <a:rPr lang="en-GB" altLang="zh-CN" sz="2400" dirty="0"/>
              <a:t> - </a:t>
            </a:r>
            <a:r>
              <a:rPr lang="en-GB" altLang="zh-CN" sz="2400" dirty="0" err="1"/>
              <a:t>set_b</a:t>
            </a:r>
            <a:endParaRPr lang="zh-CN" altLang="en-US" sz="2400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105FEE6-A92D-7271-27FB-E305D6A28529}"/>
              </a:ext>
            </a:extLst>
          </p:cNvPr>
          <p:cNvGrpSpPr/>
          <p:nvPr/>
        </p:nvGrpSpPr>
        <p:grpSpPr>
          <a:xfrm>
            <a:off x="1414358" y="2468551"/>
            <a:ext cx="1841959" cy="1164382"/>
            <a:chOff x="2078778" y="2448816"/>
            <a:chExt cx="1841959" cy="1164382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4D878534-6934-2D76-57CD-180DD4E82D80}"/>
                </a:ext>
              </a:extLst>
            </p:cNvPr>
            <p:cNvSpPr/>
            <p:nvPr/>
          </p:nvSpPr>
          <p:spPr>
            <a:xfrm>
              <a:off x="2078778" y="2448816"/>
              <a:ext cx="1164382" cy="11643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73103CAA-DF9B-45D4-D638-DF989018CA59}"/>
                </a:ext>
              </a:extLst>
            </p:cNvPr>
            <p:cNvSpPr/>
            <p:nvPr/>
          </p:nvSpPr>
          <p:spPr>
            <a:xfrm>
              <a:off x="2756355" y="2448816"/>
              <a:ext cx="1164382" cy="11643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9428F2-2FA8-B24E-AEB3-0902A4EF6FA1}"/>
              </a:ext>
            </a:extLst>
          </p:cNvPr>
          <p:cNvCxnSpPr>
            <a:cxnSpLocks/>
          </p:cNvCxnSpPr>
          <p:nvPr/>
        </p:nvCxnSpPr>
        <p:spPr>
          <a:xfrm flipH="1">
            <a:off x="1559935" y="2606179"/>
            <a:ext cx="243921" cy="2356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BA7CC99-E2D4-AD99-A64F-954A2359008D}"/>
              </a:ext>
            </a:extLst>
          </p:cNvPr>
          <p:cNvCxnSpPr>
            <a:cxnSpLocks/>
          </p:cNvCxnSpPr>
          <p:nvPr/>
        </p:nvCxnSpPr>
        <p:spPr>
          <a:xfrm flipH="1">
            <a:off x="1559935" y="2468551"/>
            <a:ext cx="578051" cy="5490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6C750F8-9C1C-425B-8D72-DAED218EDF4B}"/>
              </a:ext>
            </a:extLst>
          </p:cNvPr>
          <p:cNvCxnSpPr>
            <a:cxnSpLocks/>
          </p:cNvCxnSpPr>
          <p:nvPr/>
        </p:nvCxnSpPr>
        <p:spPr>
          <a:xfrm flipH="1">
            <a:off x="1487573" y="2554070"/>
            <a:ext cx="716197" cy="6937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25F7743-704E-81CC-C712-FCFD70AB20BA}"/>
              </a:ext>
            </a:extLst>
          </p:cNvPr>
          <p:cNvCxnSpPr>
            <a:cxnSpLocks/>
          </p:cNvCxnSpPr>
          <p:nvPr/>
        </p:nvCxnSpPr>
        <p:spPr>
          <a:xfrm flipH="1">
            <a:off x="1527044" y="2600119"/>
            <a:ext cx="795990" cy="7792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50FD241-F86D-C324-E75E-60F7C7D901F7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1618292" y="3050742"/>
            <a:ext cx="473643" cy="4192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B8D0EEC-201B-6C3F-3F70-8D1EDF2DCCE1}"/>
              </a:ext>
            </a:extLst>
          </p:cNvPr>
          <p:cNvCxnSpPr>
            <a:cxnSpLocks/>
          </p:cNvCxnSpPr>
          <p:nvPr/>
        </p:nvCxnSpPr>
        <p:spPr>
          <a:xfrm flipH="1">
            <a:off x="1742852" y="3260376"/>
            <a:ext cx="349083" cy="2870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2087560-85ED-26F9-00FE-08C4EE507659}"/>
              </a:ext>
            </a:extLst>
          </p:cNvPr>
          <p:cNvCxnSpPr>
            <a:cxnSpLocks/>
          </p:cNvCxnSpPr>
          <p:nvPr/>
        </p:nvCxnSpPr>
        <p:spPr>
          <a:xfrm flipH="1">
            <a:off x="1937556" y="3353088"/>
            <a:ext cx="231249" cy="2184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ABAFB29-DEEC-0F3D-3E64-EEB3FA5BD843}"/>
              </a:ext>
            </a:extLst>
          </p:cNvPr>
          <p:cNvGrpSpPr/>
          <p:nvPr/>
        </p:nvGrpSpPr>
        <p:grpSpPr>
          <a:xfrm>
            <a:off x="1217006" y="5001257"/>
            <a:ext cx="1841959" cy="1164382"/>
            <a:chOff x="2078778" y="2448816"/>
            <a:chExt cx="1841959" cy="1164382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1CFA52F9-53D3-CC93-52B4-AFA6D8E51B85}"/>
                </a:ext>
              </a:extLst>
            </p:cNvPr>
            <p:cNvSpPr/>
            <p:nvPr/>
          </p:nvSpPr>
          <p:spPr>
            <a:xfrm>
              <a:off x="2078778" y="2448816"/>
              <a:ext cx="1164382" cy="11643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D80BB531-CAC5-6577-7A11-09BB5240615C}"/>
                </a:ext>
              </a:extLst>
            </p:cNvPr>
            <p:cNvSpPr/>
            <p:nvPr/>
          </p:nvSpPr>
          <p:spPr>
            <a:xfrm>
              <a:off x="2756355" y="2448816"/>
              <a:ext cx="1164382" cy="11643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1" name="内容占位符 2">
            <a:extLst>
              <a:ext uri="{FF2B5EF4-FFF2-40B4-BE49-F238E27FC236}">
                <a16:creationId xmlns:a16="http://schemas.microsoft.com/office/drawing/2014/main" id="{E0741434-86D8-1775-12F9-5BD60BF00E2A}"/>
              </a:ext>
            </a:extLst>
          </p:cNvPr>
          <p:cNvSpPr txBox="1">
            <a:spLocks/>
          </p:cNvSpPr>
          <p:nvPr/>
        </p:nvSpPr>
        <p:spPr>
          <a:xfrm>
            <a:off x="838200" y="3894458"/>
            <a:ext cx="10515600" cy="2100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对称差集</a:t>
            </a:r>
            <a:r>
              <a:rPr lang="en-US" altLang="zh-CN" dirty="0"/>
              <a:t>/</a:t>
            </a:r>
            <a:r>
              <a:rPr lang="zh-CN" altLang="en-US" dirty="0"/>
              <a:t>反交集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语法：</a:t>
            </a:r>
            <a:r>
              <a:rPr lang="en-GB" altLang="zh-CN" sz="2400" dirty="0" err="1"/>
              <a:t>set_a.symmetric_difference</a:t>
            </a:r>
            <a:r>
              <a:rPr lang="en-GB" altLang="zh-CN" sz="2400" dirty="0"/>
              <a:t>(</a:t>
            </a:r>
            <a:r>
              <a:rPr lang="en-GB" altLang="zh-CN" sz="2400" dirty="0" err="1"/>
              <a:t>set_b</a:t>
            </a:r>
            <a:r>
              <a:rPr lang="en-GB" altLang="zh-CN" sz="2400" dirty="0"/>
              <a:t>)</a:t>
            </a:r>
            <a:r>
              <a:rPr lang="zh-CN" altLang="en-US" sz="2400" dirty="0"/>
              <a:t>或者</a:t>
            </a:r>
            <a:r>
              <a:rPr lang="en-GB" altLang="zh-CN" sz="2400" dirty="0" err="1"/>
              <a:t>set_a</a:t>
            </a:r>
            <a:r>
              <a:rPr lang="en-GB" altLang="zh-CN" sz="2400" dirty="0"/>
              <a:t> ^ </a:t>
            </a:r>
            <a:r>
              <a:rPr lang="en-GB" altLang="zh-CN" sz="2400" dirty="0" err="1"/>
              <a:t>set_b</a:t>
            </a:r>
            <a:endParaRPr lang="zh-CN" altLang="en-US" sz="2400" dirty="0"/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D158CB5B-075A-572C-5ECB-07463FC8CE48}"/>
              </a:ext>
            </a:extLst>
          </p:cNvPr>
          <p:cNvCxnSpPr>
            <a:cxnSpLocks/>
          </p:cNvCxnSpPr>
          <p:nvPr/>
        </p:nvCxnSpPr>
        <p:spPr>
          <a:xfrm flipH="1">
            <a:off x="1265564" y="5022125"/>
            <a:ext cx="471916" cy="6698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87EF72C-D432-1E4E-D74D-894B54688BF3}"/>
              </a:ext>
            </a:extLst>
          </p:cNvPr>
          <p:cNvCxnSpPr>
            <a:cxnSpLocks/>
          </p:cNvCxnSpPr>
          <p:nvPr/>
        </p:nvCxnSpPr>
        <p:spPr>
          <a:xfrm flipH="1">
            <a:off x="1256216" y="5072080"/>
            <a:ext cx="316284" cy="408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E67BA762-4B32-3CA0-C9A5-6A2000BD982D}"/>
              </a:ext>
            </a:extLst>
          </p:cNvPr>
          <p:cNvCxnSpPr>
            <a:cxnSpLocks/>
          </p:cNvCxnSpPr>
          <p:nvPr/>
        </p:nvCxnSpPr>
        <p:spPr>
          <a:xfrm flipH="1">
            <a:off x="1340351" y="5021606"/>
            <a:ext cx="554492" cy="7690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B7337DDE-A5D8-36A8-FFE8-4FB2A95FCF69}"/>
              </a:ext>
            </a:extLst>
          </p:cNvPr>
          <p:cNvCxnSpPr>
            <a:cxnSpLocks/>
            <a:endCxn id="39" idx="3"/>
          </p:cNvCxnSpPr>
          <p:nvPr/>
        </p:nvCxnSpPr>
        <p:spPr>
          <a:xfrm flipH="1">
            <a:off x="1387526" y="5044138"/>
            <a:ext cx="638020" cy="9509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1D8FE30C-BBB8-DD16-3607-6749858317DE}"/>
              </a:ext>
            </a:extLst>
          </p:cNvPr>
          <p:cNvCxnSpPr>
            <a:cxnSpLocks/>
          </p:cNvCxnSpPr>
          <p:nvPr/>
        </p:nvCxnSpPr>
        <p:spPr>
          <a:xfrm flipH="1">
            <a:off x="1501522" y="5487841"/>
            <a:ext cx="387262" cy="5496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D19E677-E935-EC79-A15C-E70C64C0C8EA}"/>
              </a:ext>
            </a:extLst>
          </p:cNvPr>
          <p:cNvCxnSpPr>
            <a:cxnSpLocks/>
          </p:cNvCxnSpPr>
          <p:nvPr/>
        </p:nvCxnSpPr>
        <p:spPr>
          <a:xfrm flipH="1">
            <a:off x="1593620" y="5762652"/>
            <a:ext cx="279454" cy="3537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3DAB123-341E-462B-94EA-C43760ADE875}"/>
              </a:ext>
            </a:extLst>
          </p:cNvPr>
          <p:cNvCxnSpPr>
            <a:cxnSpLocks/>
          </p:cNvCxnSpPr>
          <p:nvPr/>
        </p:nvCxnSpPr>
        <p:spPr>
          <a:xfrm flipH="1">
            <a:off x="1718610" y="5885205"/>
            <a:ext cx="214715" cy="2706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27BBED0-D619-CC8C-6B5F-5F3375A0F420}"/>
              </a:ext>
            </a:extLst>
          </p:cNvPr>
          <p:cNvCxnSpPr>
            <a:cxnSpLocks/>
            <a:stCxn id="40" idx="3"/>
          </p:cNvCxnSpPr>
          <p:nvPr/>
        </p:nvCxnSpPr>
        <p:spPr>
          <a:xfrm flipH="1">
            <a:off x="1883071" y="5995119"/>
            <a:ext cx="182032" cy="1936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9B28142-55D3-D8F9-CDD8-DBF9273F7FE3}"/>
              </a:ext>
            </a:extLst>
          </p:cNvPr>
          <p:cNvCxnSpPr>
            <a:cxnSpLocks/>
          </p:cNvCxnSpPr>
          <p:nvPr/>
        </p:nvCxnSpPr>
        <p:spPr>
          <a:xfrm flipH="1">
            <a:off x="2277776" y="5021513"/>
            <a:ext cx="182032" cy="1936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80426AEB-3D27-52A2-169F-C184B05DFD92}"/>
              </a:ext>
            </a:extLst>
          </p:cNvPr>
          <p:cNvCxnSpPr>
            <a:cxnSpLocks/>
          </p:cNvCxnSpPr>
          <p:nvPr/>
        </p:nvCxnSpPr>
        <p:spPr>
          <a:xfrm flipH="1">
            <a:off x="2262455" y="5149393"/>
            <a:ext cx="638020" cy="9509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54320B0-E813-C212-2800-4BFA9F956563}"/>
              </a:ext>
            </a:extLst>
          </p:cNvPr>
          <p:cNvCxnSpPr>
            <a:cxnSpLocks/>
            <a:endCxn id="39" idx="6"/>
          </p:cNvCxnSpPr>
          <p:nvPr/>
        </p:nvCxnSpPr>
        <p:spPr>
          <a:xfrm flipH="1">
            <a:off x="2381388" y="5063873"/>
            <a:ext cx="380940" cy="5195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A101F4A8-C400-8207-8F50-A2A864DA952A}"/>
              </a:ext>
            </a:extLst>
          </p:cNvPr>
          <p:cNvCxnSpPr>
            <a:cxnSpLocks/>
          </p:cNvCxnSpPr>
          <p:nvPr/>
        </p:nvCxnSpPr>
        <p:spPr>
          <a:xfrm flipH="1">
            <a:off x="2368792" y="4991510"/>
            <a:ext cx="255389" cy="3321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5F780FEA-FB67-D511-9B1B-AC8232625E84}"/>
              </a:ext>
            </a:extLst>
          </p:cNvPr>
          <p:cNvCxnSpPr>
            <a:cxnSpLocks/>
            <a:endCxn id="40" idx="4"/>
          </p:cNvCxnSpPr>
          <p:nvPr/>
        </p:nvCxnSpPr>
        <p:spPr>
          <a:xfrm flipH="1">
            <a:off x="2476774" y="5274382"/>
            <a:ext cx="502642" cy="8912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81F36234-F9FD-9FDA-1385-786D95797A45}"/>
              </a:ext>
            </a:extLst>
          </p:cNvPr>
          <p:cNvCxnSpPr>
            <a:cxnSpLocks/>
            <a:stCxn id="40" idx="6"/>
          </p:cNvCxnSpPr>
          <p:nvPr/>
        </p:nvCxnSpPr>
        <p:spPr>
          <a:xfrm flipH="1">
            <a:off x="2667548" y="5583448"/>
            <a:ext cx="391417" cy="5295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81BDACC2-DF0F-5E36-B5CB-24E89428439C}"/>
              </a:ext>
            </a:extLst>
          </p:cNvPr>
          <p:cNvSpPr txBox="1"/>
          <p:nvPr/>
        </p:nvSpPr>
        <p:spPr>
          <a:xfrm>
            <a:off x="7659186" y="6059931"/>
            <a:ext cx="4013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代码文件：</a:t>
            </a:r>
            <a:r>
              <a:rPr lang="en-GB" altLang="zh-CN" sz="2000" dirty="0"/>
              <a:t>set_cal.py </a:t>
            </a:r>
            <a:r>
              <a:rPr lang="zh-CN" altLang="en-US" sz="2000" dirty="0"/>
              <a:t>课上不演示</a:t>
            </a:r>
          </a:p>
        </p:txBody>
      </p:sp>
    </p:spTree>
    <p:extLst>
      <p:ext uri="{BB962C8B-B14F-4D97-AF65-F5344CB8AC3E}">
        <p14:creationId xmlns:p14="http://schemas.microsoft.com/office/powerpoint/2010/main" val="1453595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6A7B3-D3CB-54C6-C5F1-BA53B87AC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E5F23A-74C8-811C-567E-06DEF0A31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NoneType</a:t>
            </a:r>
            <a:endParaRPr lang="zh-CN" altLang="en-US" strike="sngStrike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1" name="内容占位符 2">
            <a:extLst>
              <a:ext uri="{FF2B5EF4-FFF2-40B4-BE49-F238E27FC236}">
                <a16:creationId xmlns:a16="http://schemas.microsoft.com/office/drawing/2014/main" id="{DCAF7820-B713-6AFA-1F93-E3F8F3C0F5C5}"/>
              </a:ext>
            </a:extLst>
          </p:cNvPr>
          <p:cNvSpPr txBox="1">
            <a:spLocks/>
          </p:cNvSpPr>
          <p:nvPr/>
        </p:nvSpPr>
        <p:spPr>
          <a:xfrm>
            <a:off x="838200" y="1618333"/>
            <a:ext cx="10515600" cy="4032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关键词：</a:t>
            </a:r>
            <a:r>
              <a:rPr lang="en-US" altLang="zh-CN" dirty="0"/>
              <a:t>None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定义：用于表示空。它不等同于</a:t>
            </a:r>
            <a:r>
              <a:rPr lang="en-US" altLang="zh-CN" dirty="0"/>
              <a:t>False(False != None)</a:t>
            </a:r>
            <a:r>
              <a:rPr lang="zh-CN" altLang="en-US" dirty="0"/>
              <a:t>，也不等同于</a:t>
            </a:r>
            <a:r>
              <a:rPr lang="en-US" altLang="zh-CN" dirty="0"/>
              <a:t>0</a:t>
            </a:r>
            <a:r>
              <a:rPr lang="zh-CN" altLang="en-US" dirty="0"/>
              <a:t>，也不等同于无值。它就是空。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用法：用于表示函数不返回任何值，或者某个变量还没有值。</a:t>
            </a:r>
            <a:r>
              <a:rPr lang="en-US" altLang="zh-CN" dirty="0"/>
              <a:t>-》</a:t>
            </a:r>
            <a:r>
              <a:rPr lang="zh-CN" altLang="en-US" dirty="0"/>
              <a:t>代码演示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9217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2D365-C73A-B27C-07D6-555D7E571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ABD6C4-69D0-B922-DC98-D847BA031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Copy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7774008-BE69-6733-2D34-27EC4C9A40F7}"/>
              </a:ext>
            </a:extLst>
          </p:cNvPr>
          <p:cNvSpPr txBox="1">
            <a:spLocks/>
          </p:cNvSpPr>
          <p:nvPr/>
        </p:nvSpPr>
        <p:spPr>
          <a:xfrm>
            <a:off x="752680" y="1560745"/>
            <a:ext cx="10515600" cy="1026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690D12D-F358-A2FA-CB79-9964CB22535F}"/>
              </a:ext>
            </a:extLst>
          </p:cNvPr>
          <p:cNvSpPr txBox="1">
            <a:spLocks/>
          </p:cNvSpPr>
          <p:nvPr/>
        </p:nvSpPr>
        <p:spPr>
          <a:xfrm>
            <a:off x="752680" y="1527852"/>
            <a:ext cx="10515600" cy="2669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引入原因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我们已经知道，对于复合对象</a:t>
            </a:r>
            <a:r>
              <a:rPr lang="en-US" altLang="zh-CN" sz="2400" dirty="0"/>
              <a:t>a</a:t>
            </a:r>
            <a:r>
              <a:rPr lang="zh-CN" altLang="en-US" sz="2400" dirty="0"/>
              <a:t>（</a:t>
            </a:r>
            <a:r>
              <a:rPr lang="en-GB" altLang="zh-CN" sz="2400" dirty="0"/>
              <a:t>list, tuple, </a:t>
            </a:r>
            <a:r>
              <a:rPr lang="en-GB" altLang="zh-CN" sz="2400" dirty="0" err="1"/>
              <a:t>dict</a:t>
            </a:r>
            <a:r>
              <a:rPr lang="en-GB" altLang="zh-CN" sz="2400" dirty="0"/>
              <a:t>, set, </a:t>
            </a:r>
            <a:r>
              <a:rPr lang="zh-CN" altLang="en-US" sz="2400" dirty="0"/>
              <a:t>用户定义的类等）</a:t>
            </a:r>
            <a:r>
              <a:rPr lang="en-US" altLang="zh-CN" sz="2400" dirty="0"/>
              <a:t>, b=a </a:t>
            </a:r>
            <a:r>
              <a:rPr lang="zh-CN" altLang="en-US" sz="2400" dirty="0"/>
              <a:t>的赋值语句会把</a:t>
            </a:r>
            <a:r>
              <a:rPr lang="en-US" altLang="zh-CN" sz="2400" dirty="0"/>
              <a:t>a</a:t>
            </a:r>
            <a:r>
              <a:rPr lang="zh-CN" altLang="en-US" sz="2400" dirty="0"/>
              <a:t>里面存储的引用地址赋给</a:t>
            </a:r>
            <a:r>
              <a:rPr lang="en-US" altLang="zh-CN" sz="2400" dirty="0"/>
              <a:t>b</a:t>
            </a:r>
            <a:r>
              <a:rPr lang="zh-CN" altLang="en-US" sz="2400" dirty="0"/>
              <a:t>，而非复制对象本身。因此对</a:t>
            </a:r>
            <a:r>
              <a:rPr lang="en-US" altLang="zh-CN" sz="2400" dirty="0"/>
              <a:t>a</a:t>
            </a:r>
            <a:r>
              <a:rPr lang="zh-CN" altLang="en-US" sz="2400" dirty="0"/>
              <a:t>或</a:t>
            </a:r>
            <a:r>
              <a:rPr lang="en-US" altLang="zh-CN" sz="2400" dirty="0"/>
              <a:t>b</a:t>
            </a:r>
            <a:r>
              <a:rPr lang="zh-CN" altLang="en-US" sz="2400" dirty="0"/>
              <a:t>中元素的修改就等于同时修改</a:t>
            </a:r>
            <a:r>
              <a:rPr lang="en-US" altLang="zh-CN" sz="2400" dirty="0"/>
              <a:t>a</a:t>
            </a:r>
            <a:r>
              <a:rPr lang="zh-CN" altLang="en-US" sz="2400" dirty="0"/>
              <a:t>、</a:t>
            </a:r>
            <a:r>
              <a:rPr lang="en-US" altLang="zh-CN" sz="2400" dirty="0"/>
              <a:t>b</a:t>
            </a:r>
            <a:r>
              <a:rPr lang="zh-CN" altLang="en-US" sz="2400" dirty="0"/>
              <a:t>两个引用的对象中的元素。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因此，我们需要一个方法，来真正的复制一个副本。对副本的修改不影响原件，反之亦然</a:t>
            </a:r>
          </a:p>
        </p:txBody>
      </p:sp>
    </p:spTree>
    <p:extLst>
      <p:ext uri="{BB962C8B-B14F-4D97-AF65-F5344CB8AC3E}">
        <p14:creationId xmlns:p14="http://schemas.microsoft.com/office/powerpoint/2010/main" val="1040382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181AE2D-65E3-52B1-6E08-2E6047FB78C5}"/>
              </a:ext>
            </a:extLst>
          </p:cNvPr>
          <p:cNvSpPr/>
          <p:nvPr/>
        </p:nvSpPr>
        <p:spPr>
          <a:xfrm>
            <a:off x="1420938" y="1151224"/>
            <a:ext cx="2993180" cy="31050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ACD229-3F60-EE4C-6D67-0F15D7DF4E0D}"/>
              </a:ext>
            </a:extLst>
          </p:cNvPr>
          <p:cNvSpPr txBox="1"/>
          <p:nvPr/>
        </p:nvSpPr>
        <p:spPr>
          <a:xfrm>
            <a:off x="1532771" y="1230164"/>
            <a:ext cx="1795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命名空间 (dict) </a:t>
            </a:r>
          </a:p>
          <a:p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6F9C4F-8EB8-DEAC-F9E3-0E7673591E50}"/>
              </a:ext>
            </a:extLst>
          </p:cNvPr>
          <p:cNvSpPr/>
          <p:nvPr/>
        </p:nvSpPr>
        <p:spPr>
          <a:xfrm>
            <a:off x="5736378" y="1151224"/>
            <a:ext cx="5394304" cy="38812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B6E7B6-2549-B4D8-0A9F-FCB8F1D9AEFE}"/>
              </a:ext>
            </a:extLst>
          </p:cNvPr>
          <p:cNvSpPr txBox="1"/>
          <p:nvPr/>
        </p:nvSpPr>
        <p:spPr>
          <a:xfrm>
            <a:off x="5841634" y="1230164"/>
            <a:ext cx="499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0CBAA0-AC46-935E-06A3-A8F9C2B102B7}"/>
              </a:ext>
            </a:extLst>
          </p:cNvPr>
          <p:cNvSpPr/>
          <p:nvPr/>
        </p:nvSpPr>
        <p:spPr>
          <a:xfrm>
            <a:off x="1710388" y="2749779"/>
            <a:ext cx="249979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0x0011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6E1422-E8EA-7001-60DA-5EF0E15F58D8}"/>
              </a:ext>
            </a:extLst>
          </p:cNvPr>
          <p:cNvSpPr txBox="1"/>
          <p:nvPr/>
        </p:nvSpPr>
        <p:spPr>
          <a:xfrm>
            <a:off x="1585399" y="4564483"/>
            <a:ext cx="3519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 = [1, 2, 3]</a:t>
            </a:r>
          </a:p>
          <a:p>
            <a:r>
              <a:rPr lang="en-US" altLang="zh-CN" dirty="0"/>
              <a:t>b = a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54C6228-BE68-4015-0D28-78D4B494A84F}"/>
              </a:ext>
            </a:extLst>
          </p:cNvPr>
          <p:cNvSpPr txBox="1"/>
          <p:nvPr/>
        </p:nvSpPr>
        <p:spPr>
          <a:xfrm>
            <a:off x="661130" y="2776091"/>
            <a:ext cx="65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6FC33167-8FFE-0E49-19AC-4095853B379E}"/>
              </a:ext>
            </a:extLst>
          </p:cNvPr>
          <p:cNvCxnSpPr>
            <a:cxnSpLocks/>
          </p:cNvCxnSpPr>
          <p:nvPr/>
        </p:nvCxnSpPr>
        <p:spPr>
          <a:xfrm flipV="1">
            <a:off x="4210187" y="2293517"/>
            <a:ext cx="2131407" cy="66724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AD04A400-7272-F1AD-0C2A-B976CB53DFB7}"/>
              </a:ext>
            </a:extLst>
          </p:cNvPr>
          <p:cNvSpPr/>
          <p:nvPr/>
        </p:nvSpPr>
        <p:spPr>
          <a:xfrm>
            <a:off x="6341594" y="1720255"/>
            <a:ext cx="1716967" cy="2111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696F1E7-5A5F-9582-E8B1-0A5E45644BEC}"/>
              </a:ext>
            </a:extLst>
          </p:cNvPr>
          <p:cNvSpPr txBox="1"/>
          <p:nvPr/>
        </p:nvSpPr>
        <p:spPr>
          <a:xfrm>
            <a:off x="6341594" y="1720255"/>
            <a:ext cx="756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list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059BDD0-D554-B718-7862-4A28A0635D47}"/>
              </a:ext>
            </a:extLst>
          </p:cNvPr>
          <p:cNvSpPr txBox="1"/>
          <p:nvPr/>
        </p:nvSpPr>
        <p:spPr>
          <a:xfrm>
            <a:off x="6446849" y="2123654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55AD104-6C80-9173-540F-369CE52C1DDB}"/>
              </a:ext>
            </a:extLst>
          </p:cNvPr>
          <p:cNvSpPr txBox="1"/>
          <p:nvPr/>
        </p:nvSpPr>
        <p:spPr>
          <a:xfrm>
            <a:off x="6446849" y="2492045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1887894-208B-B8BE-C933-BA919B2D43A1}"/>
              </a:ext>
            </a:extLst>
          </p:cNvPr>
          <p:cNvSpPr txBox="1"/>
          <p:nvPr/>
        </p:nvSpPr>
        <p:spPr>
          <a:xfrm>
            <a:off x="6446849" y="2860436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1E0F34B-012B-4B76-8F28-F215C6F6ABFA}"/>
              </a:ext>
            </a:extLst>
          </p:cNvPr>
          <p:cNvSpPr/>
          <p:nvPr/>
        </p:nvSpPr>
        <p:spPr>
          <a:xfrm>
            <a:off x="1710388" y="3124748"/>
            <a:ext cx="249979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0x0011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38E7DE0-DEBA-25AC-CC4E-523302AE6B93}"/>
              </a:ext>
            </a:extLst>
          </p:cNvPr>
          <p:cNvSpPr txBox="1"/>
          <p:nvPr/>
        </p:nvSpPr>
        <p:spPr>
          <a:xfrm>
            <a:off x="661130" y="3111591"/>
            <a:ext cx="65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C54A94B-E6E8-37CB-7C86-B02AB5A22934}"/>
              </a:ext>
            </a:extLst>
          </p:cNvPr>
          <p:cNvSpPr txBox="1"/>
          <p:nvPr/>
        </p:nvSpPr>
        <p:spPr>
          <a:xfrm>
            <a:off x="838747" y="468007"/>
            <a:ext cx="2851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b=a </a:t>
            </a:r>
            <a:r>
              <a:rPr lang="zh-CN" altLang="en-US" sz="2400" dirty="0"/>
              <a:t>的赋值 </a:t>
            </a:r>
            <a:r>
              <a:rPr lang="en-US" altLang="zh-CN" sz="2400" dirty="0"/>
              <a:t>1/2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3647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9B13E-014D-A3EF-2EF1-06017D561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5D56095-E5C3-16A5-73BE-843E2C5DF6FE}"/>
              </a:ext>
            </a:extLst>
          </p:cNvPr>
          <p:cNvSpPr/>
          <p:nvPr/>
        </p:nvSpPr>
        <p:spPr>
          <a:xfrm>
            <a:off x="1420938" y="1151224"/>
            <a:ext cx="2993180" cy="31050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A70A650-4D20-00C5-5CB2-8E3A9713D67B}"/>
              </a:ext>
            </a:extLst>
          </p:cNvPr>
          <p:cNvSpPr txBox="1"/>
          <p:nvPr/>
        </p:nvSpPr>
        <p:spPr>
          <a:xfrm>
            <a:off x="1532771" y="1230164"/>
            <a:ext cx="1795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命名空间 (dict) </a:t>
            </a:r>
          </a:p>
          <a:p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5A2509-7C2C-6EEC-CD05-A26EC170E34F}"/>
              </a:ext>
            </a:extLst>
          </p:cNvPr>
          <p:cNvSpPr/>
          <p:nvPr/>
        </p:nvSpPr>
        <p:spPr>
          <a:xfrm>
            <a:off x="5736378" y="1151224"/>
            <a:ext cx="5394304" cy="38812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D0E06B-E4FA-8EF4-CC2C-863FF99C8EAB}"/>
              </a:ext>
            </a:extLst>
          </p:cNvPr>
          <p:cNvSpPr txBox="1"/>
          <p:nvPr/>
        </p:nvSpPr>
        <p:spPr>
          <a:xfrm>
            <a:off x="5841634" y="1230164"/>
            <a:ext cx="499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15B6C5-92A7-ED2F-DEA7-B12C6CB7E649}"/>
              </a:ext>
            </a:extLst>
          </p:cNvPr>
          <p:cNvSpPr txBox="1"/>
          <p:nvPr/>
        </p:nvSpPr>
        <p:spPr>
          <a:xfrm>
            <a:off x="838747" y="468007"/>
            <a:ext cx="2851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b=a </a:t>
            </a:r>
            <a:r>
              <a:rPr lang="zh-CN" altLang="en-US" sz="2400" dirty="0"/>
              <a:t>的赋值 </a:t>
            </a:r>
            <a:r>
              <a:rPr lang="en-US" altLang="zh-CN" sz="2400" dirty="0"/>
              <a:t>2/2</a:t>
            </a:r>
            <a:endParaRPr lang="zh-CN" altLang="en-US" sz="24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1429F4-07E8-B51A-5F3D-91D66B18558A}"/>
              </a:ext>
            </a:extLst>
          </p:cNvPr>
          <p:cNvSpPr/>
          <p:nvPr/>
        </p:nvSpPr>
        <p:spPr>
          <a:xfrm>
            <a:off x="1710388" y="2749779"/>
            <a:ext cx="249979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0x0011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009E76A-BB60-9914-4327-DD0FD69159E9}"/>
              </a:ext>
            </a:extLst>
          </p:cNvPr>
          <p:cNvSpPr txBox="1"/>
          <p:nvPr/>
        </p:nvSpPr>
        <p:spPr>
          <a:xfrm>
            <a:off x="1585399" y="4564483"/>
            <a:ext cx="3519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a[0] = 5</a:t>
            </a:r>
          </a:p>
          <a:p>
            <a:r>
              <a:rPr lang="en-US" altLang="zh-CN" dirty="0"/>
              <a:t>print(b[0]) #5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1891494-0641-64A7-960D-1E2B60F226A2}"/>
              </a:ext>
            </a:extLst>
          </p:cNvPr>
          <p:cNvSpPr txBox="1"/>
          <p:nvPr/>
        </p:nvSpPr>
        <p:spPr>
          <a:xfrm>
            <a:off x="661130" y="2776091"/>
            <a:ext cx="65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55BEB3BF-0F86-C94E-31E2-E5CCD1564AF1}"/>
              </a:ext>
            </a:extLst>
          </p:cNvPr>
          <p:cNvCxnSpPr>
            <a:cxnSpLocks/>
          </p:cNvCxnSpPr>
          <p:nvPr/>
        </p:nvCxnSpPr>
        <p:spPr>
          <a:xfrm flipV="1">
            <a:off x="4210187" y="2293517"/>
            <a:ext cx="2131407" cy="66724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A7C7BA36-EE1D-2643-BCB7-5193A06796D3}"/>
              </a:ext>
            </a:extLst>
          </p:cNvPr>
          <p:cNvSpPr/>
          <p:nvPr/>
        </p:nvSpPr>
        <p:spPr>
          <a:xfrm>
            <a:off x="6341594" y="1720255"/>
            <a:ext cx="1716967" cy="2111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4A03502-B193-47D7-8519-B11DE55D085E}"/>
              </a:ext>
            </a:extLst>
          </p:cNvPr>
          <p:cNvSpPr txBox="1"/>
          <p:nvPr/>
        </p:nvSpPr>
        <p:spPr>
          <a:xfrm>
            <a:off x="6341594" y="1720255"/>
            <a:ext cx="756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Array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03B0189-56B9-90C0-7EED-0D32E8A33D9B}"/>
              </a:ext>
            </a:extLst>
          </p:cNvPr>
          <p:cNvSpPr txBox="1"/>
          <p:nvPr/>
        </p:nvSpPr>
        <p:spPr>
          <a:xfrm>
            <a:off x="6446849" y="2117076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/>
                </a:solidFill>
              </a:rPr>
              <a:t>0x0119</a:t>
            </a:r>
            <a:endParaRPr lang="zh-CN" altLang="en-US" dirty="0">
              <a:solidFill>
                <a:schemeClr val="accent4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095A11E-7F3E-3F6A-6F42-7B70E27EE0BC}"/>
              </a:ext>
            </a:extLst>
          </p:cNvPr>
          <p:cNvSpPr txBox="1"/>
          <p:nvPr/>
        </p:nvSpPr>
        <p:spPr>
          <a:xfrm>
            <a:off x="6446849" y="2492045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1FB224B-FCFD-2A53-EE86-4EFE79B9F5CD}"/>
              </a:ext>
            </a:extLst>
          </p:cNvPr>
          <p:cNvSpPr txBox="1"/>
          <p:nvPr/>
        </p:nvSpPr>
        <p:spPr>
          <a:xfrm>
            <a:off x="6446849" y="2860436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4A65D6B-3D62-013B-2C79-A22545D7C029}"/>
              </a:ext>
            </a:extLst>
          </p:cNvPr>
          <p:cNvSpPr/>
          <p:nvPr/>
        </p:nvSpPr>
        <p:spPr>
          <a:xfrm>
            <a:off x="1710388" y="3124748"/>
            <a:ext cx="249979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0x0011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FC131BA-B899-6F10-CB2C-B8AA7DEF3B0F}"/>
              </a:ext>
            </a:extLst>
          </p:cNvPr>
          <p:cNvSpPr txBox="1"/>
          <p:nvPr/>
        </p:nvSpPr>
        <p:spPr>
          <a:xfrm>
            <a:off x="661130" y="3111591"/>
            <a:ext cx="65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7E3E287-DC65-E811-3FC2-C1EF572C46A0}"/>
              </a:ext>
            </a:extLst>
          </p:cNvPr>
          <p:cNvSpPr txBox="1"/>
          <p:nvPr/>
        </p:nvSpPr>
        <p:spPr>
          <a:xfrm>
            <a:off x="8400639" y="2117076"/>
            <a:ext cx="1302526" cy="369332"/>
          </a:xfrm>
          <a:prstGeom prst="rect">
            <a:avLst/>
          </a:prstGeom>
          <a:solidFill>
            <a:srgbClr val="4472C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55A932F-C489-8E59-A1A9-56E85CA2A3FE}"/>
              </a:ext>
            </a:extLst>
          </p:cNvPr>
          <p:cNvCxnSpPr>
            <a:stCxn id="21" idx="3"/>
            <a:endCxn id="4" idx="1"/>
          </p:cNvCxnSpPr>
          <p:nvPr/>
        </p:nvCxnSpPr>
        <p:spPr>
          <a:xfrm>
            <a:off x="7749375" y="2301742"/>
            <a:ext cx="6512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819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ACE92-D8BB-97E5-80E7-B6DB92512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38304F1-4C55-FD67-6E91-89DB9A522399}"/>
              </a:ext>
            </a:extLst>
          </p:cNvPr>
          <p:cNvSpPr/>
          <p:nvPr/>
        </p:nvSpPr>
        <p:spPr>
          <a:xfrm>
            <a:off x="1420938" y="1151224"/>
            <a:ext cx="2993180" cy="31050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E352D2-EAB9-F1ED-CF25-5FA51370D342}"/>
              </a:ext>
            </a:extLst>
          </p:cNvPr>
          <p:cNvSpPr txBox="1"/>
          <p:nvPr/>
        </p:nvSpPr>
        <p:spPr>
          <a:xfrm>
            <a:off x="1532771" y="1230164"/>
            <a:ext cx="1795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命名空间 (dict) </a:t>
            </a:r>
          </a:p>
          <a:p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ED51FC-A339-6C3D-5A96-09E85D634298}"/>
              </a:ext>
            </a:extLst>
          </p:cNvPr>
          <p:cNvSpPr/>
          <p:nvPr/>
        </p:nvSpPr>
        <p:spPr>
          <a:xfrm>
            <a:off x="5736378" y="1151224"/>
            <a:ext cx="5394304" cy="38812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EC66C1C-9074-45C5-8976-95972F28D5D2}"/>
              </a:ext>
            </a:extLst>
          </p:cNvPr>
          <p:cNvSpPr txBox="1"/>
          <p:nvPr/>
        </p:nvSpPr>
        <p:spPr>
          <a:xfrm>
            <a:off x="5841634" y="1230164"/>
            <a:ext cx="499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7AECF4-016E-1448-F98F-1D5F7DD1DD5D}"/>
              </a:ext>
            </a:extLst>
          </p:cNvPr>
          <p:cNvSpPr/>
          <p:nvPr/>
        </p:nvSpPr>
        <p:spPr>
          <a:xfrm>
            <a:off x="1710388" y="2749779"/>
            <a:ext cx="249979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0x1011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DBFF544-F822-3B25-5923-23D8FEC2857C}"/>
              </a:ext>
            </a:extLst>
          </p:cNvPr>
          <p:cNvSpPr txBox="1"/>
          <p:nvPr/>
        </p:nvSpPr>
        <p:spPr>
          <a:xfrm>
            <a:off x="661130" y="2776091"/>
            <a:ext cx="65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4C2E5497-1BD3-1FF1-2629-590FF7E9FD46}"/>
              </a:ext>
            </a:extLst>
          </p:cNvPr>
          <p:cNvCxnSpPr>
            <a:cxnSpLocks/>
          </p:cNvCxnSpPr>
          <p:nvPr/>
        </p:nvCxnSpPr>
        <p:spPr>
          <a:xfrm flipV="1">
            <a:off x="4210187" y="2293517"/>
            <a:ext cx="2131407" cy="66724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273414EA-6608-A86A-956F-7984A6147E0E}"/>
              </a:ext>
            </a:extLst>
          </p:cNvPr>
          <p:cNvSpPr/>
          <p:nvPr/>
        </p:nvSpPr>
        <p:spPr>
          <a:xfrm>
            <a:off x="6341594" y="1720255"/>
            <a:ext cx="1716967" cy="2111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F87D386-5BCF-25D3-0AB4-15A774C79337}"/>
              </a:ext>
            </a:extLst>
          </p:cNvPr>
          <p:cNvSpPr txBox="1"/>
          <p:nvPr/>
        </p:nvSpPr>
        <p:spPr>
          <a:xfrm>
            <a:off x="6341594" y="1720255"/>
            <a:ext cx="756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Array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FB23A45-BBC4-5473-C8DD-60B688718B11}"/>
              </a:ext>
            </a:extLst>
          </p:cNvPr>
          <p:cNvSpPr txBox="1"/>
          <p:nvPr/>
        </p:nvSpPr>
        <p:spPr>
          <a:xfrm>
            <a:off x="6446849" y="2117076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420F71C-FE3C-6A83-19A5-EDC60B18CEF9}"/>
              </a:ext>
            </a:extLst>
          </p:cNvPr>
          <p:cNvSpPr txBox="1"/>
          <p:nvPr/>
        </p:nvSpPr>
        <p:spPr>
          <a:xfrm>
            <a:off x="6446849" y="2492045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A94A04C-635A-B86D-6DD7-98F52155A4E6}"/>
              </a:ext>
            </a:extLst>
          </p:cNvPr>
          <p:cNvSpPr txBox="1"/>
          <p:nvPr/>
        </p:nvSpPr>
        <p:spPr>
          <a:xfrm>
            <a:off x="6446849" y="2860436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F73BBFB-2810-E0E4-4BD2-3A82A91430C5}"/>
              </a:ext>
            </a:extLst>
          </p:cNvPr>
          <p:cNvSpPr/>
          <p:nvPr/>
        </p:nvSpPr>
        <p:spPr>
          <a:xfrm>
            <a:off x="1710388" y="3124748"/>
            <a:ext cx="249979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0x0319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C23E4ED-972F-6402-E928-9D49FB964C60}"/>
              </a:ext>
            </a:extLst>
          </p:cNvPr>
          <p:cNvSpPr txBox="1"/>
          <p:nvPr/>
        </p:nvSpPr>
        <p:spPr>
          <a:xfrm>
            <a:off x="661130" y="3111591"/>
            <a:ext cx="65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E48BBCD-6EAF-7456-0763-4943CBF42E81}"/>
              </a:ext>
            </a:extLst>
          </p:cNvPr>
          <p:cNvSpPr txBox="1"/>
          <p:nvPr/>
        </p:nvSpPr>
        <p:spPr>
          <a:xfrm>
            <a:off x="6973120" y="2141978"/>
            <a:ext cx="980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0x0011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00A80CA-CD5D-B487-D80C-7AB8CAA588DD}"/>
              </a:ext>
            </a:extLst>
          </p:cNvPr>
          <p:cNvSpPr txBox="1"/>
          <p:nvPr/>
        </p:nvSpPr>
        <p:spPr>
          <a:xfrm>
            <a:off x="6973120" y="2497213"/>
            <a:ext cx="980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0x0022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B5F2B17-3BB1-E93D-5685-48D4B89B863F}"/>
              </a:ext>
            </a:extLst>
          </p:cNvPr>
          <p:cNvSpPr txBox="1"/>
          <p:nvPr/>
        </p:nvSpPr>
        <p:spPr>
          <a:xfrm>
            <a:off x="6973120" y="2872183"/>
            <a:ext cx="980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0x0033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664C4BD-82F9-5827-FB08-CF540E33D92F}"/>
              </a:ext>
            </a:extLst>
          </p:cNvPr>
          <p:cNvSpPr txBox="1"/>
          <p:nvPr/>
        </p:nvSpPr>
        <p:spPr>
          <a:xfrm>
            <a:off x="9874202" y="2146206"/>
            <a:ext cx="980184" cy="338554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0x0319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020917C5-5F78-139A-6D78-3433627B32A4}"/>
              </a:ext>
            </a:extLst>
          </p:cNvPr>
          <p:cNvCxnSpPr>
            <a:cxnSpLocks/>
          </p:cNvCxnSpPr>
          <p:nvPr/>
        </p:nvCxnSpPr>
        <p:spPr>
          <a:xfrm flipH="1">
            <a:off x="7749375" y="2301742"/>
            <a:ext cx="638105" cy="95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584FAE3E-4345-A76B-1060-6EB2B419B054}"/>
              </a:ext>
            </a:extLst>
          </p:cNvPr>
          <p:cNvCxnSpPr>
            <a:cxnSpLocks/>
          </p:cNvCxnSpPr>
          <p:nvPr/>
        </p:nvCxnSpPr>
        <p:spPr>
          <a:xfrm flipH="1">
            <a:off x="9341353" y="2311255"/>
            <a:ext cx="5789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EDB6F408-8F48-D81A-60A4-1D2C2AEB3E0F}"/>
              </a:ext>
            </a:extLst>
          </p:cNvPr>
          <p:cNvSpPr txBox="1"/>
          <p:nvPr/>
        </p:nvSpPr>
        <p:spPr>
          <a:xfrm>
            <a:off x="8387480" y="2146206"/>
            <a:ext cx="980184" cy="338554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0x0011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20E03C8-86F3-8EAD-6A6F-794855930781}"/>
              </a:ext>
            </a:extLst>
          </p:cNvPr>
          <p:cNvSpPr txBox="1"/>
          <p:nvPr/>
        </p:nvSpPr>
        <p:spPr>
          <a:xfrm>
            <a:off x="8387480" y="2521882"/>
            <a:ext cx="980184" cy="338554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0x0022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67C9E08-B5FE-F4CD-8B95-05A11049D271}"/>
              </a:ext>
            </a:extLst>
          </p:cNvPr>
          <p:cNvSpPr txBox="1"/>
          <p:nvPr/>
        </p:nvSpPr>
        <p:spPr>
          <a:xfrm>
            <a:off x="8387480" y="2902724"/>
            <a:ext cx="980184" cy="338554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0x0033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6CE965C-95A5-7B23-C557-BC7962FA10F3}"/>
              </a:ext>
            </a:extLst>
          </p:cNvPr>
          <p:cNvSpPr txBox="1"/>
          <p:nvPr/>
        </p:nvSpPr>
        <p:spPr>
          <a:xfrm>
            <a:off x="868349" y="473646"/>
            <a:ext cx="7940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b=</a:t>
            </a:r>
            <a:r>
              <a:rPr lang="en-US" altLang="zh-CN" sz="2400" dirty="0" err="1"/>
              <a:t>a.copy</a:t>
            </a:r>
            <a:r>
              <a:rPr lang="en-US" altLang="zh-CN" sz="2400" dirty="0"/>
              <a:t>() </a:t>
            </a:r>
            <a:r>
              <a:rPr lang="zh-CN" altLang="en-US" sz="2400" dirty="0"/>
              <a:t>的赋值</a:t>
            </a:r>
            <a:r>
              <a:rPr lang="en-US" altLang="zh-CN" sz="2400" dirty="0"/>
              <a:t>——</a:t>
            </a:r>
            <a:r>
              <a:rPr lang="zh-CN" altLang="en-US" sz="2400" dirty="0"/>
              <a:t>浅拷贝</a:t>
            </a:r>
            <a:r>
              <a:rPr lang="en-US" altLang="zh-CN" sz="2400" dirty="0"/>
              <a:t>(shallow copy) 1/2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FE54D30-8033-F80F-1469-293C662B7CEB}"/>
              </a:ext>
            </a:extLst>
          </p:cNvPr>
          <p:cNvSpPr txBox="1"/>
          <p:nvPr/>
        </p:nvSpPr>
        <p:spPr>
          <a:xfrm>
            <a:off x="1585399" y="4564483"/>
            <a:ext cx="3519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 = [1, 2, 3]</a:t>
            </a:r>
          </a:p>
          <a:p>
            <a:r>
              <a:rPr lang="en-US" altLang="zh-CN" dirty="0"/>
              <a:t>b = </a:t>
            </a:r>
            <a:r>
              <a:rPr lang="en-US" altLang="zh-CN" dirty="0" err="1"/>
              <a:t>a.copy</a:t>
            </a:r>
            <a:r>
              <a:rPr lang="en-US" altLang="zh-CN" dirty="0"/>
              <a:t>()</a:t>
            </a:r>
          </a:p>
        </p:txBody>
      </p: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9819CEBB-1D37-8205-D690-249690A8B6C5}"/>
              </a:ext>
            </a:extLst>
          </p:cNvPr>
          <p:cNvCxnSpPr>
            <a:cxnSpLocks/>
          </p:cNvCxnSpPr>
          <p:nvPr/>
        </p:nvCxnSpPr>
        <p:spPr>
          <a:xfrm flipV="1">
            <a:off x="4223344" y="2146206"/>
            <a:ext cx="6140950" cy="1196099"/>
          </a:xfrm>
          <a:prstGeom prst="bentConnector4">
            <a:avLst>
              <a:gd name="adj1" fmla="val 21800"/>
              <a:gd name="adj2" fmla="val 19171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E6761459-E651-94E1-A91F-B2CFD92DB71B}"/>
              </a:ext>
            </a:extLst>
          </p:cNvPr>
          <p:cNvSpPr txBox="1"/>
          <p:nvPr/>
        </p:nvSpPr>
        <p:spPr>
          <a:xfrm>
            <a:off x="937421" y="195823"/>
            <a:ext cx="7940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Iterable</a:t>
            </a:r>
            <a:r>
              <a:rPr lang="en-US" altLang="zh-CN" sz="2000" dirty="0"/>
              <a:t> : list, </a:t>
            </a:r>
            <a:r>
              <a:rPr lang="en-US" altLang="zh-CN" sz="2000" dirty="0" err="1"/>
              <a:t>dict</a:t>
            </a:r>
            <a:r>
              <a:rPr lang="en-US" altLang="zh-CN" sz="2000" dirty="0"/>
              <a:t>, set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06779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45144-E078-A23E-30A8-97748C2E2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2A54EEE-EECB-C7AA-BFB8-3EE8E4C1AE91}"/>
              </a:ext>
            </a:extLst>
          </p:cNvPr>
          <p:cNvSpPr/>
          <p:nvPr/>
        </p:nvSpPr>
        <p:spPr>
          <a:xfrm>
            <a:off x="1420938" y="1151224"/>
            <a:ext cx="2993180" cy="31050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D6C9CF-15BD-5664-434D-08C7ECC2FFEF}"/>
              </a:ext>
            </a:extLst>
          </p:cNvPr>
          <p:cNvSpPr txBox="1"/>
          <p:nvPr/>
        </p:nvSpPr>
        <p:spPr>
          <a:xfrm>
            <a:off x="1532771" y="1230164"/>
            <a:ext cx="1795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命名空间 (dict) </a:t>
            </a:r>
          </a:p>
          <a:p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10CB05-7506-8426-BAAF-8F04CE56F6CA}"/>
              </a:ext>
            </a:extLst>
          </p:cNvPr>
          <p:cNvSpPr/>
          <p:nvPr/>
        </p:nvSpPr>
        <p:spPr>
          <a:xfrm>
            <a:off x="5726510" y="1151224"/>
            <a:ext cx="5690333" cy="38812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B7E55A-39C8-2ED0-E30B-01C97755CD73}"/>
              </a:ext>
            </a:extLst>
          </p:cNvPr>
          <p:cNvSpPr txBox="1"/>
          <p:nvPr/>
        </p:nvSpPr>
        <p:spPr>
          <a:xfrm>
            <a:off x="5841634" y="1230164"/>
            <a:ext cx="499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098AD4A-9020-44D9-A19F-67F5AC07BD75}"/>
              </a:ext>
            </a:extLst>
          </p:cNvPr>
          <p:cNvSpPr txBox="1"/>
          <p:nvPr/>
        </p:nvSpPr>
        <p:spPr>
          <a:xfrm>
            <a:off x="868349" y="473646"/>
            <a:ext cx="7940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b=</a:t>
            </a:r>
            <a:r>
              <a:rPr lang="en-US" altLang="zh-CN" sz="2400" dirty="0" err="1"/>
              <a:t>a.copy</a:t>
            </a:r>
            <a:r>
              <a:rPr lang="en-US" altLang="zh-CN" sz="2400" dirty="0"/>
              <a:t>() </a:t>
            </a:r>
            <a:r>
              <a:rPr lang="zh-CN" altLang="en-US" sz="2400" dirty="0"/>
              <a:t>的赋值</a:t>
            </a:r>
            <a:r>
              <a:rPr lang="en-US" altLang="zh-CN" sz="2400" dirty="0"/>
              <a:t>——</a:t>
            </a:r>
            <a:r>
              <a:rPr lang="zh-CN" altLang="en-US" sz="2400" dirty="0"/>
              <a:t>浅拷贝</a:t>
            </a:r>
            <a:r>
              <a:rPr lang="en-US" altLang="zh-CN" sz="2400" dirty="0"/>
              <a:t>(shallow copy) 2/2</a:t>
            </a:r>
            <a:endParaRPr lang="zh-CN" altLang="en-US" sz="24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569D1C0-5CE6-ACF1-7390-AAB43C9E9D63}"/>
              </a:ext>
            </a:extLst>
          </p:cNvPr>
          <p:cNvSpPr/>
          <p:nvPr/>
        </p:nvSpPr>
        <p:spPr>
          <a:xfrm>
            <a:off x="1710388" y="2749779"/>
            <a:ext cx="249979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0x1011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9D523BF-A3C6-3DDD-0BE4-290AC0B27653}"/>
              </a:ext>
            </a:extLst>
          </p:cNvPr>
          <p:cNvSpPr txBox="1"/>
          <p:nvPr/>
        </p:nvSpPr>
        <p:spPr>
          <a:xfrm>
            <a:off x="661130" y="2776091"/>
            <a:ext cx="65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9C56C560-404B-2442-E8BB-C053E34F7002}"/>
              </a:ext>
            </a:extLst>
          </p:cNvPr>
          <p:cNvCxnSpPr>
            <a:cxnSpLocks/>
          </p:cNvCxnSpPr>
          <p:nvPr/>
        </p:nvCxnSpPr>
        <p:spPr>
          <a:xfrm flipV="1">
            <a:off x="4210187" y="2293517"/>
            <a:ext cx="2131407" cy="66724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FEAA1658-1330-F532-1E41-851B48FA873A}"/>
              </a:ext>
            </a:extLst>
          </p:cNvPr>
          <p:cNvSpPr/>
          <p:nvPr/>
        </p:nvSpPr>
        <p:spPr>
          <a:xfrm>
            <a:off x="6341594" y="1720255"/>
            <a:ext cx="1716967" cy="2111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E7A3C9A-5716-8C0A-CD7E-C0B0F5114DC5}"/>
              </a:ext>
            </a:extLst>
          </p:cNvPr>
          <p:cNvSpPr txBox="1"/>
          <p:nvPr/>
        </p:nvSpPr>
        <p:spPr>
          <a:xfrm>
            <a:off x="6341594" y="1720255"/>
            <a:ext cx="756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Array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6923C93-CDE0-255E-0999-0D43DE37C4D9}"/>
              </a:ext>
            </a:extLst>
          </p:cNvPr>
          <p:cNvSpPr txBox="1"/>
          <p:nvPr/>
        </p:nvSpPr>
        <p:spPr>
          <a:xfrm>
            <a:off x="6446849" y="2117076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B4E6487-082E-E212-F642-3E17F6EF7BB9}"/>
              </a:ext>
            </a:extLst>
          </p:cNvPr>
          <p:cNvSpPr txBox="1"/>
          <p:nvPr/>
        </p:nvSpPr>
        <p:spPr>
          <a:xfrm>
            <a:off x="6446849" y="2492045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14F562F-91F6-08F2-068D-345B9F60F045}"/>
              </a:ext>
            </a:extLst>
          </p:cNvPr>
          <p:cNvSpPr txBox="1"/>
          <p:nvPr/>
        </p:nvSpPr>
        <p:spPr>
          <a:xfrm>
            <a:off x="6446849" y="2860436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7A0D4C4-8B15-BBEC-2AA6-64A6DA6F48E5}"/>
              </a:ext>
            </a:extLst>
          </p:cNvPr>
          <p:cNvSpPr/>
          <p:nvPr/>
        </p:nvSpPr>
        <p:spPr>
          <a:xfrm>
            <a:off x="1710388" y="3124748"/>
            <a:ext cx="249979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0x0319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4DEED89-B2EF-2982-CF4D-60F8B2AEA97F}"/>
              </a:ext>
            </a:extLst>
          </p:cNvPr>
          <p:cNvSpPr txBox="1"/>
          <p:nvPr/>
        </p:nvSpPr>
        <p:spPr>
          <a:xfrm>
            <a:off x="661130" y="3111591"/>
            <a:ext cx="65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B19D889-BF1C-BF48-3F74-4AEB4552F115}"/>
              </a:ext>
            </a:extLst>
          </p:cNvPr>
          <p:cNvSpPr txBox="1"/>
          <p:nvPr/>
        </p:nvSpPr>
        <p:spPr>
          <a:xfrm>
            <a:off x="6532368" y="2140451"/>
            <a:ext cx="980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0x0119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DBFEDA4-BA83-65A7-B35E-DD83290AA5A8}"/>
              </a:ext>
            </a:extLst>
          </p:cNvPr>
          <p:cNvSpPr txBox="1"/>
          <p:nvPr/>
        </p:nvSpPr>
        <p:spPr>
          <a:xfrm>
            <a:off x="6973120" y="2497213"/>
            <a:ext cx="980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0x0022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B545C16-FAAB-A3F2-5A04-BED3DA5E62C9}"/>
              </a:ext>
            </a:extLst>
          </p:cNvPr>
          <p:cNvSpPr txBox="1"/>
          <p:nvPr/>
        </p:nvSpPr>
        <p:spPr>
          <a:xfrm>
            <a:off x="6973120" y="2872183"/>
            <a:ext cx="980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0x0033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1DAD5F1-174D-4C57-FE37-C5E5C0FA6240}"/>
              </a:ext>
            </a:extLst>
          </p:cNvPr>
          <p:cNvSpPr txBox="1"/>
          <p:nvPr/>
        </p:nvSpPr>
        <p:spPr>
          <a:xfrm>
            <a:off x="10242593" y="2146206"/>
            <a:ext cx="980184" cy="338554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0x0319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AEC1032-8C25-380E-4FA7-8FEF3C78AA97}"/>
              </a:ext>
            </a:extLst>
          </p:cNvPr>
          <p:cNvCxnSpPr>
            <a:cxnSpLocks/>
          </p:cNvCxnSpPr>
          <p:nvPr/>
        </p:nvCxnSpPr>
        <p:spPr>
          <a:xfrm flipH="1">
            <a:off x="9709744" y="2311255"/>
            <a:ext cx="5789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8B5F37EF-CF58-6D0B-1F04-A51779BF83C0}"/>
              </a:ext>
            </a:extLst>
          </p:cNvPr>
          <p:cNvSpPr txBox="1"/>
          <p:nvPr/>
        </p:nvSpPr>
        <p:spPr>
          <a:xfrm>
            <a:off x="8755871" y="2146206"/>
            <a:ext cx="980184" cy="338554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0x0011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4CD8BE3-E5AF-B250-17E3-F282202EC153}"/>
              </a:ext>
            </a:extLst>
          </p:cNvPr>
          <p:cNvSpPr txBox="1"/>
          <p:nvPr/>
        </p:nvSpPr>
        <p:spPr>
          <a:xfrm>
            <a:off x="8755871" y="2521882"/>
            <a:ext cx="980184" cy="338554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0x0022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3C392A5-075D-C569-1574-22E94AEE6C56}"/>
              </a:ext>
            </a:extLst>
          </p:cNvPr>
          <p:cNvSpPr txBox="1"/>
          <p:nvPr/>
        </p:nvSpPr>
        <p:spPr>
          <a:xfrm>
            <a:off x="8755871" y="2902724"/>
            <a:ext cx="980184" cy="338554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0x0033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FCBFAE85-82E5-1459-4084-26F840DEA50F}"/>
              </a:ext>
            </a:extLst>
          </p:cNvPr>
          <p:cNvCxnSpPr>
            <a:cxnSpLocks/>
            <a:stCxn id="24" idx="3"/>
            <a:endCxn id="31" idx="0"/>
          </p:cNvCxnSpPr>
          <p:nvPr/>
        </p:nvCxnSpPr>
        <p:spPr>
          <a:xfrm flipV="1">
            <a:off x="4210187" y="2146206"/>
            <a:ext cx="6522498" cy="1163208"/>
          </a:xfrm>
          <a:prstGeom prst="bentConnector4">
            <a:avLst>
              <a:gd name="adj1" fmla="val 26273"/>
              <a:gd name="adj2" fmla="val 11965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42E67642-463F-1A74-88E4-096562E0B78C}"/>
              </a:ext>
            </a:extLst>
          </p:cNvPr>
          <p:cNvCxnSpPr>
            <a:cxnSpLocks/>
          </p:cNvCxnSpPr>
          <p:nvPr/>
        </p:nvCxnSpPr>
        <p:spPr>
          <a:xfrm flipV="1">
            <a:off x="7749375" y="1876495"/>
            <a:ext cx="638105" cy="4252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34780D8E-FCD6-1937-C38B-7C8F1460D474}"/>
              </a:ext>
            </a:extLst>
          </p:cNvPr>
          <p:cNvSpPr txBox="1"/>
          <p:nvPr/>
        </p:nvSpPr>
        <p:spPr>
          <a:xfrm>
            <a:off x="8395705" y="1656584"/>
            <a:ext cx="689089" cy="369332"/>
          </a:xfrm>
          <a:prstGeom prst="rect">
            <a:avLst/>
          </a:prstGeom>
          <a:solidFill>
            <a:srgbClr val="4472C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DE32B2B-622A-A0B2-F4CC-72C65D710B15}"/>
              </a:ext>
            </a:extLst>
          </p:cNvPr>
          <p:cNvSpPr txBox="1"/>
          <p:nvPr/>
        </p:nvSpPr>
        <p:spPr>
          <a:xfrm>
            <a:off x="1585399" y="4564483"/>
            <a:ext cx="3519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a[0] = 5</a:t>
            </a: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170D0946-DDF6-51FE-8F04-E2C17121A431}"/>
              </a:ext>
            </a:extLst>
          </p:cNvPr>
          <p:cNvCxnSpPr>
            <a:stCxn id="36" idx="1"/>
          </p:cNvCxnSpPr>
          <p:nvPr/>
        </p:nvCxnSpPr>
        <p:spPr>
          <a:xfrm flipH="1">
            <a:off x="8571677" y="2315483"/>
            <a:ext cx="184194" cy="593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E155D0D1-07E8-6176-56C3-3DDC3CE46F00}"/>
              </a:ext>
            </a:extLst>
          </p:cNvPr>
          <p:cNvSpPr txBox="1"/>
          <p:nvPr/>
        </p:nvSpPr>
        <p:spPr>
          <a:xfrm>
            <a:off x="8348009" y="2402296"/>
            <a:ext cx="294381" cy="369332"/>
          </a:xfrm>
          <a:prstGeom prst="rect">
            <a:avLst/>
          </a:prstGeom>
          <a:solidFill>
            <a:srgbClr val="4472C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981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47CF4-7BB0-2B3C-4C59-B43E7FCE7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91C59D4-E7E6-1196-069E-3EE3C23EE599}"/>
              </a:ext>
            </a:extLst>
          </p:cNvPr>
          <p:cNvSpPr/>
          <p:nvPr/>
        </p:nvSpPr>
        <p:spPr>
          <a:xfrm>
            <a:off x="1420938" y="1151224"/>
            <a:ext cx="2993180" cy="31050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FDC4E8-95E3-2469-0967-804D3E8CBB07}"/>
              </a:ext>
            </a:extLst>
          </p:cNvPr>
          <p:cNvSpPr txBox="1"/>
          <p:nvPr/>
        </p:nvSpPr>
        <p:spPr>
          <a:xfrm>
            <a:off x="1532771" y="1230164"/>
            <a:ext cx="1795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命名空间 (dict) </a:t>
            </a:r>
          </a:p>
          <a:p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F5E4BC-D339-DE2A-48AC-804CF690BD1F}"/>
              </a:ext>
            </a:extLst>
          </p:cNvPr>
          <p:cNvSpPr/>
          <p:nvPr/>
        </p:nvSpPr>
        <p:spPr>
          <a:xfrm>
            <a:off x="5736378" y="1151224"/>
            <a:ext cx="5394304" cy="38812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376680-5256-26C7-FCE3-39DA25018C7E}"/>
              </a:ext>
            </a:extLst>
          </p:cNvPr>
          <p:cNvSpPr txBox="1"/>
          <p:nvPr/>
        </p:nvSpPr>
        <p:spPr>
          <a:xfrm>
            <a:off x="5841634" y="1230164"/>
            <a:ext cx="499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110858-1C99-EE32-D040-970A419208AD}"/>
              </a:ext>
            </a:extLst>
          </p:cNvPr>
          <p:cNvSpPr txBox="1"/>
          <p:nvPr/>
        </p:nvSpPr>
        <p:spPr>
          <a:xfrm>
            <a:off x="868350" y="473646"/>
            <a:ext cx="9058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 = </a:t>
            </a:r>
            <a:r>
              <a:rPr lang="en-US" altLang="zh-CN" sz="2400" dirty="0" err="1"/>
              <a:t>copy.deepcopy</a:t>
            </a:r>
            <a:r>
              <a:rPr lang="en-US" altLang="zh-CN" sz="2400" dirty="0"/>
              <a:t>(a)</a:t>
            </a:r>
            <a:r>
              <a:rPr lang="zh-CN" altLang="en-US" sz="2400" dirty="0"/>
              <a:t>的赋值</a:t>
            </a:r>
            <a:r>
              <a:rPr lang="en-US" altLang="zh-CN" sz="2400" dirty="0"/>
              <a:t>——</a:t>
            </a:r>
            <a:r>
              <a:rPr lang="zh-CN" altLang="en-US" sz="2400" dirty="0"/>
              <a:t>深拷贝</a:t>
            </a:r>
            <a:r>
              <a:rPr lang="en-US" altLang="zh-CN" sz="2400" dirty="0"/>
              <a:t>(deep copy)</a:t>
            </a:r>
            <a:endParaRPr lang="zh-CN" altLang="en-US" sz="24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ED7F49-929D-C637-E251-59CB19563E03}"/>
              </a:ext>
            </a:extLst>
          </p:cNvPr>
          <p:cNvSpPr/>
          <p:nvPr/>
        </p:nvSpPr>
        <p:spPr>
          <a:xfrm>
            <a:off x="1710388" y="2749779"/>
            <a:ext cx="249979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0x1011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FDD7714-E388-0E8B-7AB4-175D128E77A9}"/>
              </a:ext>
            </a:extLst>
          </p:cNvPr>
          <p:cNvSpPr txBox="1"/>
          <p:nvPr/>
        </p:nvSpPr>
        <p:spPr>
          <a:xfrm>
            <a:off x="1585399" y="4564483"/>
            <a:ext cx="3519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Import copy</a:t>
            </a:r>
          </a:p>
          <a:p>
            <a:r>
              <a:rPr lang="en-US" altLang="zh-CN" dirty="0"/>
              <a:t>a = [1, 2, 3]</a:t>
            </a:r>
          </a:p>
          <a:p>
            <a:r>
              <a:rPr lang="en-US" altLang="zh-CN" dirty="0"/>
              <a:t>b = </a:t>
            </a:r>
            <a:r>
              <a:rPr lang="en-US" altLang="zh-CN" dirty="0" err="1"/>
              <a:t>copy.deepcopy</a:t>
            </a:r>
            <a:r>
              <a:rPr lang="en-US" altLang="zh-CN" dirty="0"/>
              <a:t>(a)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433DE46-6E5B-F044-50E3-3D27AD999BA1}"/>
              </a:ext>
            </a:extLst>
          </p:cNvPr>
          <p:cNvSpPr txBox="1"/>
          <p:nvPr/>
        </p:nvSpPr>
        <p:spPr>
          <a:xfrm>
            <a:off x="661130" y="2776091"/>
            <a:ext cx="65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86D5A4FD-0DD1-E05A-FC0A-EB05D9B270AB}"/>
              </a:ext>
            </a:extLst>
          </p:cNvPr>
          <p:cNvCxnSpPr>
            <a:cxnSpLocks/>
          </p:cNvCxnSpPr>
          <p:nvPr/>
        </p:nvCxnSpPr>
        <p:spPr>
          <a:xfrm flipV="1">
            <a:off x="4210187" y="2293517"/>
            <a:ext cx="2131407" cy="66724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135BC029-7E83-D975-7870-A8DB12969C36}"/>
              </a:ext>
            </a:extLst>
          </p:cNvPr>
          <p:cNvSpPr/>
          <p:nvPr/>
        </p:nvSpPr>
        <p:spPr>
          <a:xfrm>
            <a:off x="6341594" y="1720255"/>
            <a:ext cx="1716967" cy="2111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F0195D0-8627-835F-549A-E93E9C10A879}"/>
              </a:ext>
            </a:extLst>
          </p:cNvPr>
          <p:cNvSpPr txBox="1"/>
          <p:nvPr/>
        </p:nvSpPr>
        <p:spPr>
          <a:xfrm>
            <a:off x="6341594" y="1720255"/>
            <a:ext cx="756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Array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B08BC3-553E-A310-15D0-0C920586321E}"/>
              </a:ext>
            </a:extLst>
          </p:cNvPr>
          <p:cNvSpPr txBox="1"/>
          <p:nvPr/>
        </p:nvSpPr>
        <p:spPr>
          <a:xfrm>
            <a:off x="6446849" y="2117076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3D30511-7D3D-8956-4FCB-CF73A1D51BE7}"/>
              </a:ext>
            </a:extLst>
          </p:cNvPr>
          <p:cNvSpPr txBox="1"/>
          <p:nvPr/>
        </p:nvSpPr>
        <p:spPr>
          <a:xfrm>
            <a:off x="6446849" y="2492045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B032C84-2A0E-5E52-2DFB-6CEB5F4F8936}"/>
              </a:ext>
            </a:extLst>
          </p:cNvPr>
          <p:cNvSpPr txBox="1"/>
          <p:nvPr/>
        </p:nvSpPr>
        <p:spPr>
          <a:xfrm>
            <a:off x="6446849" y="2860436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F2579E-8E97-58A3-78FC-831E4F05A00F}"/>
              </a:ext>
            </a:extLst>
          </p:cNvPr>
          <p:cNvSpPr/>
          <p:nvPr/>
        </p:nvSpPr>
        <p:spPr>
          <a:xfrm>
            <a:off x="1710388" y="3124748"/>
            <a:ext cx="249979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0x0319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39DF889-2D16-644C-C42F-3F1C7E7948B1}"/>
              </a:ext>
            </a:extLst>
          </p:cNvPr>
          <p:cNvSpPr txBox="1"/>
          <p:nvPr/>
        </p:nvSpPr>
        <p:spPr>
          <a:xfrm>
            <a:off x="661130" y="3111591"/>
            <a:ext cx="65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082C7B-5330-B987-6953-26197971EBBA}"/>
              </a:ext>
            </a:extLst>
          </p:cNvPr>
          <p:cNvSpPr/>
          <p:nvPr/>
        </p:nvSpPr>
        <p:spPr>
          <a:xfrm>
            <a:off x="8703245" y="1720255"/>
            <a:ext cx="1716967" cy="2111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0EB86E5-D0BE-3ACD-D6A9-DC22A167FCE0}"/>
              </a:ext>
            </a:extLst>
          </p:cNvPr>
          <p:cNvSpPr txBox="1"/>
          <p:nvPr/>
        </p:nvSpPr>
        <p:spPr>
          <a:xfrm>
            <a:off x="8808500" y="2117076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3777DD5-7BBD-9CB7-DEC3-FBC1ABBB802C}"/>
              </a:ext>
            </a:extLst>
          </p:cNvPr>
          <p:cNvSpPr txBox="1"/>
          <p:nvPr/>
        </p:nvSpPr>
        <p:spPr>
          <a:xfrm>
            <a:off x="8808500" y="2492045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337CA5A-AB37-87F4-3E8C-1A389CE9BD8B}"/>
              </a:ext>
            </a:extLst>
          </p:cNvPr>
          <p:cNvSpPr txBox="1"/>
          <p:nvPr/>
        </p:nvSpPr>
        <p:spPr>
          <a:xfrm>
            <a:off x="8808500" y="2860436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60F7F6A-B853-F498-B34D-0E3DE2360A8A}"/>
              </a:ext>
            </a:extLst>
          </p:cNvPr>
          <p:cNvSpPr txBox="1"/>
          <p:nvPr/>
        </p:nvSpPr>
        <p:spPr>
          <a:xfrm>
            <a:off x="8749295" y="1720255"/>
            <a:ext cx="756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Array</a:t>
            </a:r>
            <a:endParaRPr lang="zh-CN" altLang="en-US" dirty="0"/>
          </a:p>
        </p:txBody>
      </p:sp>
      <p:cxnSp>
        <p:nvCxnSpPr>
          <p:cNvPr id="3" name="连接符: 肘形 2">
            <a:extLst>
              <a:ext uri="{FF2B5EF4-FFF2-40B4-BE49-F238E27FC236}">
                <a16:creationId xmlns:a16="http://schemas.microsoft.com/office/drawing/2014/main" id="{EBF7C320-6677-5295-2743-B5322AD8B7C4}"/>
              </a:ext>
            </a:extLst>
          </p:cNvPr>
          <p:cNvCxnSpPr>
            <a:cxnSpLocks/>
          </p:cNvCxnSpPr>
          <p:nvPr/>
        </p:nvCxnSpPr>
        <p:spPr>
          <a:xfrm flipV="1">
            <a:off x="4210187" y="2278010"/>
            <a:ext cx="4548976" cy="1026822"/>
          </a:xfrm>
          <a:prstGeom prst="bentConnector3">
            <a:avLst>
              <a:gd name="adj1" fmla="val 8933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FB084F8-FFE5-F35E-11F3-9428B0533A86}"/>
              </a:ext>
            </a:extLst>
          </p:cNvPr>
          <p:cNvSpPr txBox="1"/>
          <p:nvPr/>
        </p:nvSpPr>
        <p:spPr>
          <a:xfrm>
            <a:off x="6973120" y="2141978"/>
            <a:ext cx="980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0x0011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7D98607-0E56-F2EE-C0C9-46DFC2EE76BA}"/>
              </a:ext>
            </a:extLst>
          </p:cNvPr>
          <p:cNvSpPr txBox="1"/>
          <p:nvPr/>
        </p:nvSpPr>
        <p:spPr>
          <a:xfrm>
            <a:off x="6973120" y="2497213"/>
            <a:ext cx="980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0x0022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7EBCD81-CBD0-E4C1-58AE-99F4B2592A33}"/>
              </a:ext>
            </a:extLst>
          </p:cNvPr>
          <p:cNvSpPr txBox="1"/>
          <p:nvPr/>
        </p:nvSpPr>
        <p:spPr>
          <a:xfrm>
            <a:off x="6973120" y="2872183"/>
            <a:ext cx="980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0x0033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4DB795-67DB-8EFB-3CA7-E151DED1EC86}"/>
              </a:ext>
            </a:extLst>
          </p:cNvPr>
          <p:cNvSpPr txBox="1"/>
          <p:nvPr/>
        </p:nvSpPr>
        <p:spPr>
          <a:xfrm>
            <a:off x="9203203" y="2148556"/>
            <a:ext cx="980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0x2011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3B87836-F0FD-7741-26C1-8C02752A81D6}"/>
              </a:ext>
            </a:extLst>
          </p:cNvPr>
          <p:cNvSpPr txBox="1"/>
          <p:nvPr/>
        </p:nvSpPr>
        <p:spPr>
          <a:xfrm>
            <a:off x="9203203" y="2503791"/>
            <a:ext cx="980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0x2022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085609A-7688-559A-C70C-FDC68CFD5548}"/>
              </a:ext>
            </a:extLst>
          </p:cNvPr>
          <p:cNvSpPr txBox="1"/>
          <p:nvPr/>
        </p:nvSpPr>
        <p:spPr>
          <a:xfrm>
            <a:off x="9203203" y="2878761"/>
            <a:ext cx="980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0x2033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83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90207-A1C3-9169-72FE-74B6FCF89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779A8C0-FB6A-EA72-9E37-3BD4F3792B32}"/>
              </a:ext>
            </a:extLst>
          </p:cNvPr>
          <p:cNvSpPr/>
          <p:nvPr/>
        </p:nvSpPr>
        <p:spPr>
          <a:xfrm>
            <a:off x="1420938" y="1151224"/>
            <a:ext cx="2993180" cy="31050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1DA4D7-99E8-763C-8CCA-0B11AB0307F1}"/>
              </a:ext>
            </a:extLst>
          </p:cNvPr>
          <p:cNvSpPr txBox="1"/>
          <p:nvPr/>
        </p:nvSpPr>
        <p:spPr>
          <a:xfrm>
            <a:off x="1532771" y="1230164"/>
            <a:ext cx="1795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命名空间 (dict) </a:t>
            </a:r>
          </a:p>
          <a:p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2C0A27-6836-F64D-83DF-6562DC123376}"/>
              </a:ext>
            </a:extLst>
          </p:cNvPr>
          <p:cNvSpPr/>
          <p:nvPr/>
        </p:nvSpPr>
        <p:spPr>
          <a:xfrm>
            <a:off x="5736378" y="217088"/>
            <a:ext cx="5394304" cy="481540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5D8CFE-C7C4-0E34-D0A0-09FD6F9786CD}"/>
              </a:ext>
            </a:extLst>
          </p:cNvPr>
          <p:cNvSpPr txBox="1"/>
          <p:nvPr/>
        </p:nvSpPr>
        <p:spPr>
          <a:xfrm>
            <a:off x="5841634" y="1230164"/>
            <a:ext cx="499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A23AFF-A45D-23B8-1B36-AE114DD3F248}"/>
              </a:ext>
            </a:extLst>
          </p:cNvPr>
          <p:cNvSpPr/>
          <p:nvPr/>
        </p:nvSpPr>
        <p:spPr>
          <a:xfrm>
            <a:off x="1710388" y="2749779"/>
            <a:ext cx="249979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0x1011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B38A28D-1B9A-5875-47E6-BB288D0A8128}"/>
              </a:ext>
            </a:extLst>
          </p:cNvPr>
          <p:cNvSpPr txBox="1"/>
          <p:nvPr/>
        </p:nvSpPr>
        <p:spPr>
          <a:xfrm>
            <a:off x="661130" y="2776091"/>
            <a:ext cx="65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D85709D8-60BF-122B-2EA6-28D4FFD80294}"/>
              </a:ext>
            </a:extLst>
          </p:cNvPr>
          <p:cNvCxnSpPr>
            <a:cxnSpLocks/>
          </p:cNvCxnSpPr>
          <p:nvPr/>
        </p:nvCxnSpPr>
        <p:spPr>
          <a:xfrm flipV="1">
            <a:off x="4210187" y="2293517"/>
            <a:ext cx="2131407" cy="66724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EDEC2DC3-6D9D-69E2-97FB-5D7BE2D07006}"/>
              </a:ext>
            </a:extLst>
          </p:cNvPr>
          <p:cNvSpPr/>
          <p:nvPr/>
        </p:nvSpPr>
        <p:spPr>
          <a:xfrm>
            <a:off x="6341594" y="1720255"/>
            <a:ext cx="1716967" cy="2111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818D530-DA17-9192-9C58-1C76BC283BA7}"/>
              </a:ext>
            </a:extLst>
          </p:cNvPr>
          <p:cNvSpPr txBox="1"/>
          <p:nvPr/>
        </p:nvSpPr>
        <p:spPr>
          <a:xfrm>
            <a:off x="6341594" y="1720255"/>
            <a:ext cx="756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Array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27363E-6D0D-0C67-A07B-E605FBBD5CD9}"/>
              </a:ext>
            </a:extLst>
          </p:cNvPr>
          <p:cNvSpPr txBox="1"/>
          <p:nvPr/>
        </p:nvSpPr>
        <p:spPr>
          <a:xfrm>
            <a:off x="6446849" y="2117076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FC966BA-8C80-400D-9681-1D126403E3D2}"/>
              </a:ext>
            </a:extLst>
          </p:cNvPr>
          <p:cNvSpPr txBox="1"/>
          <p:nvPr/>
        </p:nvSpPr>
        <p:spPr>
          <a:xfrm>
            <a:off x="6446849" y="2492045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7E6C914-571B-B1B2-A77C-0C2570652A10}"/>
              </a:ext>
            </a:extLst>
          </p:cNvPr>
          <p:cNvSpPr txBox="1"/>
          <p:nvPr/>
        </p:nvSpPr>
        <p:spPr>
          <a:xfrm>
            <a:off x="6446849" y="2860436"/>
            <a:ext cx="1302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57A0C76-BDE6-FBB3-2BB2-485479FC9EC5}"/>
              </a:ext>
            </a:extLst>
          </p:cNvPr>
          <p:cNvSpPr/>
          <p:nvPr/>
        </p:nvSpPr>
        <p:spPr>
          <a:xfrm>
            <a:off x="1710388" y="3124748"/>
            <a:ext cx="249979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0x0319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1185785-1110-C9EF-D99A-0E8F686AFEC2}"/>
              </a:ext>
            </a:extLst>
          </p:cNvPr>
          <p:cNvSpPr txBox="1"/>
          <p:nvPr/>
        </p:nvSpPr>
        <p:spPr>
          <a:xfrm>
            <a:off x="661130" y="3111591"/>
            <a:ext cx="65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DE5937A-9FD7-646C-8F6D-E2EC21C6F677}"/>
              </a:ext>
            </a:extLst>
          </p:cNvPr>
          <p:cNvSpPr txBox="1"/>
          <p:nvPr/>
        </p:nvSpPr>
        <p:spPr>
          <a:xfrm>
            <a:off x="6973120" y="2141978"/>
            <a:ext cx="980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0x0111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81175DD-AEFB-819B-EB61-45070CEF32EF}"/>
              </a:ext>
            </a:extLst>
          </p:cNvPr>
          <p:cNvSpPr txBox="1"/>
          <p:nvPr/>
        </p:nvSpPr>
        <p:spPr>
          <a:xfrm>
            <a:off x="6973120" y="2497213"/>
            <a:ext cx="980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0x0022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960CF5B-021A-8399-416F-CD23F85A9ABC}"/>
              </a:ext>
            </a:extLst>
          </p:cNvPr>
          <p:cNvSpPr txBox="1"/>
          <p:nvPr/>
        </p:nvSpPr>
        <p:spPr>
          <a:xfrm>
            <a:off x="6973120" y="2872183"/>
            <a:ext cx="980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0x0033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9246C8B-F170-87DC-82D7-C6086F2FF24A}"/>
              </a:ext>
            </a:extLst>
          </p:cNvPr>
          <p:cNvSpPr txBox="1"/>
          <p:nvPr/>
        </p:nvSpPr>
        <p:spPr>
          <a:xfrm>
            <a:off x="8387480" y="2146206"/>
            <a:ext cx="980184" cy="338554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0x0011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25FF93A-A302-0598-5484-EC3783C18F9E}"/>
              </a:ext>
            </a:extLst>
          </p:cNvPr>
          <p:cNvSpPr txBox="1"/>
          <p:nvPr/>
        </p:nvSpPr>
        <p:spPr>
          <a:xfrm>
            <a:off x="8387480" y="2521882"/>
            <a:ext cx="980184" cy="338554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0x0022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AE98BB5-0B5F-D015-0BC5-3AE2C116D4E5}"/>
              </a:ext>
            </a:extLst>
          </p:cNvPr>
          <p:cNvSpPr txBox="1"/>
          <p:nvPr/>
        </p:nvSpPr>
        <p:spPr>
          <a:xfrm>
            <a:off x="8387480" y="2902724"/>
            <a:ext cx="980184" cy="338554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</a:rPr>
              <a:t>0x0033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16407E0-2503-0D40-1787-F7C056682BBB}"/>
              </a:ext>
            </a:extLst>
          </p:cNvPr>
          <p:cNvSpPr txBox="1"/>
          <p:nvPr/>
        </p:nvSpPr>
        <p:spPr>
          <a:xfrm>
            <a:off x="253268" y="375379"/>
            <a:ext cx="7940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浅</a:t>
            </a:r>
            <a:r>
              <a:rPr lang="en-US" altLang="zh-CN" sz="2400" dirty="0"/>
              <a:t>copy+</a:t>
            </a:r>
            <a:r>
              <a:rPr lang="zh-CN" altLang="en-US" sz="2400" dirty="0"/>
              <a:t>存放列表的更真实一点的示意图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09DC09-6889-C40D-00B4-463886999AF9}"/>
              </a:ext>
            </a:extLst>
          </p:cNvPr>
          <p:cNvSpPr txBox="1"/>
          <p:nvPr/>
        </p:nvSpPr>
        <p:spPr>
          <a:xfrm>
            <a:off x="1585399" y="4564483"/>
            <a:ext cx="35194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 = [[1, 2], 3]</a:t>
            </a:r>
          </a:p>
          <a:p>
            <a:r>
              <a:rPr lang="en-US" altLang="zh-CN" dirty="0"/>
              <a:t>b = </a:t>
            </a:r>
            <a:r>
              <a:rPr lang="en-US" altLang="zh-CN" dirty="0" err="1"/>
              <a:t>a.copy</a:t>
            </a:r>
            <a:r>
              <a:rPr lang="en-US" altLang="zh-CN" dirty="0"/>
              <a:t>()</a:t>
            </a:r>
          </a:p>
          <a:p>
            <a:endParaRPr lang="en-US" altLang="zh-CN" dirty="0"/>
          </a:p>
          <a:p>
            <a:r>
              <a:rPr lang="en-US" altLang="zh-CN" dirty="0"/>
              <a:t>a[0] = 4</a:t>
            </a:r>
          </a:p>
        </p:txBody>
      </p: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1F8AF041-5E81-78AC-A025-BAC4B46954BC}"/>
              </a:ext>
            </a:extLst>
          </p:cNvPr>
          <p:cNvCxnSpPr>
            <a:cxnSpLocks/>
            <a:endCxn id="36" idx="3"/>
          </p:cNvCxnSpPr>
          <p:nvPr/>
        </p:nvCxnSpPr>
        <p:spPr>
          <a:xfrm flipV="1">
            <a:off x="4223344" y="2315483"/>
            <a:ext cx="5144320" cy="1026822"/>
          </a:xfrm>
          <a:prstGeom prst="bentConnector3">
            <a:avLst>
              <a:gd name="adj1" fmla="val 12260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824D656-DF6E-F30C-2539-A1459C4D73D8}"/>
              </a:ext>
            </a:extLst>
          </p:cNvPr>
          <p:cNvSpPr txBox="1"/>
          <p:nvPr/>
        </p:nvSpPr>
        <p:spPr>
          <a:xfrm>
            <a:off x="1420938" y="2455981"/>
            <a:ext cx="1118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0xab24</a:t>
            </a:r>
            <a:endParaRPr lang="zh-CN" alt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8EB2AD7-1CEC-BAE9-5A13-F024A219B6E7}"/>
              </a:ext>
            </a:extLst>
          </p:cNvPr>
          <p:cNvSpPr txBox="1"/>
          <p:nvPr/>
        </p:nvSpPr>
        <p:spPr>
          <a:xfrm>
            <a:off x="1420938" y="3033353"/>
            <a:ext cx="1118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0xab32</a:t>
            </a:r>
            <a:endParaRPr lang="zh-CN" alt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9DCD53F-6E99-2288-00B4-E213AD80D80D}"/>
              </a:ext>
            </a:extLst>
          </p:cNvPr>
          <p:cNvSpPr txBox="1"/>
          <p:nvPr/>
        </p:nvSpPr>
        <p:spPr>
          <a:xfrm>
            <a:off x="5502847" y="1960369"/>
            <a:ext cx="1190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0x1011</a:t>
            </a:r>
            <a:endParaRPr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7B369F8-550A-2EAE-EFBD-C179BE628EF0}"/>
              </a:ext>
            </a:extLst>
          </p:cNvPr>
          <p:cNvSpPr/>
          <p:nvPr/>
        </p:nvSpPr>
        <p:spPr>
          <a:xfrm>
            <a:off x="8920333" y="360987"/>
            <a:ext cx="2210349" cy="1415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8134B6A-C2F3-3CB1-C974-7B0015A1C7ED}"/>
              </a:ext>
            </a:extLst>
          </p:cNvPr>
          <p:cNvSpPr txBox="1"/>
          <p:nvPr/>
        </p:nvSpPr>
        <p:spPr>
          <a:xfrm>
            <a:off x="8920333" y="360987"/>
            <a:ext cx="1328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List</a:t>
            </a:r>
            <a:r>
              <a:rPr lang="zh-CN" altLang="en-US" dirty="0"/>
              <a:t>对象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70890BB-3173-8A85-68B5-CB187CF06E7A}"/>
              </a:ext>
            </a:extLst>
          </p:cNvPr>
          <p:cNvSpPr/>
          <p:nvPr/>
        </p:nvSpPr>
        <p:spPr>
          <a:xfrm>
            <a:off x="9068349" y="918162"/>
            <a:ext cx="970316" cy="598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1, 2</a:t>
            </a:r>
            <a:endParaRPr lang="zh-CN" altLang="en-US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DD50344-7B0E-366C-CA6D-94F044C76B01}"/>
              </a:ext>
            </a:extLst>
          </p:cNvPr>
          <p:cNvSpPr/>
          <p:nvPr/>
        </p:nvSpPr>
        <p:spPr>
          <a:xfrm>
            <a:off x="6394221" y="216435"/>
            <a:ext cx="2210349" cy="1415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38682C4-7152-C4FC-8342-B03409FC5EFD}"/>
              </a:ext>
            </a:extLst>
          </p:cNvPr>
          <p:cNvSpPr txBox="1"/>
          <p:nvPr/>
        </p:nvSpPr>
        <p:spPr>
          <a:xfrm>
            <a:off x="6394221" y="216435"/>
            <a:ext cx="1328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 </a:t>
            </a:r>
            <a:r>
              <a:rPr lang="zh-CN" altLang="en-US" dirty="0"/>
              <a:t>对象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2330016-1B46-8CF5-BC3B-C063AA8D0963}"/>
              </a:ext>
            </a:extLst>
          </p:cNvPr>
          <p:cNvSpPr/>
          <p:nvPr/>
        </p:nvSpPr>
        <p:spPr>
          <a:xfrm>
            <a:off x="6542237" y="773610"/>
            <a:ext cx="970316" cy="598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3E0575A7-68ED-289C-7F90-55FDDEEECDE2}"/>
              </a:ext>
            </a:extLst>
          </p:cNvPr>
          <p:cNvCxnSpPr>
            <a:cxnSpLocks/>
          </p:cNvCxnSpPr>
          <p:nvPr/>
        </p:nvCxnSpPr>
        <p:spPr>
          <a:xfrm flipH="1" flipV="1">
            <a:off x="7288886" y="1434095"/>
            <a:ext cx="414442" cy="8623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E67AC7A7-4BF8-250F-6F0A-22E309D5E995}"/>
              </a:ext>
            </a:extLst>
          </p:cNvPr>
          <p:cNvCxnSpPr>
            <a:cxnSpLocks/>
          </p:cNvCxnSpPr>
          <p:nvPr/>
        </p:nvCxnSpPr>
        <p:spPr>
          <a:xfrm flipV="1">
            <a:off x="8953226" y="1363556"/>
            <a:ext cx="309187" cy="7784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401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B31C2-FFCC-E81F-6FA6-D59DA660E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ED5ECA-0844-C537-4081-DEBD5A708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Copy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9BA32B-5B27-7B07-AD74-A9F516C7D162}"/>
              </a:ext>
            </a:extLst>
          </p:cNvPr>
          <p:cNvSpPr txBox="1">
            <a:spLocks/>
          </p:cNvSpPr>
          <p:nvPr/>
        </p:nvSpPr>
        <p:spPr>
          <a:xfrm>
            <a:off x="838200" y="3580306"/>
            <a:ext cx="10515600" cy="2100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游戏演示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400" dirty="0"/>
              <a:t>《</a:t>
            </a:r>
            <a:r>
              <a:rPr lang="zh-CN" altLang="en-US" sz="2400" dirty="0"/>
              <a:t>程序员升职记</a:t>
            </a:r>
            <a:r>
              <a:rPr lang="en-US" altLang="zh-CN" sz="2400" dirty="0"/>
              <a:t>》level 3 copy floor &amp; level 29 storage floor </a:t>
            </a:r>
            <a:endParaRPr lang="zh-CN" altLang="en-US" sz="240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CE35C17-4242-00DC-EC24-5987999C43EC}"/>
              </a:ext>
            </a:extLst>
          </p:cNvPr>
          <p:cNvSpPr txBox="1">
            <a:spLocks/>
          </p:cNvSpPr>
          <p:nvPr/>
        </p:nvSpPr>
        <p:spPr>
          <a:xfrm>
            <a:off x="752680" y="1560745"/>
            <a:ext cx="10515600" cy="1026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7E2BCDC-39AE-BB8B-7E7C-022E86D51DC6}"/>
              </a:ext>
            </a:extLst>
          </p:cNvPr>
          <p:cNvSpPr txBox="1">
            <a:spLocks/>
          </p:cNvSpPr>
          <p:nvPr/>
        </p:nvSpPr>
        <p:spPr>
          <a:xfrm>
            <a:off x="752680" y="1508138"/>
            <a:ext cx="10515600" cy="1026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终端</a:t>
            </a:r>
            <a:r>
              <a:rPr lang="en-US" altLang="zh-CN" dirty="0"/>
              <a:t>id</a:t>
            </a:r>
            <a:r>
              <a:rPr lang="zh-CN" altLang="en-US" dirty="0"/>
              <a:t>演示</a:t>
            </a:r>
            <a:r>
              <a:rPr lang="en-US" altLang="zh-CN" dirty="0"/>
              <a:t>+</a:t>
            </a:r>
            <a:r>
              <a:rPr lang="zh-CN" altLang="en-US" dirty="0"/>
              <a:t>代码演示</a:t>
            </a:r>
          </a:p>
        </p:txBody>
      </p:sp>
    </p:spTree>
    <p:extLst>
      <p:ext uri="{BB962C8B-B14F-4D97-AF65-F5344CB8AC3E}">
        <p14:creationId xmlns:p14="http://schemas.microsoft.com/office/powerpoint/2010/main" val="1128641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C292076-B3A4-96A0-7293-FEC3EFE7C774}"/>
              </a:ext>
            </a:extLst>
          </p:cNvPr>
          <p:cNvSpPr/>
          <p:nvPr/>
        </p:nvSpPr>
        <p:spPr>
          <a:xfrm>
            <a:off x="1001564" y="2394544"/>
            <a:ext cx="4118089" cy="2216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Stack</a:t>
            </a:r>
            <a:r>
              <a:rPr lang="zh-CN" altLang="en-US" dirty="0"/>
              <a:t>： 先进后出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BDE49AB-41A0-0B82-9007-ED24DE61EA14}"/>
              </a:ext>
            </a:extLst>
          </p:cNvPr>
          <p:cNvSpPr/>
          <p:nvPr/>
        </p:nvSpPr>
        <p:spPr>
          <a:xfrm>
            <a:off x="6887603" y="1631447"/>
            <a:ext cx="4118089" cy="30392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Heap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134018-E448-D323-81B0-71F80798DDD3}"/>
              </a:ext>
            </a:extLst>
          </p:cNvPr>
          <p:cNvSpPr/>
          <p:nvPr/>
        </p:nvSpPr>
        <p:spPr>
          <a:xfrm>
            <a:off x="7154028" y="1804129"/>
            <a:ext cx="3045807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a = [1, 2, 3, 4]</a:t>
            </a:r>
          </a:p>
          <a:p>
            <a:pPr algn="ctr"/>
            <a:r>
              <a:rPr lang="en-US" altLang="zh-CN" dirty="0">
                <a:solidFill>
                  <a:schemeClr val="bg1"/>
                </a:solidFill>
              </a:rPr>
              <a:t>Hello()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AB17B1-6A6C-09AC-7395-D248E61210AE}"/>
              </a:ext>
            </a:extLst>
          </p:cNvPr>
          <p:cNvSpPr/>
          <p:nvPr/>
        </p:nvSpPr>
        <p:spPr>
          <a:xfrm>
            <a:off x="7154028" y="2664258"/>
            <a:ext cx="1072282" cy="486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Return 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3503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E345A-1ADE-FDF9-A526-3C80FA3D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54D439-2A68-7790-047C-63CE3A6D3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2661"/>
            <a:ext cx="10515600" cy="1325563"/>
          </a:xfrm>
        </p:spPr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的数据类型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63B595D-A4EF-B3EA-B379-3FD4B3090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03161"/>
            <a:ext cx="10515600" cy="4351338"/>
          </a:xfrm>
        </p:spPr>
        <p:txBody>
          <a:bodyPr/>
          <a:lstStyle/>
          <a:p>
            <a:r>
              <a:rPr lang="zh-CN" altLang="en-US" dirty="0"/>
              <a:t>但是在</a:t>
            </a:r>
            <a:r>
              <a:rPr lang="en-US" altLang="zh-CN" dirty="0"/>
              <a:t>python</a:t>
            </a:r>
            <a:r>
              <a:rPr lang="zh-CN" altLang="en-US" dirty="0"/>
              <a:t>里面，所有的数据类型，都是对象！</a:t>
            </a:r>
            <a:endParaRPr lang="en-US" altLang="zh-CN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D903C756-A78B-34F2-0EC6-7C8B5325108F}"/>
              </a:ext>
            </a:extLst>
          </p:cNvPr>
          <p:cNvSpPr txBox="1">
            <a:spLocks/>
          </p:cNvSpPr>
          <p:nvPr/>
        </p:nvSpPr>
        <p:spPr>
          <a:xfrm>
            <a:off x="351397" y="33881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来自上节课的一页</a:t>
            </a:r>
          </a:p>
        </p:txBody>
      </p:sp>
    </p:spTree>
    <p:extLst>
      <p:ext uri="{BB962C8B-B14F-4D97-AF65-F5344CB8AC3E}">
        <p14:creationId xmlns:p14="http://schemas.microsoft.com/office/powerpoint/2010/main" val="999506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B42A82-F99F-CFD1-160D-81334E426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410"/>
            <a:ext cx="10515600" cy="1325563"/>
          </a:xfrm>
        </p:spPr>
        <p:txBody>
          <a:bodyPr/>
          <a:lstStyle/>
          <a:p>
            <a:r>
              <a:rPr lang="zh-CN" altLang="en-US" sz="4000" dirty="0"/>
              <a:t>作业（</a:t>
            </a:r>
            <a:r>
              <a:rPr lang="en-US" altLang="zh-CN" sz="4000" dirty="0"/>
              <a:t>45min</a:t>
            </a:r>
            <a:r>
              <a:rPr lang="zh-CN" altLang="en-US" sz="4000" dirty="0"/>
              <a:t>内）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1A8F35-F909-D7B0-1708-E4B0F22B2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4569259" cy="4351338"/>
          </a:xfrm>
        </p:spPr>
        <p:txBody>
          <a:bodyPr/>
          <a:lstStyle/>
          <a:p>
            <a:r>
              <a:rPr lang="zh-CN" altLang="en-US" sz="2400" dirty="0"/>
              <a:t>判断题（对</a:t>
            </a:r>
            <a:r>
              <a:rPr lang="en-US" altLang="zh-CN" sz="2400" dirty="0"/>
              <a:t>/</a:t>
            </a:r>
            <a:r>
              <a:rPr lang="zh-CN" altLang="en-US" sz="2400" dirty="0"/>
              <a:t>错）：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000" dirty="0"/>
              <a:t>1. {1, 2, 3} == {3, 2, 1}</a:t>
            </a:r>
          </a:p>
          <a:p>
            <a:pPr marL="0" indent="0">
              <a:buNone/>
            </a:pPr>
            <a:r>
              <a:rPr lang="en-US" altLang="zh-CN" sz="2000" dirty="0"/>
              <a:t>2. {1, 2, 3} is {3, 2, 1}</a:t>
            </a:r>
          </a:p>
          <a:p>
            <a:pPr marL="0" indent="0">
              <a:buNone/>
            </a:pPr>
            <a:r>
              <a:rPr lang="en-US" altLang="zh-CN" sz="2000" dirty="0"/>
              <a:t>3. set = {1, ‘man’, 3.5} </a:t>
            </a:r>
            <a:r>
              <a:rPr lang="zh-CN" altLang="en-US" sz="2000" dirty="0"/>
              <a:t>可以正常运行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4. set = {1, 2.5, [3, 4]} </a:t>
            </a:r>
            <a:r>
              <a:rPr lang="zh-CN" altLang="en-US" sz="2000" dirty="0"/>
              <a:t>可以正常运行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5. None == 0</a:t>
            </a:r>
          </a:p>
          <a:p>
            <a:pPr marL="0" indent="0">
              <a:buNone/>
            </a:pPr>
            <a:r>
              <a:rPr lang="en-US" altLang="zh-CN" sz="2000" dirty="0"/>
              <a:t>6. </a:t>
            </a:r>
            <a:r>
              <a:rPr lang="zh-CN" altLang="en-US" sz="2000" dirty="0"/>
              <a:t>运行</a:t>
            </a:r>
            <a:r>
              <a:rPr lang="en-US" altLang="zh-CN" sz="2000" dirty="0"/>
              <a:t>a = {1, 2, 3}</a:t>
            </a:r>
            <a:r>
              <a:rPr lang="zh-CN" altLang="en-US" sz="2000" dirty="0"/>
              <a:t>后，可以运行</a:t>
            </a:r>
            <a:r>
              <a:rPr lang="en-US" altLang="zh-CN" sz="2000" dirty="0"/>
              <a:t>a[0] = 99</a:t>
            </a:r>
          </a:p>
          <a:p>
            <a:pPr marL="0" indent="0">
              <a:buNone/>
            </a:pPr>
            <a:r>
              <a:rPr lang="en-US" altLang="zh-CN" sz="2000" dirty="0"/>
              <a:t>7. </a:t>
            </a:r>
            <a:r>
              <a:rPr lang="zh-CN" altLang="en-US" sz="2000" dirty="0"/>
              <a:t>运行</a:t>
            </a:r>
            <a:r>
              <a:rPr lang="en-US" altLang="zh-CN" sz="2000" dirty="0"/>
              <a:t>b = (1, 2, 3)</a:t>
            </a:r>
            <a:r>
              <a:rPr lang="zh-CN" altLang="en-US" sz="2000" dirty="0"/>
              <a:t>后，可以运行</a:t>
            </a:r>
            <a:r>
              <a:rPr lang="en-US" altLang="zh-CN" sz="2000" dirty="0"/>
              <a:t>b[0] = 99</a:t>
            </a:r>
            <a:endParaRPr lang="zh-CN" altLang="en-US" sz="200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D1D00C6-7FE2-1088-43B9-84EEB805196D}"/>
              </a:ext>
            </a:extLst>
          </p:cNvPr>
          <p:cNvSpPr txBox="1">
            <a:spLocks/>
          </p:cNvSpPr>
          <p:nvPr/>
        </p:nvSpPr>
        <p:spPr>
          <a:xfrm>
            <a:off x="5732542" y="1253331"/>
            <a:ext cx="50429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简答题：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000" dirty="0"/>
              <a:t>1.</a:t>
            </a:r>
            <a:r>
              <a:rPr lang="zh-CN" altLang="en-US" sz="2000" dirty="0"/>
              <a:t>以下代码运行后，</a:t>
            </a:r>
            <a:r>
              <a:rPr lang="en-US" altLang="zh-CN" sz="2000" dirty="0"/>
              <a:t>b</a:t>
            </a:r>
            <a:r>
              <a:rPr lang="zh-CN" altLang="en-US" sz="2000" dirty="0"/>
              <a:t>的值是什么？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2.</a:t>
            </a:r>
            <a:r>
              <a:rPr lang="zh-CN" altLang="en-US" sz="2000" dirty="0"/>
              <a:t>以下代码运行后，</a:t>
            </a:r>
            <a:r>
              <a:rPr lang="en-US" altLang="zh-CN" sz="2000" dirty="0"/>
              <a:t>result</a:t>
            </a:r>
            <a:r>
              <a:rPr lang="zh-CN" altLang="en-US" sz="2000" dirty="0"/>
              <a:t>是什么数据类型？</a:t>
            </a: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536CAC7-3953-F685-B7D7-92BEC6667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70030"/>
            <a:ext cx="1456023" cy="116264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EB60429-897C-13C8-A2FA-EB9EF6785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397" y="4096265"/>
            <a:ext cx="2400604" cy="101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896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58F54-4D9A-2AFB-5B3D-5508E5D28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CC4E98-8DC5-9D69-E948-8F947E7BB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410"/>
            <a:ext cx="10515600" cy="1325563"/>
          </a:xfrm>
        </p:spPr>
        <p:txBody>
          <a:bodyPr/>
          <a:lstStyle/>
          <a:p>
            <a:r>
              <a:rPr lang="zh-CN" altLang="en-US" sz="4000" dirty="0"/>
              <a:t>作业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779487-9A64-B999-4466-B33AFA13D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4569259" cy="4351338"/>
          </a:xfrm>
        </p:spPr>
        <p:txBody>
          <a:bodyPr/>
          <a:lstStyle/>
          <a:p>
            <a:r>
              <a:rPr lang="zh-CN" altLang="en-US" sz="2400" dirty="0"/>
              <a:t>简答题（接上）：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000" dirty="0"/>
              <a:t>3. </a:t>
            </a:r>
            <a:r>
              <a:rPr lang="zh-CN" altLang="en-US" sz="2000" dirty="0"/>
              <a:t>写出每一次</a:t>
            </a:r>
            <a:r>
              <a:rPr lang="en-US" altLang="zh-CN" sz="2000" dirty="0"/>
              <a:t>print</a:t>
            </a:r>
            <a:r>
              <a:rPr lang="zh-CN" altLang="en-US" sz="2000" dirty="0"/>
              <a:t>输出的结果。并解释为什么 </a:t>
            </a:r>
            <a:r>
              <a:rPr lang="en-GB" altLang="zh-CN" sz="2000" dirty="0"/>
              <a:t>a </a:t>
            </a:r>
            <a:r>
              <a:rPr lang="zh-CN" altLang="en-US" sz="2000" dirty="0"/>
              <a:t>和 </a:t>
            </a:r>
            <a:r>
              <a:rPr lang="en-GB" altLang="zh-CN" sz="2000" dirty="0"/>
              <a:t>b </a:t>
            </a:r>
            <a:r>
              <a:rPr lang="zh-CN" altLang="en-US" sz="2000" dirty="0"/>
              <a:t>的结果不同：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2C19F3D-FA39-D709-1864-A586C539B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02" y="2365448"/>
            <a:ext cx="4134072" cy="2773231"/>
          </a:xfrm>
          <a:prstGeom prst="rect">
            <a:avLst/>
          </a:prstGeo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871735B6-37BB-F39E-0660-1E1A727C1255}"/>
              </a:ext>
            </a:extLst>
          </p:cNvPr>
          <p:cNvSpPr txBox="1">
            <a:spLocks/>
          </p:cNvSpPr>
          <p:nvPr/>
        </p:nvSpPr>
        <p:spPr>
          <a:xfrm>
            <a:off x="5890424" y="295975"/>
            <a:ext cx="5589377" cy="643369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选择题：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000" dirty="0"/>
              <a:t>1.</a:t>
            </a:r>
            <a:r>
              <a:rPr lang="zh-CN" altLang="en-US" sz="2000" dirty="0"/>
              <a:t>以下哪些类型可以作为 </a:t>
            </a:r>
            <a:r>
              <a:rPr lang="en-US" altLang="zh-CN" sz="2000" dirty="0" err="1"/>
              <a:t>dict</a:t>
            </a:r>
            <a:r>
              <a:rPr lang="en-US" altLang="zh-CN" sz="2000" dirty="0"/>
              <a:t> </a:t>
            </a:r>
            <a:r>
              <a:rPr lang="zh-CN" altLang="en-US" sz="2000" dirty="0"/>
              <a:t>的 </a:t>
            </a:r>
            <a:r>
              <a:rPr lang="en-US" altLang="zh-CN" sz="2000" dirty="0"/>
              <a:t>key</a:t>
            </a:r>
            <a:r>
              <a:rPr lang="zh-CN" altLang="en-US" sz="2000" dirty="0"/>
              <a:t>？（多选）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A. int</a:t>
            </a:r>
            <a:r>
              <a:rPr lang="zh-CN" altLang="en-US" sz="2000" dirty="0"/>
              <a:t>  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B. list</a:t>
            </a:r>
            <a:r>
              <a:rPr lang="zh-CN" altLang="en-US" sz="2000" dirty="0"/>
              <a:t>  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C. </a:t>
            </a:r>
            <a:r>
              <a:rPr lang="zh-CN" altLang="en-US" sz="2000" dirty="0"/>
              <a:t>由</a:t>
            </a:r>
            <a:r>
              <a:rPr lang="en-US" altLang="zh-CN" sz="2000" dirty="0"/>
              <a:t>int</a:t>
            </a:r>
            <a:r>
              <a:rPr lang="zh-CN" altLang="en-US" sz="2000" dirty="0"/>
              <a:t>构成的</a:t>
            </a:r>
            <a:r>
              <a:rPr lang="en-US" altLang="zh-CN" sz="2000" dirty="0"/>
              <a:t>tuple</a:t>
            </a:r>
            <a:r>
              <a:rPr lang="zh-CN" altLang="en-US" sz="2000" dirty="0"/>
              <a:t>　   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D. </a:t>
            </a:r>
            <a:r>
              <a:rPr lang="zh-CN" altLang="en-US" sz="2000" dirty="0"/>
              <a:t>由</a:t>
            </a:r>
            <a:r>
              <a:rPr lang="en-US" altLang="zh-CN" sz="2000" dirty="0"/>
              <a:t>list</a:t>
            </a:r>
            <a:r>
              <a:rPr lang="zh-CN" altLang="en-US" sz="2000" dirty="0"/>
              <a:t>构成的</a:t>
            </a:r>
            <a:r>
              <a:rPr lang="en-US" altLang="zh-CN" sz="2000" dirty="0"/>
              <a:t>tuple </a:t>
            </a:r>
            <a:r>
              <a:rPr lang="zh-CN" altLang="en-US" sz="2000" dirty="0"/>
              <a:t>　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E. str   </a:t>
            </a:r>
          </a:p>
          <a:p>
            <a:pPr marL="0" indent="0">
              <a:buNone/>
            </a:pPr>
            <a:r>
              <a:rPr lang="en-US" altLang="zh-CN" sz="2000" dirty="0"/>
              <a:t>F. set    </a:t>
            </a:r>
          </a:p>
          <a:p>
            <a:pPr marL="0" indent="0">
              <a:buNone/>
            </a:pPr>
            <a:r>
              <a:rPr lang="en-US" altLang="zh-CN" sz="2000" dirty="0"/>
              <a:t>G. None </a:t>
            </a:r>
          </a:p>
          <a:p>
            <a:pPr marL="457200" indent="-457200">
              <a:buFont typeface="Arial" panose="020B0604020202020204" pitchFamily="34" charset="0"/>
              <a:buAutoNum type="alphaUcPeriod"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提示：根据</a:t>
            </a:r>
            <a:r>
              <a:rPr lang="en-US" altLang="zh-CN" sz="2000" dirty="0"/>
              <a:t>python</a:t>
            </a:r>
            <a:r>
              <a:rPr lang="zh-CN" altLang="en-US" sz="2000" dirty="0"/>
              <a:t>官方文档，</a:t>
            </a:r>
            <a:r>
              <a:rPr lang="en-US" altLang="zh-CN" sz="2000" dirty="0" err="1"/>
              <a:t>dict</a:t>
            </a:r>
            <a:r>
              <a:rPr lang="zh-CN" altLang="en-US" sz="2000" dirty="0"/>
              <a:t>的</a:t>
            </a:r>
            <a:r>
              <a:rPr lang="en-US" altLang="zh-CN" sz="2000" dirty="0"/>
              <a:t>key</a:t>
            </a:r>
            <a:r>
              <a:rPr lang="zh-CN" altLang="en-US" sz="2000" dirty="0"/>
              <a:t>只能是不可变</a:t>
            </a:r>
            <a:r>
              <a:rPr lang="en-US" altLang="zh-CN" sz="2000" dirty="0"/>
              <a:t>(immutable)</a:t>
            </a:r>
            <a:r>
              <a:rPr lang="zh-CN" altLang="en-US" sz="2000" dirty="0"/>
              <a:t>的数据类型。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你可以通过尝试来做这道题。阅读报错提示。做完之后阅读这篇短文：</a:t>
            </a:r>
            <a:r>
              <a:rPr lang="en-GB" altLang="zh-CN" sz="2000" dirty="0"/>
              <a:t> </a:t>
            </a:r>
            <a:r>
              <a:rPr lang="en-US" altLang="zh-CN" sz="2000" dirty="0"/>
              <a:t>《Python</a:t>
            </a:r>
            <a:r>
              <a:rPr lang="zh-CN" altLang="en-US" sz="2000" dirty="0"/>
              <a:t>可变对象和不可变对象</a:t>
            </a:r>
            <a:r>
              <a:rPr lang="en-US" altLang="zh-CN" sz="2000" dirty="0"/>
              <a:t>》</a:t>
            </a:r>
            <a:r>
              <a:rPr lang="zh-CN" altLang="en-US" sz="2000" dirty="0"/>
              <a:t>：</a:t>
            </a:r>
          </a:p>
          <a:p>
            <a:pPr marL="0" indent="0">
              <a:buNone/>
            </a:pPr>
            <a:r>
              <a:rPr lang="en-GB" altLang="zh-CN" sz="2000" dirty="0">
                <a:hlinkClick r:id="rId3"/>
              </a:rPr>
              <a:t>https://www.runoob.com/note/46684</a:t>
            </a:r>
            <a:endParaRPr lang="en-GB" altLang="zh-CN" sz="2000" dirty="0"/>
          </a:p>
          <a:p>
            <a:pPr marL="0" indent="0">
              <a:buNone/>
            </a:pPr>
            <a:r>
              <a:rPr lang="zh-CN" altLang="en-US" sz="2000" dirty="0"/>
              <a:t>可变和不可变的性质解释了为什么例如</a:t>
            </a:r>
            <a:r>
              <a:rPr lang="en-US" altLang="zh-CN" sz="2000" dirty="0"/>
              <a:t>list</a:t>
            </a:r>
            <a:r>
              <a:rPr lang="zh-CN" altLang="en-US" sz="2000" dirty="0"/>
              <a:t>这样的数据类型，通过</a:t>
            </a:r>
            <a:r>
              <a:rPr lang="en-US" altLang="zh-CN" sz="2000" dirty="0"/>
              <a:t>b=a</a:t>
            </a:r>
            <a:r>
              <a:rPr lang="zh-CN" altLang="en-US" sz="2000" dirty="0"/>
              <a:t>这样直接赋值的方式会出现反常的表现。</a:t>
            </a:r>
          </a:p>
        </p:txBody>
      </p:sp>
    </p:spTree>
    <p:extLst>
      <p:ext uri="{BB962C8B-B14F-4D97-AF65-F5344CB8AC3E}">
        <p14:creationId xmlns:p14="http://schemas.microsoft.com/office/powerpoint/2010/main" val="1126766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细微固体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1618</TotalTime>
  <Words>1171</Words>
  <Application>Microsoft Office PowerPoint</Application>
  <PresentationFormat>宽屏</PresentationFormat>
  <Paragraphs>207</Paragraphs>
  <Slides>18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等线</vt:lpstr>
      <vt:lpstr>Arial</vt:lpstr>
      <vt:lpstr>Office 主题​​</vt:lpstr>
      <vt:lpstr>Python</vt:lpstr>
      <vt:lpstr>本节主要内容 </vt:lpstr>
      <vt:lpstr>Set</vt:lpstr>
      <vt:lpstr>Set的数学运算</vt:lpstr>
      <vt:lpstr>Set的数学运算</vt:lpstr>
      <vt:lpstr>NoneType</vt:lpstr>
      <vt:lpstr>Copy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Copy</vt:lpstr>
      <vt:lpstr>PowerPoint 演示文稿</vt:lpstr>
      <vt:lpstr>Python的数据类型</vt:lpstr>
      <vt:lpstr>作业（45min内）</vt:lpstr>
      <vt:lpstr>作业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Kexin Wang</dc:creator>
  <cp:lastModifiedBy>Kexin Wang</cp:lastModifiedBy>
  <cp:revision>229</cp:revision>
  <dcterms:created xsi:type="dcterms:W3CDTF">2026-04-14T21:03:52Z</dcterms:created>
  <dcterms:modified xsi:type="dcterms:W3CDTF">2026-06-06T09:38:14Z</dcterms:modified>
</cp:coreProperties>
</file>