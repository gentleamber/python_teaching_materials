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98F1-4929-4136-A9CC-2BB66C9B3A9D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36BA4-AC12-4B47-A9B7-4DBFC532E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429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8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5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68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9CC7-114C-49AD-8DE5-1FF5B4BC8B9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84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liaoxuefeng.com/books/python/install/interpreter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zh-cn/3/tutorial/controlflow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12E11-7C8B-699E-AFF6-F06255C44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CC62B-10E0-FB1D-6444-C409AD203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第一课</a:t>
            </a:r>
          </a:p>
        </p:txBody>
      </p:sp>
    </p:spTree>
    <p:extLst>
      <p:ext uri="{BB962C8B-B14F-4D97-AF65-F5344CB8AC3E}">
        <p14:creationId xmlns:p14="http://schemas.microsoft.com/office/powerpoint/2010/main" val="19734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37FA9-E991-4C7A-A6AF-69300F41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为什么要编程？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14170C-730F-1C95-B8B9-4E1E25CB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电脑的计算速度比人类快很多，能做很多事</a:t>
            </a:r>
            <a:endParaRPr lang="en-US" altLang="zh-CN" dirty="0"/>
          </a:p>
          <a:p>
            <a:r>
              <a:rPr lang="zh-CN" altLang="en-US" dirty="0"/>
              <a:t>为了让电脑做事，需要说电脑能懂的语言</a:t>
            </a:r>
            <a:endParaRPr lang="en-US" altLang="zh-CN" dirty="0"/>
          </a:p>
          <a:p>
            <a:r>
              <a:rPr lang="zh-CN" altLang="en-US" dirty="0"/>
              <a:t>虽然现在</a:t>
            </a:r>
            <a:r>
              <a:rPr lang="en-US" altLang="zh-CN" dirty="0"/>
              <a:t>AI</a:t>
            </a:r>
            <a:r>
              <a:rPr lang="zh-CN" altLang="en-US" dirty="0"/>
              <a:t>也能够基于</a:t>
            </a:r>
            <a:r>
              <a:rPr lang="en-US" altLang="zh-CN" dirty="0"/>
              <a:t>prompt</a:t>
            </a:r>
            <a:r>
              <a:rPr lang="zh-CN" altLang="en-US" dirty="0"/>
              <a:t>产生代码，但是由于</a:t>
            </a:r>
            <a:r>
              <a:rPr lang="en-US" altLang="zh-CN" dirty="0"/>
              <a:t>AI</a:t>
            </a:r>
            <a:r>
              <a:rPr lang="zh-CN" altLang="en-US" dirty="0"/>
              <a:t>的输入</a:t>
            </a:r>
            <a:r>
              <a:rPr lang="en-US" altLang="zh-CN" dirty="0"/>
              <a:t>——</a:t>
            </a:r>
            <a:r>
              <a:rPr lang="zh-CN" altLang="en-US" dirty="0"/>
              <a:t>输出并非一对一的可预测关系，所以自然语言</a:t>
            </a:r>
            <a:r>
              <a:rPr lang="en-US" altLang="zh-CN" dirty="0"/>
              <a:t>prompt</a:t>
            </a:r>
            <a:r>
              <a:rPr lang="zh-CN" altLang="en-US" dirty="0"/>
              <a:t>无法取代编程语言编程。</a:t>
            </a:r>
          </a:p>
        </p:txBody>
      </p:sp>
    </p:spTree>
    <p:extLst>
      <p:ext uri="{BB962C8B-B14F-4D97-AF65-F5344CB8AC3E}">
        <p14:creationId xmlns:p14="http://schemas.microsoft.com/office/powerpoint/2010/main" val="210934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FC3ACC5-D46B-6FDD-EC88-C83B58C9924B}"/>
              </a:ext>
            </a:extLst>
          </p:cNvPr>
          <p:cNvSpPr/>
          <p:nvPr/>
        </p:nvSpPr>
        <p:spPr>
          <a:xfrm>
            <a:off x="2055155" y="2190879"/>
            <a:ext cx="1828800" cy="119056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输出设备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89B744-C2B3-AC6D-FE68-873155CA024E}"/>
              </a:ext>
            </a:extLst>
          </p:cNvPr>
          <p:cNvSpPr/>
          <p:nvPr/>
        </p:nvSpPr>
        <p:spPr>
          <a:xfrm>
            <a:off x="4939503" y="2338771"/>
            <a:ext cx="1701150" cy="119056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r>
              <a:rPr lang="zh-CN" altLang="en-US" dirty="0"/>
              <a:t>（中心处理单元）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3D90F3-0C1E-68FD-38AA-0309D1103410}"/>
              </a:ext>
            </a:extLst>
          </p:cNvPr>
          <p:cNvSpPr/>
          <p:nvPr/>
        </p:nvSpPr>
        <p:spPr>
          <a:xfrm>
            <a:off x="4939503" y="4339406"/>
            <a:ext cx="1701150" cy="119056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RAM</a:t>
            </a:r>
            <a:r>
              <a:rPr lang="zh-CN" altLang="en-US" dirty="0"/>
              <a:t>（内存）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A3F6B9-5BFA-A108-050B-AB78F0CC6E22}"/>
              </a:ext>
            </a:extLst>
          </p:cNvPr>
          <p:cNvSpPr/>
          <p:nvPr/>
        </p:nvSpPr>
        <p:spPr>
          <a:xfrm>
            <a:off x="7767443" y="3148846"/>
            <a:ext cx="1701150" cy="119056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外存储器（硬盘）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C006CA-5CAB-7BBC-97E2-ED02AE84FC3B}"/>
              </a:ext>
            </a:extLst>
          </p:cNvPr>
          <p:cNvSpPr/>
          <p:nvPr/>
        </p:nvSpPr>
        <p:spPr>
          <a:xfrm>
            <a:off x="4511227" y="1770983"/>
            <a:ext cx="2523995" cy="4218434"/>
          </a:xfrm>
          <a:prstGeom prst="rect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6A7CB76-33F3-2EA4-2A49-935FC51A34AC}"/>
              </a:ext>
            </a:extLst>
          </p:cNvPr>
          <p:cNvCxnSpPr>
            <a:stCxn id="6" idx="3"/>
          </p:cNvCxnSpPr>
          <p:nvPr/>
        </p:nvCxnSpPr>
        <p:spPr>
          <a:xfrm>
            <a:off x="3883955" y="2786159"/>
            <a:ext cx="583431" cy="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561C07E-F411-388A-8666-966131009F93}"/>
              </a:ext>
            </a:extLst>
          </p:cNvPr>
          <p:cNvCxnSpPr>
            <a:cxnSpLocks/>
          </p:cNvCxnSpPr>
          <p:nvPr/>
        </p:nvCxnSpPr>
        <p:spPr>
          <a:xfrm>
            <a:off x="5350471" y="3529331"/>
            <a:ext cx="0" cy="810075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83454F1-DF6F-F907-5C7E-83F362FB4393}"/>
              </a:ext>
            </a:extLst>
          </p:cNvPr>
          <p:cNvCxnSpPr>
            <a:cxnSpLocks/>
          </p:cNvCxnSpPr>
          <p:nvPr/>
        </p:nvCxnSpPr>
        <p:spPr>
          <a:xfrm flipV="1">
            <a:off x="6189715" y="3529331"/>
            <a:ext cx="0" cy="803812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9D0C349-8866-F271-FF02-BB5D331CBC4B}"/>
              </a:ext>
            </a:extLst>
          </p:cNvPr>
          <p:cNvCxnSpPr>
            <a:cxnSpLocks/>
          </p:cNvCxnSpPr>
          <p:nvPr/>
        </p:nvCxnSpPr>
        <p:spPr>
          <a:xfrm>
            <a:off x="7119774" y="3381439"/>
            <a:ext cx="579327" cy="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95CC781-DFEE-AD18-E4E9-A1F106E895AD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7035222" y="3880200"/>
            <a:ext cx="663879" cy="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53BE5AD8-A416-0BB0-5B0B-A36273866C1E}"/>
              </a:ext>
            </a:extLst>
          </p:cNvPr>
          <p:cNvSpPr txBox="1"/>
          <p:nvPr/>
        </p:nvSpPr>
        <p:spPr>
          <a:xfrm>
            <a:off x="4568052" y="1821547"/>
            <a:ext cx="945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软件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42CAAEE-5B7A-CBAB-6336-3EA70B94A90A}"/>
              </a:ext>
            </a:extLst>
          </p:cNvPr>
          <p:cNvSpPr txBox="1"/>
          <p:nvPr/>
        </p:nvSpPr>
        <p:spPr>
          <a:xfrm>
            <a:off x="9598643" y="3637655"/>
            <a:ext cx="1755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存放操作系统和其他数据（包括软件）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B2A61DB-060B-7C64-4F26-88C4ADB1E41B}"/>
              </a:ext>
            </a:extLst>
          </p:cNvPr>
          <p:cNvSpPr txBox="1"/>
          <p:nvPr/>
        </p:nvSpPr>
        <p:spPr>
          <a:xfrm>
            <a:off x="4568052" y="6049771"/>
            <a:ext cx="265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存放当前运行的软件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0001410-8651-48F8-0A01-DE2AC72C3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程序基础</a:t>
            </a:r>
            <a:r>
              <a:rPr lang="en-US" altLang="zh-CN" dirty="0"/>
              <a:t>——</a:t>
            </a:r>
            <a:r>
              <a:rPr lang="zh-CN" altLang="en-US" dirty="0"/>
              <a:t>通用计算机模型</a:t>
            </a:r>
          </a:p>
        </p:txBody>
      </p:sp>
    </p:spTree>
    <p:extLst>
      <p:ext uri="{BB962C8B-B14F-4D97-AF65-F5344CB8AC3E}">
        <p14:creationId xmlns:p14="http://schemas.microsoft.com/office/powerpoint/2010/main" val="149981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3D725-A276-0C45-A4EF-B4BE3D89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程序基础</a:t>
            </a:r>
            <a:r>
              <a:rPr lang="en-US" altLang="zh-CN" dirty="0"/>
              <a:t>——</a:t>
            </a:r>
            <a:r>
              <a:rPr lang="zh-CN" altLang="en-US" dirty="0"/>
              <a:t>代码是如何跑起来的？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BEE2B0-3AC7-70CA-E5D5-D4469B09EF80}"/>
              </a:ext>
            </a:extLst>
          </p:cNvPr>
          <p:cNvSpPr txBox="1"/>
          <p:nvPr/>
        </p:nvSpPr>
        <p:spPr>
          <a:xfrm>
            <a:off x="838200" y="1475895"/>
            <a:ext cx="102425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硬件层</a:t>
            </a:r>
            <a:r>
              <a:rPr lang="zh-CN" altLang="en-US" sz="2000" dirty="0"/>
              <a:t>：</a:t>
            </a:r>
            <a:r>
              <a:rPr lang="en-US" altLang="zh-CN" sz="2000" dirty="0"/>
              <a:t>1</a:t>
            </a:r>
            <a:r>
              <a:rPr lang="zh-CN" altLang="en-US" sz="2000" dirty="0"/>
              <a:t>）电路搭建成基础逻辑门，基础逻辑门组合成复杂逻辑门，进一步可以造出具有加法、减法等 “运算功能”的元件。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en-US" sz="2000" dirty="0"/>
              <a:t>例：串联</a:t>
            </a:r>
            <a:r>
              <a:rPr lang="en-US" altLang="zh-CN" sz="2000" dirty="0"/>
              <a:t>2</a:t>
            </a:r>
            <a:r>
              <a:rPr lang="zh-CN" altLang="en-US" sz="2000" dirty="0"/>
              <a:t>个开关 </a:t>
            </a:r>
            <a:r>
              <a:rPr lang="en-US" altLang="zh-CN" sz="2000" dirty="0"/>
              <a:t>-&gt; </a:t>
            </a:r>
            <a:r>
              <a:rPr lang="zh-CN" altLang="en-US" sz="2000" dirty="0"/>
              <a:t>与门（</a:t>
            </a:r>
            <a:r>
              <a:rPr lang="en-US" altLang="zh-CN" sz="2000" dirty="0"/>
              <a:t>AND</a:t>
            </a:r>
            <a:r>
              <a:rPr lang="zh-CN" altLang="en-US" sz="2000" dirty="0"/>
              <a:t>），并联</a:t>
            </a:r>
            <a:r>
              <a:rPr lang="en-US" altLang="zh-CN" sz="2000" dirty="0"/>
              <a:t>2</a:t>
            </a:r>
            <a:r>
              <a:rPr lang="zh-CN" altLang="en-US" sz="2000" dirty="0"/>
              <a:t>个开关 </a:t>
            </a:r>
            <a:r>
              <a:rPr lang="en-US" altLang="zh-CN" sz="2000" dirty="0"/>
              <a:t>-&gt; </a:t>
            </a:r>
            <a:r>
              <a:rPr lang="zh-CN" altLang="en-US" sz="2000" dirty="0"/>
              <a:t>或门（</a:t>
            </a:r>
            <a:r>
              <a:rPr lang="en-US" altLang="zh-CN" sz="2000" dirty="0"/>
              <a:t>OR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28637F-9D39-70CE-F483-DA0564D65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418" y="2572430"/>
            <a:ext cx="3550437" cy="396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0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C7CF894-2CC3-D30B-27E7-7AA5CC2E4E0F}"/>
              </a:ext>
            </a:extLst>
          </p:cNvPr>
          <p:cNvSpPr txBox="1"/>
          <p:nvPr/>
        </p:nvSpPr>
        <p:spPr>
          <a:xfrm>
            <a:off x="635682" y="493989"/>
            <a:ext cx="10242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硬件层</a:t>
            </a:r>
            <a:r>
              <a:rPr lang="zh-CN" altLang="en-US" sz="2000" dirty="0"/>
              <a:t>： </a:t>
            </a:r>
            <a:r>
              <a:rPr lang="en-US" altLang="zh-CN" sz="2000" dirty="0"/>
              <a:t>2</a:t>
            </a:r>
            <a:r>
              <a:rPr lang="zh-CN" altLang="en-US" sz="2000" dirty="0"/>
              <a:t>）计算机的硬件设计规定了软件的每个数据单元长度 。</a:t>
            </a:r>
            <a:r>
              <a:rPr lang="en-US" altLang="zh-CN" sz="2000" dirty="0"/>
              <a:t>CPU</a:t>
            </a:r>
            <a:r>
              <a:rPr lang="zh-CN" altLang="en-US" sz="2000" dirty="0"/>
              <a:t>按照这个长度从软件中读取指令。指令中有几位是“操作符”，规定了这个指令的动作。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11B5A3-AC99-18B2-DF0E-E2282B15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77" y="1420117"/>
            <a:ext cx="4660437" cy="20088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8349D7B-3B37-B0C0-47ED-4BB416B50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198" y="4427999"/>
            <a:ext cx="4655163" cy="201976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48B411D-608B-0EB0-3518-B5A105C7643B}"/>
              </a:ext>
            </a:extLst>
          </p:cNvPr>
          <p:cNvSpPr txBox="1"/>
          <p:nvPr/>
        </p:nvSpPr>
        <p:spPr>
          <a:xfrm>
            <a:off x="5541633" y="1420117"/>
            <a:ext cx="40626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例：图中的一个数据单元长度为</a:t>
            </a:r>
            <a:r>
              <a:rPr lang="en-US" altLang="zh-CN" dirty="0"/>
              <a:t>8</a:t>
            </a:r>
            <a:r>
              <a:rPr lang="zh-CN" altLang="en-US" dirty="0"/>
              <a:t>位（</a:t>
            </a:r>
            <a:r>
              <a:rPr lang="en-US" altLang="zh-CN" dirty="0"/>
              <a:t>8 bit</a:t>
            </a:r>
            <a:r>
              <a:rPr lang="zh-CN" altLang="en-US" dirty="0"/>
              <a:t>），也即</a:t>
            </a:r>
            <a:r>
              <a:rPr lang="en-US" altLang="zh-CN" dirty="0"/>
              <a:t>1</a:t>
            </a:r>
            <a:r>
              <a:rPr lang="zh-CN" altLang="en-US" dirty="0"/>
              <a:t>字节（</a:t>
            </a:r>
            <a:r>
              <a:rPr lang="en-US" altLang="zh-CN" dirty="0"/>
              <a:t>1 byte</a:t>
            </a:r>
            <a:r>
              <a:rPr lang="zh-CN" altLang="en-US" dirty="0"/>
              <a:t>）。其中前</a:t>
            </a:r>
            <a:r>
              <a:rPr lang="en-US" altLang="zh-CN" dirty="0"/>
              <a:t>2</a:t>
            </a:r>
            <a:r>
              <a:rPr lang="zh-CN" altLang="en-US" dirty="0"/>
              <a:t>位是操作符。</a:t>
            </a:r>
            <a:endParaRPr lang="en-US" altLang="zh-CN" dirty="0"/>
          </a:p>
          <a:p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的操作符告诉计算机进行“复制”，</a:t>
            </a:r>
            <a:endParaRPr lang="en-US" altLang="zh-CN" dirty="0"/>
          </a:p>
          <a:p>
            <a:r>
              <a:rPr lang="zh-CN" altLang="en-US" dirty="0"/>
              <a:t>计算机便会明白后面</a:t>
            </a:r>
            <a:r>
              <a:rPr lang="en-US" altLang="zh-CN" dirty="0"/>
              <a:t>6</a:t>
            </a:r>
            <a:r>
              <a:rPr lang="zh-CN" altLang="en-US" dirty="0"/>
              <a:t>位中，前</a:t>
            </a:r>
            <a:r>
              <a:rPr lang="en-US" altLang="zh-CN" dirty="0"/>
              <a:t>3</a:t>
            </a:r>
            <a:r>
              <a:rPr lang="zh-CN" altLang="en-US" dirty="0"/>
              <a:t>位代表了从哪里复制。此处为外界输入的值（</a:t>
            </a:r>
            <a:r>
              <a:rPr lang="en-US" altLang="zh-CN" dirty="0"/>
              <a:t>Input</a:t>
            </a:r>
            <a:r>
              <a:rPr lang="zh-CN" altLang="en-US" dirty="0"/>
              <a:t>），后</a:t>
            </a:r>
            <a:r>
              <a:rPr lang="en-US" altLang="zh-CN" dirty="0"/>
              <a:t>3</a:t>
            </a:r>
            <a:r>
              <a:rPr lang="zh-CN" altLang="en-US" dirty="0"/>
              <a:t>位代表了复制到哪里去，此处为寄存器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Register 0</a:t>
            </a:r>
            <a:r>
              <a:rPr lang="zh-CN" altLang="en-US" dirty="0"/>
              <a:t>）。改变后面</a:t>
            </a:r>
            <a:r>
              <a:rPr lang="en-US" altLang="zh-CN" dirty="0"/>
              <a:t>6</a:t>
            </a:r>
            <a:r>
              <a:rPr lang="zh-CN" altLang="en-US" dirty="0"/>
              <a:t>位的值，即可改变数据源和数据终点。如图</a:t>
            </a:r>
            <a:r>
              <a:rPr lang="en-US" altLang="zh-CN" dirty="0"/>
              <a:t>2</a:t>
            </a:r>
            <a:r>
              <a:rPr lang="zh-CN" altLang="en-US" dirty="0"/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CE5B47-8D1A-7E25-2A84-CED5E1FC2916}"/>
              </a:ext>
            </a:extLst>
          </p:cNvPr>
          <p:cNvSpPr txBox="1"/>
          <p:nvPr/>
        </p:nvSpPr>
        <p:spPr>
          <a:xfrm>
            <a:off x="2432263" y="3472377"/>
            <a:ext cx="593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</a:t>
            </a:r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6D2C75-6F7B-112A-40D9-39A83B2F173A}"/>
              </a:ext>
            </a:extLst>
          </p:cNvPr>
          <p:cNvSpPr txBox="1"/>
          <p:nvPr/>
        </p:nvSpPr>
        <p:spPr>
          <a:xfrm>
            <a:off x="7634163" y="6447766"/>
            <a:ext cx="593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</a:t>
            </a:r>
            <a:r>
              <a:rPr lang="en-US" altLang="zh-CN" sz="1600" dirty="0"/>
              <a:t>3</a:t>
            </a:r>
            <a:endParaRPr lang="zh-CN" altLang="en-US" sz="16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462E0C6-8D58-FC7E-12B9-2230C8C64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77" y="3902543"/>
            <a:ext cx="4658098" cy="200888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29D2BEF-AE02-A0B5-044E-CE3900D7435C}"/>
              </a:ext>
            </a:extLst>
          </p:cNvPr>
          <p:cNvSpPr txBox="1"/>
          <p:nvPr/>
        </p:nvSpPr>
        <p:spPr>
          <a:xfrm>
            <a:off x="10026949" y="1420117"/>
            <a:ext cx="17024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3</a:t>
            </a:r>
            <a:r>
              <a:rPr lang="zh-CN" altLang="en-US" dirty="0"/>
              <a:t>的操作符是“</a:t>
            </a:r>
            <a:r>
              <a:rPr lang="en-US" altLang="zh-CN" dirty="0"/>
              <a:t>Immediate</a:t>
            </a:r>
            <a:r>
              <a:rPr lang="zh-CN" altLang="en-US" dirty="0"/>
              <a:t>”，意为直接把</a:t>
            </a:r>
            <a:r>
              <a:rPr lang="en-US" altLang="zh-CN" dirty="0"/>
              <a:t>Input</a:t>
            </a:r>
            <a:r>
              <a:rPr lang="zh-CN" altLang="en-US" dirty="0"/>
              <a:t>传送到</a:t>
            </a:r>
            <a:r>
              <a:rPr lang="en-US" altLang="zh-CN" dirty="0"/>
              <a:t>Output</a:t>
            </a:r>
            <a:r>
              <a:rPr lang="zh-CN" altLang="en-US" dirty="0"/>
              <a:t>，不进行任何处理。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5CCD99-7074-E996-A498-F651FE5F6520}"/>
              </a:ext>
            </a:extLst>
          </p:cNvPr>
          <p:cNvSpPr txBox="1"/>
          <p:nvPr/>
        </p:nvSpPr>
        <p:spPr>
          <a:xfrm>
            <a:off x="2370894" y="6003038"/>
            <a:ext cx="593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</a:t>
            </a:r>
            <a:r>
              <a:rPr lang="en-US" altLang="zh-CN" sz="1600" dirty="0"/>
              <a:t>2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1332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CEA3083-BA45-5E2D-125F-1FDA85B55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84" y="1377158"/>
            <a:ext cx="4660437" cy="200888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D82283A-65AF-83D9-D77D-BC5626531342}"/>
              </a:ext>
            </a:extLst>
          </p:cNvPr>
          <p:cNvSpPr txBox="1"/>
          <p:nvPr/>
        </p:nvSpPr>
        <p:spPr>
          <a:xfrm>
            <a:off x="635681" y="432620"/>
            <a:ext cx="10242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软件层</a:t>
            </a:r>
            <a:r>
              <a:rPr lang="zh-CN" altLang="en-US" sz="2000" dirty="0"/>
              <a:t>： </a:t>
            </a:r>
            <a:r>
              <a:rPr lang="en-US" altLang="zh-CN" sz="2000" dirty="0"/>
              <a:t>1</a:t>
            </a:r>
            <a:r>
              <a:rPr lang="zh-CN" altLang="en-US" sz="2000" dirty="0"/>
              <a:t>）工程师先把机械语言（</a:t>
            </a:r>
            <a:r>
              <a:rPr lang="en-US" altLang="zh-CN" sz="2000" dirty="0"/>
              <a:t>machine code</a:t>
            </a:r>
            <a:r>
              <a:rPr lang="zh-CN" altLang="en-US" sz="2000" dirty="0"/>
              <a:t>）直接对应为汇编语言（</a:t>
            </a:r>
            <a:r>
              <a:rPr lang="en-US" altLang="zh-CN" sz="2000" dirty="0"/>
              <a:t>assembly language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035CBB-0FE2-996B-57BD-D2DF1CF546C9}"/>
              </a:ext>
            </a:extLst>
          </p:cNvPr>
          <p:cNvSpPr txBox="1"/>
          <p:nvPr/>
        </p:nvSpPr>
        <p:spPr>
          <a:xfrm>
            <a:off x="5713977" y="1377158"/>
            <a:ext cx="128875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10110000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C0AC28-3BA5-8436-B73E-8F654AB6C990}"/>
              </a:ext>
            </a:extLst>
          </p:cNvPr>
          <p:cNvSpPr txBox="1"/>
          <p:nvPr/>
        </p:nvSpPr>
        <p:spPr>
          <a:xfrm>
            <a:off x="5713976" y="2291558"/>
            <a:ext cx="188352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mov input reg0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A2528C4-8DE0-FD08-257D-7CE1422416FA}"/>
              </a:ext>
            </a:extLst>
          </p:cNvPr>
          <p:cNvCxnSpPr>
            <a:cxnSpLocks/>
          </p:cNvCxnSpPr>
          <p:nvPr/>
        </p:nvCxnSpPr>
        <p:spPr>
          <a:xfrm>
            <a:off x="6655736" y="1841073"/>
            <a:ext cx="0" cy="389116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9C3961D-F23D-0605-60C0-FFD3E1A16143}"/>
              </a:ext>
            </a:extLst>
          </p:cNvPr>
          <p:cNvSpPr txBox="1"/>
          <p:nvPr/>
        </p:nvSpPr>
        <p:spPr>
          <a:xfrm>
            <a:off x="635681" y="3781798"/>
            <a:ext cx="10242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</a:t>
            </a:r>
            <a:r>
              <a:rPr lang="zh-CN" altLang="en-US" sz="2000" dirty="0"/>
              <a:t>）后来出现了高级语言（例如</a:t>
            </a:r>
            <a:r>
              <a:rPr lang="en-US" altLang="zh-CN" sz="2000" dirty="0"/>
              <a:t>C</a:t>
            </a:r>
            <a:r>
              <a:rPr lang="zh-CN" altLang="en-US" sz="2000" dirty="0"/>
              <a:t>），让工程师可以用更接近自然语言的方式编程。高级语言通过编译器（</a:t>
            </a:r>
            <a:r>
              <a:rPr lang="en-US" altLang="zh-CN" sz="2000" dirty="0"/>
              <a:t>compiler</a:t>
            </a:r>
            <a:r>
              <a:rPr lang="zh-CN" altLang="en-US" sz="2000" dirty="0"/>
              <a:t>）被翻译成汇编语言，然后再翻译成机械语言。</a:t>
            </a:r>
            <a:endParaRPr lang="en-US" altLang="zh-CN" sz="2000" dirty="0"/>
          </a:p>
        </p:txBody>
      </p:sp>
      <p:pic>
        <p:nvPicPr>
          <p:cNvPr id="1026" name="Picture 2" descr="What Is Programming Language C?">
            <a:extLst>
              <a:ext uri="{FF2B5EF4-FFF2-40B4-BE49-F238E27FC236}">
                <a16:creationId xmlns:a16="http://schemas.microsoft.com/office/drawing/2014/main" id="{6AFA8F50-3310-CCE9-9997-1BCFAF7E4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42" y="3076202"/>
            <a:ext cx="6305992" cy="486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16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CBC2C-6FCE-2C6F-265F-85C4E428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1068" y="2930391"/>
            <a:ext cx="2929864" cy="997217"/>
          </a:xfrm>
        </p:spPr>
        <p:txBody>
          <a:bodyPr/>
          <a:lstStyle/>
          <a:p>
            <a:r>
              <a:rPr lang="zh-CN" altLang="en-US" dirty="0"/>
              <a:t>代码演示</a:t>
            </a:r>
          </a:p>
        </p:txBody>
      </p:sp>
    </p:spTree>
    <p:extLst>
      <p:ext uri="{BB962C8B-B14F-4D97-AF65-F5344CB8AC3E}">
        <p14:creationId xmlns:p14="http://schemas.microsoft.com/office/powerpoint/2010/main" val="4266330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D4267-AB2D-75AA-7D39-EC56070C4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9E0293-C648-2A40-D521-6966C789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22" y="414256"/>
            <a:ext cx="5580755" cy="751758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作业 （预计</a:t>
            </a:r>
            <a:r>
              <a:rPr lang="en-US" altLang="zh-CN" sz="3600" dirty="0"/>
              <a:t>45min</a:t>
            </a:r>
            <a:r>
              <a:rPr lang="zh-CN" altLang="en-US" sz="3600" dirty="0"/>
              <a:t>内）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0953CF-582A-71F8-4A2B-0B6D1DB959EB}"/>
              </a:ext>
            </a:extLst>
          </p:cNvPr>
          <p:cNvSpPr txBox="1"/>
          <p:nvPr/>
        </p:nvSpPr>
        <p:spPr>
          <a:xfrm>
            <a:off x="1000317" y="1294889"/>
            <a:ext cx="92544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</a:t>
            </a:r>
            <a:r>
              <a:rPr lang="zh-CN" altLang="en-US" sz="1600" dirty="0"/>
              <a:t>）猜数字游戏：由程序生成一个</a:t>
            </a:r>
            <a:r>
              <a:rPr lang="en-US" altLang="zh-CN" sz="1600" dirty="0"/>
              <a:t>1-30</a:t>
            </a:r>
            <a:r>
              <a:rPr lang="zh-CN" altLang="en-US" sz="1600" dirty="0"/>
              <a:t>以内的随机整数。用户有</a:t>
            </a:r>
            <a:r>
              <a:rPr lang="en-US" altLang="zh-CN" sz="1600" dirty="0"/>
              <a:t>3</a:t>
            </a:r>
            <a:r>
              <a:rPr lang="zh-CN" altLang="en-US" sz="1600" dirty="0"/>
              <a:t>次机会猜测一个整数，程序告诉用户是大了还是小了。若用户猜对，则程序告诉用户猜对了，并退出。若</a:t>
            </a:r>
            <a:r>
              <a:rPr lang="en-US" altLang="zh-CN" sz="1600" dirty="0"/>
              <a:t>3</a:t>
            </a:r>
            <a:r>
              <a:rPr lang="zh-CN" altLang="en-US" sz="1600" dirty="0"/>
              <a:t>次机会用完后用户仍然没猜对，则程序告诉用户这个数字是什么，并退出。</a:t>
            </a:r>
            <a:endParaRPr lang="en-US" altLang="zh-CN" sz="1600" dirty="0"/>
          </a:p>
          <a:p>
            <a:r>
              <a:rPr lang="en-US" altLang="zh-CN" sz="1600" dirty="0"/>
              <a:t>2</a:t>
            </a:r>
            <a:r>
              <a:rPr lang="zh-CN" altLang="en-US" sz="1600" dirty="0"/>
              <a:t>）课外阅读：你或许会注意到，运行</a:t>
            </a:r>
            <a:r>
              <a:rPr lang="en-US" altLang="zh-CN" sz="1600" dirty="0"/>
              <a:t>python</a:t>
            </a:r>
            <a:r>
              <a:rPr lang="zh-CN" altLang="en-US" sz="1600" dirty="0"/>
              <a:t>程序的时候，哪怕只是</a:t>
            </a:r>
            <a:r>
              <a:rPr lang="en-US" altLang="zh-CN" sz="1600" dirty="0"/>
              <a:t>print(“Hello world”)</a:t>
            </a:r>
            <a:r>
              <a:rPr lang="zh-CN" altLang="en-US" sz="1600" dirty="0"/>
              <a:t>这样一句话，也需要等好长一会儿才会得到结果。这是由于</a:t>
            </a:r>
            <a:r>
              <a:rPr lang="en-US" altLang="zh-CN" sz="1600" dirty="0"/>
              <a:t>python</a:t>
            </a:r>
            <a:r>
              <a:rPr lang="zh-CN" altLang="en-US" sz="1600" dirty="0"/>
              <a:t>作为解释型语言，每次运行</a:t>
            </a:r>
            <a:r>
              <a:rPr lang="en-US" altLang="zh-CN" sz="1600" dirty="0"/>
              <a:t>.</a:t>
            </a:r>
            <a:r>
              <a:rPr lang="en-US" altLang="zh-CN" sz="1600" dirty="0" err="1"/>
              <a:t>py</a:t>
            </a:r>
            <a:r>
              <a:rPr lang="zh-CN" altLang="en-US" sz="1600" dirty="0"/>
              <a:t>程序都需要先运行解释器的原因。而</a:t>
            </a:r>
            <a:r>
              <a:rPr lang="en-US" altLang="zh-CN" sz="1600" dirty="0"/>
              <a:t>C</a:t>
            </a:r>
            <a:r>
              <a:rPr lang="zh-CN" altLang="en-US" sz="1600" dirty="0"/>
              <a:t>语言是编译型语言，存放高级语言代码的</a:t>
            </a:r>
            <a:r>
              <a:rPr lang="en-US" altLang="zh-CN" sz="1600" dirty="0"/>
              <a:t>.c</a:t>
            </a:r>
            <a:r>
              <a:rPr lang="zh-CN" altLang="en-US" sz="1600" dirty="0"/>
              <a:t>程序在一次编译生成机器码（</a:t>
            </a:r>
            <a:r>
              <a:rPr lang="en-US" altLang="zh-CN" sz="1600" dirty="0"/>
              <a:t>01110101</a:t>
            </a:r>
            <a:r>
              <a:rPr lang="zh-CN" altLang="en-US" sz="1600" dirty="0"/>
              <a:t>）之后，只需要直接运行机器码即可。相关阅读材料：</a:t>
            </a:r>
            <a:r>
              <a:rPr lang="en-GB" altLang="zh-CN" sz="1600" dirty="0"/>
              <a:t> </a:t>
            </a:r>
            <a:r>
              <a:rPr lang="en-GB" altLang="zh-CN" sz="1600" dirty="0">
                <a:hlinkClick r:id="rId2"/>
              </a:rPr>
              <a:t>https://liaoxuefeng.com/books/python/install/interpreter/index.html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29887F-56EE-AA89-4609-7C9D49A5E63D}"/>
              </a:ext>
            </a:extLst>
          </p:cNvPr>
          <p:cNvSpPr txBox="1"/>
          <p:nvPr/>
        </p:nvSpPr>
        <p:spPr>
          <a:xfrm>
            <a:off x="1497406" y="3542339"/>
            <a:ext cx="9254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作业提示：当多条语句共同组成一个整体时（例如</a:t>
            </a:r>
            <a:r>
              <a:rPr lang="en-US" altLang="zh-CN" sz="1600" dirty="0"/>
              <a:t>if…else…</a:t>
            </a:r>
            <a:r>
              <a:rPr lang="zh-CN" altLang="en-US" sz="1600" dirty="0"/>
              <a:t>的语句组），</a:t>
            </a:r>
            <a:r>
              <a:rPr lang="en-US" altLang="zh-CN" sz="1600" dirty="0"/>
              <a:t>python</a:t>
            </a:r>
            <a:r>
              <a:rPr lang="zh-CN" altLang="en-US" sz="1600" dirty="0"/>
              <a:t>的语法规则是使用换行</a:t>
            </a:r>
            <a:r>
              <a:rPr lang="en-US" altLang="zh-CN" sz="1600" dirty="0"/>
              <a:t>+</a:t>
            </a:r>
            <a:r>
              <a:rPr lang="zh-CN" altLang="en-US" sz="1600" dirty="0"/>
              <a:t>缩进区分语句层级（没有结束符‘；’）。举例：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F4E400-6AFC-766F-3C24-ACDE9051A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206" y="3885411"/>
            <a:ext cx="3426571" cy="18199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ABB076B-D959-3CCC-C0B2-FBCA8BC51EFC}"/>
              </a:ext>
            </a:extLst>
          </p:cNvPr>
          <p:cNvSpPr txBox="1"/>
          <p:nvPr/>
        </p:nvSpPr>
        <p:spPr>
          <a:xfrm>
            <a:off x="1497406" y="5990862"/>
            <a:ext cx="9254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相关</a:t>
            </a:r>
            <a:r>
              <a:rPr lang="en-US" altLang="zh-CN" sz="1600" dirty="0"/>
              <a:t>Python</a:t>
            </a:r>
            <a:r>
              <a:rPr lang="zh-CN" altLang="en-US" sz="1600" dirty="0"/>
              <a:t>语法可以查询官方文档或者百度。不建议使用</a:t>
            </a:r>
            <a:r>
              <a:rPr lang="en-US" altLang="zh-CN" sz="1600" dirty="0"/>
              <a:t>AI</a:t>
            </a:r>
            <a:r>
              <a:rPr lang="zh-CN" altLang="en-US" sz="1600" dirty="0"/>
              <a:t>直接生成整个程序。</a:t>
            </a:r>
            <a:endParaRPr lang="en-US" altLang="zh-CN" sz="1600" dirty="0"/>
          </a:p>
          <a:p>
            <a:r>
              <a:rPr lang="zh-CN" altLang="en-US" sz="1600" dirty="0"/>
              <a:t>文档链接：</a:t>
            </a:r>
            <a:r>
              <a:rPr lang="en-GB" altLang="zh-CN" sz="1600" dirty="0">
                <a:hlinkClick r:id="rId4"/>
              </a:rPr>
              <a:t>https://docs.python.org/zh-cn/3/tutorial/controlflow.html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6561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443</TotalTime>
  <Words>687</Words>
  <Application>Microsoft Office PowerPoint</Application>
  <PresentationFormat>宽屏</PresentationFormat>
  <Paragraphs>37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等线</vt:lpstr>
      <vt:lpstr>Arial</vt:lpstr>
      <vt:lpstr>Office 主题​​</vt:lpstr>
      <vt:lpstr>Python</vt:lpstr>
      <vt:lpstr>为什么要编程？</vt:lpstr>
      <vt:lpstr>程序基础——通用计算机模型</vt:lpstr>
      <vt:lpstr>程序基础——代码是如何跑起来的？</vt:lpstr>
      <vt:lpstr>PowerPoint 演示文稿</vt:lpstr>
      <vt:lpstr>PowerPoint 演示文稿</vt:lpstr>
      <vt:lpstr>代码演示</vt:lpstr>
      <vt:lpstr>作业 （预计45min内）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Kexin Wang</dc:creator>
  <cp:lastModifiedBy>Kexin Wang</cp:lastModifiedBy>
  <cp:revision>11</cp:revision>
  <dcterms:created xsi:type="dcterms:W3CDTF">2026-04-14T21:03:52Z</dcterms:created>
  <dcterms:modified xsi:type="dcterms:W3CDTF">2026-04-16T08:41:10Z</dcterms:modified>
</cp:coreProperties>
</file>