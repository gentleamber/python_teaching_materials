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2"/>
  </p:notesMasterIdLst>
  <p:sldIdLst>
    <p:sldId id="256" r:id="rId2"/>
    <p:sldId id="290" r:id="rId3"/>
    <p:sldId id="291" r:id="rId4"/>
    <p:sldId id="297" r:id="rId5"/>
    <p:sldId id="298" r:id="rId6"/>
    <p:sldId id="299" r:id="rId7"/>
    <p:sldId id="300" r:id="rId8"/>
    <p:sldId id="293" r:id="rId9"/>
    <p:sldId id="301" r:id="rId10"/>
    <p:sldId id="302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87715" autoAdjust="0"/>
  </p:normalViewPr>
  <p:slideViewPr>
    <p:cSldViewPr snapToGrid="0">
      <p:cViewPr varScale="1">
        <p:scale>
          <a:sx n="105" d="100"/>
          <a:sy n="105" d="100"/>
        </p:scale>
        <p:origin x="429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6B98F1-4929-4136-A9CC-2BB66C9B3A9D}" type="datetimeFigureOut">
              <a:rPr lang="zh-CN" altLang="en-US" smtClean="0"/>
              <a:t>2026/6/20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3136BA4-AC12-4B47-A9B7-4DBFC532E78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58403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4FD92D-571D-72F0-3FF6-D3D19902B8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3396CD0-3FC9-24AA-E2AB-6463BF58A5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5C5114E-81A9-68F1-DD26-44C7687336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131C920-508A-899F-1570-FF162867FA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136BA4-AC12-4B47-A9B7-4DBFC532E78E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080079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Object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136BA4-AC12-4B47-A9B7-4DBFC532E78E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14228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D65578-FEED-DA9C-404D-348D5681D9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F3443BD-ABC9-48C4-8E90-00E254BDCF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5C80C1C-4968-18CB-A353-FEC3BA28C2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70678A9-986F-39F9-5F32-85BF1E5C401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136BA4-AC12-4B47-A9B7-4DBFC532E78E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9371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20B049-2032-97D0-38AA-28E00D97FA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74EC91D-D4F5-8D9E-CB1C-D770F4D9CA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B3F6D9B-0590-28E6-E630-06174FEE47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282E894-B1C3-8857-99A7-24F6C5B08C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136BA4-AC12-4B47-A9B7-4DBFC532E78E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927354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5A5786-F31F-9AC3-0813-53EF143D48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A2492AE-7AF4-0BC8-714C-8137212611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1F6B11B-9D0B-070A-FDB7-DD8D9A5BFC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7916230-122F-646B-41AD-BA2E4711A4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136BA4-AC12-4B47-A9B7-4DBFC532E78E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4972638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02AD3B-3FAB-A965-C6D2-493603FC09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5858D8F-9E62-1AE4-FD84-02713BF26A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4CE5211-862E-1E7A-A6E8-A733187381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0C14B4D-ECC0-A0FA-BB76-7C79EF3A79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136BA4-AC12-4B47-A9B7-4DBFC532E78E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439375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136BA4-AC12-4B47-A9B7-4DBFC532E78E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468525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6A8B97-7880-08CC-C89D-05E14281A2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8ACDB21-13AD-5A0E-FC1A-61BA173E99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863097E-7D9B-EE3E-4C59-E3E3D954D5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A69FCAF-AEB6-DEA7-70F4-F0F83916DE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136BA4-AC12-4B47-A9B7-4DBFC532E78E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6000397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31F425-51EF-ED5A-B6A3-AE5316BEC0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49B8431-9EDD-BE4C-B1A5-216EA472AD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03531C0-CD96-1C76-FC3B-1D07B06434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98D3AD1-5F9C-010E-0EA4-63424C366E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136BA4-AC12-4B47-A9B7-4DBFC532E78E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50629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FA9CC7-114C-49AD-8DE5-1FF5B4BC8B9C}" type="datetimeFigureOut">
              <a:rPr lang="zh-CN" altLang="en-US" smtClean="0"/>
              <a:t>2026/6/20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BA448-8E9A-4223-B1A7-3DA347271A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931023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FA9CC7-114C-49AD-8DE5-1FF5B4BC8B9C}" type="datetimeFigureOut">
              <a:rPr lang="zh-CN" altLang="en-US" smtClean="0"/>
              <a:t>2026/6/20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BA448-8E9A-4223-B1A7-3DA347271A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29811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FA9CC7-114C-49AD-8DE5-1FF5B4BC8B9C}" type="datetimeFigureOut">
              <a:rPr lang="zh-CN" altLang="en-US" smtClean="0"/>
              <a:t>2026/6/20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BA448-8E9A-4223-B1A7-3DA347271A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59639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FA9CC7-114C-49AD-8DE5-1FF5B4BC8B9C}" type="datetimeFigureOut">
              <a:rPr lang="zh-CN" altLang="en-US" smtClean="0"/>
              <a:t>2026/6/20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BA448-8E9A-4223-B1A7-3DA347271A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37706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FA9CC7-114C-49AD-8DE5-1FF5B4BC8B9C}" type="datetimeFigureOut">
              <a:rPr lang="zh-CN" altLang="en-US" smtClean="0"/>
              <a:t>2026/6/20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BA448-8E9A-4223-B1A7-3DA347271A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39525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FA9CC7-114C-49AD-8DE5-1FF5B4BC8B9C}" type="datetimeFigureOut">
              <a:rPr lang="zh-CN" altLang="en-US" smtClean="0"/>
              <a:t>2026/6/20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BA448-8E9A-4223-B1A7-3DA347271A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66806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FA9CC7-114C-49AD-8DE5-1FF5B4BC8B9C}" type="datetimeFigureOut">
              <a:rPr lang="zh-CN" altLang="en-US" smtClean="0"/>
              <a:t>2026/6/20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BA448-8E9A-4223-B1A7-3DA347271A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14475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FA9CC7-114C-49AD-8DE5-1FF5B4BC8B9C}" type="datetimeFigureOut">
              <a:rPr lang="zh-CN" altLang="en-US" smtClean="0"/>
              <a:t>2026/6/20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BA448-8E9A-4223-B1A7-3DA347271A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07835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FA9CC7-114C-49AD-8DE5-1FF5B4BC8B9C}" type="datetimeFigureOut">
              <a:rPr lang="zh-CN" altLang="en-US" smtClean="0"/>
              <a:t>2026/6/20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BA448-8E9A-4223-B1A7-3DA347271A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992673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FA9CC7-114C-49AD-8DE5-1FF5B4BC8B9C}" type="datetimeFigureOut">
              <a:rPr lang="zh-CN" altLang="en-US" smtClean="0"/>
              <a:t>2026/6/20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BA448-8E9A-4223-B1A7-3DA347271A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48993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FA9CC7-114C-49AD-8DE5-1FF5B4BC8B9C}" type="datetimeFigureOut">
              <a:rPr lang="zh-CN" altLang="en-US" smtClean="0"/>
              <a:t>2026/6/20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BA448-8E9A-4223-B1A7-3DA347271A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56633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FA9CC7-114C-49AD-8DE5-1FF5B4BC8B9C}" type="datetimeFigureOut">
              <a:rPr lang="zh-CN" altLang="en-US" smtClean="0"/>
              <a:t>2026/6/20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EBA448-8E9A-4223-B1A7-3DA347271A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438456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jpe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D12E11-7C8B-699E-AFF6-F06255C44FA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Python</a:t>
            </a:r>
            <a:endParaRPr lang="zh-CN" alt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0DCC62B-10E0-FB1D-6444-C409AD20326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/>
              <a:t>第</a:t>
            </a:r>
            <a:r>
              <a:rPr lang="en-US" altLang="zh-CN" dirty="0"/>
              <a:t>Ⅷ</a:t>
            </a:r>
            <a:r>
              <a:rPr lang="zh-CN" altLang="en-US" dirty="0"/>
              <a:t>课</a:t>
            </a:r>
          </a:p>
        </p:txBody>
      </p:sp>
    </p:spTree>
    <p:extLst>
      <p:ext uri="{BB962C8B-B14F-4D97-AF65-F5344CB8AC3E}">
        <p14:creationId xmlns:p14="http://schemas.microsoft.com/office/powerpoint/2010/main" val="19734303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A27CDE-C91D-4CCC-48FF-31809B560A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0CECAC65-8DA0-FDDC-BC64-E0400415EA91}"/>
              </a:ext>
            </a:extLst>
          </p:cNvPr>
          <p:cNvSpPr txBox="1">
            <a:spLocks/>
          </p:cNvSpPr>
          <p:nvPr/>
        </p:nvSpPr>
        <p:spPr>
          <a:xfrm>
            <a:off x="1265797" y="2338741"/>
            <a:ext cx="10515600" cy="37726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sz="2400" dirty="0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280599A4-CF26-4408-B2CE-9CC95C47B5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 dirty="0"/>
              <a:t>本节内容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E05DB4E-3BEA-360E-1AD7-1609D9D9DB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180552"/>
          </a:xfrm>
        </p:spPr>
        <p:txBody>
          <a:bodyPr>
            <a:normAutofit/>
          </a:bodyPr>
          <a:lstStyle/>
          <a:p>
            <a:r>
              <a:rPr lang="zh-CN" altLang="en-US" sz="2400" dirty="0"/>
              <a:t>用一点时间再讲讲子类重写父类方法的</a:t>
            </a:r>
            <a:r>
              <a:rPr lang="en-US" altLang="zh-CN" sz="2400" dirty="0"/>
              <a:t>override</a:t>
            </a:r>
            <a:r>
              <a:rPr lang="zh-CN" altLang="en-US" sz="2400" dirty="0"/>
              <a:t>情况。上节</a:t>
            </a:r>
            <a:r>
              <a:rPr lang="en-US" altLang="zh-CN" sz="2400" dirty="0"/>
              <a:t>hash</a:t>
            </a:r>
            <a:r>
              <a:rPr lang="zh-CN" altLang="en-US" sz="2400" dirty="0"/>
              <a:t>其实有用到，但没有点明出来</a:t>
            </a:r>
            <a:endParaRPr lang="en-US" altLang="zh-CN" sz="2400" dirty="0"/>
          </a:p>
          <a:p>
            <a:r>
              <a:rPr lang="zh-CN" altLang="en-US" sz="2400" dirty="0"/>
              <a:t>错误和异常（</a:t>
            </a:r>
            <a:r>
              <a:rPr lang="en-US" altLang="zh-CN" sz="2400" dirty="0"/>
              <a:t>exception</a:t>
            </a:r>
            <a:r>
              <a:rPr lang="zh-CN" altLang="en-US" sz="2400" dirty="0"/>
              <a:t>）</a:t>
            </a:r>
            <a:endParaRPr lang="en-US" altLang="zh-CN" sz="2400" dirty="0"/>
          </a:p>
          <a:p>
            <a:r>
              <a:rPr lang="zh-CN" altLang="en-US" sz="2400" dirty="0"/>
              <a:t>（如有空）</a:t>
            </a:r>
            <a:r>
              <a:rPr lang="en-US" altLang="zh-CN" sz="2400" dirty="0"/>
              <a:t>debug</a:t>
            </a:r>
          </a:p>
        </p:txBody>
      </p:sp>
    </p:spTree>
    <p:extLst>
      <p:ext uri="{BB962C8B-B14F-4D97-AF65-F5344CB8AC3E}">
        <p14:creationId xmlns:p14="http://schemas.microsoft.com/office/powerpoint/2010/main" val="36313935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78821C5-2F51-3EC3-30CF-4AF215255C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934" y="164348"/>
            <a:ext cx="10515600" cy="1325563"/>
          </a:xfrm>
        </p:spPr>
        <p:txBody>
          <a:bodyPr/>
          <a:lstStyle/>
          <a:p>
            <a:r>
              <a:rPr lang="en-US" altLang="zh-CN" dirty="0"/>
              <a:t>Override</a:t>
            </a:r>
            <a:endParaRPr lang="zh-CN" alt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4ED5097C-6A39-9DAD-7EA4-7F3AC66CEBED}"/>
              </a:ext>
            </a:extLst>
          </p:cNvPr>
          <p:cNvSpPr txBox="1"/>
          <p:nvPr/>
        </p:nvSpPr>
        <p:spPr>
          <a:xfrm>
            <a:off x="784075" y="1404392"/>
            <a:ext cx="913742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定义</a:t>
            </a:r>
            <a:endParaRPr lang="en-US" altLang="zh-CN" sz="2400" b="1" dirty="0"/>
          </a:p>
          <a:p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子类继承父类之后，重写父类方法的行为称为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override</a:t>
            </a:r>
            <a:endParaRPr lang="en-US" altLang="zh-CN" sz="2400" b="1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50C0F2EE-97EE-5AAE-F33B-D6665EB298D5}"/>
              </a:ext>
            </a:extLst>
          </p:cNvPr>
          <p:cNvSpPr txBox="1"/>
          <p:nvPr/>
        </p:nvSpPr>
        <p:spPr>
          <a:xfrm>
            <a:off x="784075" y="2440801"/>
            <a:ext cx="913742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特点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  <a:p>
            <a:r>
              <a:rPr lang="zh-CN" altLang="en-US" sz="2000" dirty="0">
                <a:solidFill>
                  <a:prstClr val="white"/>
                </a:solidFill>
                <a:latin typeface="Arial" panose="020B0604020202020204"/>
                <a:ea typeface="黑体" panose="02010609060101010101" pitchFamily="49" charset="-122"/>
              </a:rPr>
              <a:t>当接到一个类中的方法要执行（例如</a:t>
            </a:r>
            <a:r>
              <a:rPr lang="en-US" altLang="zh-CN" sz="2000" dirty="0" err="1">
                <a:solidFill>
                  <a:prstClr val="white"/>
                </a:solidFill>
                <a:latin typeface="Arial" panose="020B0604020202020204"/>
                <a:ea typeface="黑体" panose="02010609060101010101" pitchFamily="49" charset="-122"/>
              </a:rPr>
              <a:t>int.__eq</a:t>
            </a:r>
            <a:r>
              <a:rPr lang="en-US" altLang="zh-CN" sz="2000" dirty="0">
                <a:solidFill>
                  <a:prstClr val="white"/>
                </a:solidFill>
                <a:latin typeface="Arial" panose="020B0604020202020204"/>
                <a:ea typeface="黑体" panose="02010609060101010101" pitchFamily="49" charset="-122"/>
              </a:rPr>
              <a:t>__(self, object)</a:t>
            </a:r>
            <a:r>
              <a:rPr lang="zh-CN" altLang="en-US" sz="2000" dirty="0">
                <a:solidFill>
                  <a:prstClr val="white"/>
                </a:solidFill>
                <a:latin typeface="Arial" panose="020B0604020202020204"/>
                <a:ea typeface="黑体" panose="02010609060101010101" pitchFamily="49" charset="-122"/>
              </a:rPr>
              <a:t>）时，</a:t>
            </a:r>
            <a:r>
              <a:rPr lang="en-US" altLang="zh-CN" sz="2000" dirty="0">
                <a:solidFill>
                  <a:prstClr val="white"/>
                </a:solidFill>
                <a:latin typeface="Arial" panose="020B0604020202020204"/>
                <a:ea typeface="黑体" panose="02010609060101010101" pitchFamily="49" charset="-122"/>
              </a:rPr>
              <a:t>python</a:t>
            </a:r>
            <a:r>
              <a:rPr lang="zh-CN" altLang="en-US" sz="2000" dirty="0">
                <a:solidFill>
                  <a:prstClr val="white"/>
                </a:solidFill>
                <a:latin typeface="Arial" panose="020B0604020202020204"/>
                <a:ea typeface="黑体" panose="02010609060101010101" pitchFamily="49" charset="-122"/>
              </a:rPr>
              <a:t>会先在该类中找该方法，如果找不到，再往上一层父类找。如此一直找到最底层</a:t>
            </a:r>
            <a:r>
              <a:rPr lang="en-US" altLang="zh-CN" sz="2000" dirty="0">
                <a:solidFill>
                  <a:prstClr val="white"/>
                </a:solidFill>
                <a:latin typeface="Arial" panose="020B0604020202020204"/>
                <a:ea typeface="黑体" panose="02010609060101010101" pitchFamily="49" charset="-122"/>
              </a:rPr>
              <a:t>Object</a:t>
            </a:r>
            <a:r>
              <a:rPr lang="zh-CN" altLang="en-US" sz="2000" dirty="0">
                <a:solidFill>
                  <a:prstClr val="white"/>
                </a:solidFill>
                <a:latin typeface="Arial" panose="020B0604020202020204"/>
                <a:ea typeface="黑体" panose="02010609060101010101" pitchFamily="49" charset="-122"/>
              </a:rPr>
              <a:t>类。如果还找不到，则会抛出异常。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C68C2CD8-AB06-C794-18B7-0BDBEE106ADE}"/>
              </a:ext>
            </a:extLst>
          </p:cNvPr>
          <p:cNvSpPr txBox="1"/>
          <p:nvPr/>
        </p:nvSpPr>
        <p:spPr>
          <a:xfrm>
            <a:off x="784075" y="4278700"/>
            <a:ext cx="913742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代码演示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  <a:p>
            <a:r>
              <a:rPr lang="en-GB" altLang="zh-CN" sz="2000" dirty="0">
                <a:solidFill>
                  <a:prstClr val="white"/>
                </a:solidFill>
              </a:rPr>
              <a:t>a_bit_more_about_overriding.py</a:t>
            </a:r>
            <a:endParaRPr lang="en-US" altLang="zh-CN" sz="2000" dirty="0">
              <a:solidFill>
                <a:prstClr val="white"/>
              </a:solidFill>
              <a:latin typeface="Arial" panose="020B0604020202020204"/>
              <a:ea typeface="黑体" panose="02010609060101010101" pitchFamily="49" charset="-122"/>
            </a:endParaRPr>
          </a:p>
          <a:p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原生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int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类和子类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NewInt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类的演示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917729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341E1B-DD60-C8F2-8148-4758E97979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B8DE507-5951-CDE4-5276-80441B0010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274" y="-44918"/>
            <a:ext cx="10515600" cy="1325563"/>
          </a:xfrm>
        </p:spPr>
        <p:txBody>
          <a:bodyPr/>
          <a:lstStyle/>
          <a:p>
            <a:r>
              <a:rPr lang="zh-CN" altLang="en-US" dirty="0"/>
              <a:t>错误和异常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80656FF6-E8DC-6739-286D-E136465599B6}"/>
              </a:ext>
            </a:extLst>
          </p:cNvPr>
          <p:cNvSpPr txBox="1"/>
          <p:nvPr/>
        </p:nvSpPr>
        <p:spPr>
          <a:xfrm>
            <a:off x="538415" y="1076948"/>
            <a:ext cx="913742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定义</a:t>
            </a:r>
            <a:endParaRPr lang="en-US" altLang="zh-CN" sz="2400" b="1" dirty="0"/>
          </a:p>
          <a:p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程序运行前或运行过程中检查到的，让程序无法运行或无法继续运行的问题</a:t>
            </a:r>
            <a:endParaRPr lang="en-US" altLang="zh-CN" sz="2400" b="1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2F69A947-025A-1B43-8D21-734ECA0C5B93}"/>
              </a:ext>
            </a:extLst>
          </p:cNvPr>
          <p:cNvSpPr txBox="1"/>
          <p:nvPr/>
        </p:nvSpPr>
        <p:spPr>
          <a:xfrm>
            <a:off x="538415" y="2004174"/>
            <a:ext cx="913742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分类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  <a:p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Python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官方把所有错误和异常分为最基本的两类：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pic>
        <p:nvPicPr>
          <p:cNvPr id="6" name="图片 5" descr="Two Men Argue Argue Find Out Stock Illustration 144952651 | Shutterstock">
            <a:extLst>
              <a:ext uri="{FF2B5EF4-FFF2-40B4-BE49-F238E27FC236}">
                <a16:creationId xmlns:a16="http://schemas.microsoft.com/office/drawing/2014/main" id="{F21A09DB-BCA9-A03A-DC8A-CE26AF06B6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641" y="3869500"/>
            <a:ext cx="2879678" cy="2138753"/>
          </a:xfrm>
          <a:prstGeom prst="rect">
            <a:avLst/>
          </a:prstGeom>
        </p:spPr>
      </p:pic>
      <p:sp>
        <p:nvSpPr>
          <p:cNvPr id="7" name="对话气泡: 矩形 6">
            <a:extLst>
              <a:ext uri="{FF2B5EF4-FFF2-40B4-BE49-F238E27FC236}">
                <a16:creationId xmlns:a16="http://schemas.microsoft.com/office/drawing/2014/main" id="{55323513-D9E1-E181-B629-53162554F197}"/>
              </a:ext>
            </a:extLst>
          </p:cNvPr>
          <p:cNvSpPr/>
          <p:nvPr/>
        </p:nvSpPr>
        <p:spPr>
          <a:xfrm>
            <a:off x="1446664" y="3542308"/>
            <a:ext cx="1309955" cy="481297"/>
          </a:xfrm>
          <a:prstGeom prst="wedgeRectCallout">
            <a:avLst>
              <a:gd name="adj1" fmla="val -25241"/>
              <a:gd name="adj2" fmla="val 72184"/>
            </a:avLst>
          </a:prstGeom>
          <a:solidFill>
            <a:schemeClr val="tx1"/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bg1"/>
                </a:solidFill>
              </a:rPr>
              <a:t>老师，我还没吃过了。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8" name="对话气泡: 矩形 7">
            <a:extLst>
              <a:ext uri="{FF2B5EF4-FFF2-40B4-BE49-F238E27FC236}">
                <a16:creationId xmlns:a16="http://schemas.microsoft.com/office/drawing/2014/main" id="{6984D591-DF35-FE66-4F41-87A73F611A55}"/>
              </a:ext>
            </a:extLst>
          </p:cNvPr>
          <p:cNvSpPr/>
          <p:nvPr/>
        </p:nvSpPr>
        <p:spPr>
          <a:xfrm>
            <a:off x="3235973" y="3869500"/>
            <a:ext cx="1309955" cy="527629"/>
          </a:xfrm>
          <a:prstGeom prst="wedgeRectCallout">
            <a:avLst>
              <a:gd name="adj1" fmla="val -59003"/>
              <a:gd name="adj2" fmla="val 74578"/>
            </a:avLst>
          </a:prstGeom>
          <a:solidFill>
            <a:schemeClr val="tx1"/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bg1"/>
                </a:solidFill>
              </a:rPr>
              <a:t>这句话是错的！</a:t>
            </a:r>
            <a:endParaRPr lang="zh-CN" altLang="en-US" dirty="0">
              <a:solidFill>
                <a:schemeClr val="bg1"/>
              </a:solidFill>
            </a:endParaRP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9478978C-FD05-F973-B583-78C473BDDC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36349" y="5106309"/>
            <a:ext cx="2759902" cy="910675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3882FFEA-828F-172A-692C-723D5AAFECD4}"/>
              </a:ext>
            </a:extLst>
          </p:cNvPr>
          <p:cNvSpPr txBox="1"/>
          <p:nvPr/>
        </p:nvSpPr>
        <p:spPr>
          <a:xfrm>
            <a:off x="574809" y="2834796"/>
            <a:ext cx="561672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dirty="0">
                <a:solidFill>
                  <a:prstClr val="white"/>
                </a:solidFill>
                <a:latin typeface="Arial" panose="020B0604020202020204"/>
                <a:ea typeface="黑体" panose="02010609060101010101" pitchFamily="49" charset="-122"/>
              </a:rPr>
              <a:t>1</a:t>
            </a:r>
            <a:r>
              <a:rPr lang="zh-CN" altLang="en-US" sz="1800" dirty="0">
                <a:solidFill>
                  <a:prstClr val="white"/>
                </a:solidFill>
                <a:latin typeface="Arial" panose="020B0604020202020204"/>
                <a:ea typeface="黑体" panose="02010609060101010101" pitchFamily="49" charset="-122"/>
              </a:rPr>
              <a:t>）语法错误（</a:t>
            </a:r>
            <a:r>
              <a:rPr lang="zh-CN" altLang="zh-CN" sz="1800" dirty="0"/>
              <a:t>Syntax error</a:t>
            </a:r>
            <a:r>
              <a:rPr lang="zh-CN" altLang="en-US" sz="1800" dirty="0"/>
              <a:t>），又称解析错误。是写程序的过程中仅由解析器就能识别出的语法问题。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E99DC45A-234D-1D47-DF0E-8EBA6B317A95}"/>
              </a:ext>
            </a:extLst>
          </p:cNvPr>
          <p:cNvSpPr txBox="1"/>
          <p:nvPr/>
        </p:nvSpPr>
        <p:spPr>
          <a:xfrm>
            <a:off x="6666973" y="2713620"/>
            <a:ext cx="478421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dirty="0">
                <a:solidFill>
                  <a:prstClr val="white"/>
                </a:solidFill>
                <a:latin typeface="Arial" panose="020B0604020202020204"/>
                <a:ea typeface="黑体" panose="02010609060101010101" pitchFamily="49" charset="-122"/>
              </a:rPr>
              <a:t>2</a:t>
            </a:r>
            <a:r>
              <a:rPr lang="zh-CN" altLang="en-US" sz="1800" dirty="0">
                <a:solidFill>
                  <a:prstClr val="white"/>
                </a:solidFill>
                <a:latin typeface="Arial" panose="020B0604020202020204"/>
                <a:ea typeface="黑体" panose="02010609060101010101" pitchFamily="49" charset="-122"/>
              </a:rPr>
              <a:t>）异常</a:t>
            </a:r>
            <a:r>
              <a:rPr lang="en-US" altLang="zh-CN" sz="1800" dirty="0">
                <a:solidFill>
                  <a:prstClr val="white"/>
                </a:solidFill>
                <a:latin typeface="Arial" panose="020B0604020202020204"/>
                <a:ea typeface="黑体" panose="02010609060101010101" pitchFamily="49" charset="-122"/>
              </a:rPr>
              <a:t>Exception</a:t>
            </a:r>
            <a:r>
              <a:rPr lang="zh-CN" altLang="en-US" sz="1800" dirty="0">
                <a:solidFill>
                  <a:prstClr val="white"/>
                </a:solidFill>
                <a:latin typeface="Arial" panose="020B0604020202020204"/>
                <a:ea typeface="黑体" panose="02010609060101010101" pitchFamily="49" charset="-122"/>
              </a:rPr>
              <a:t>。运行过程中才能发现的异常。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pic>
        <p:nvPicPr>
          <p:cNvPr id="19" name="图片 18">
            <a:extLst>
              <a:ext uri="{FF2B5EF4-FFF2-40B4-BE49-F238E27FC236}">
                <a16:creationId xmlns:a16="http://schemas.microsoft.com/office/drawing/2014/main" id="{60AC6AE3-83A9-CCC5-5692-7AE98CD9EC0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12759" y="5736143"/>
            <a:ext cx="2952772" cy="1066808"/>
          </a:xfrm>
          <a:prstGeom prst="rect">
            <a:avLst/>
          </a:prstGeom>
        </p:spPr>
      </p:pic>
      <p:pic>
        <p:nvPicPr>
          <p:cNvPr id="4" name="图片 3" descr="Two men talking cartoon hi-res stock photography and images - Alamy">
            <a:extLst>
              <a:ext uri="{FF2B5EF4-FFF2-40B4-BE49-F238E27FC236}">
                <a16:creationId xmlns:a16="http://schemas.microsoft.com/office/drawing/2014/main" id="{40228139-7809-1BDE-313B-4E77B1F70D0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23065" y="3371470"/>
            <a:ext cx="3132161" cy="2197331"/>
          </a:xfrm>
          <a:prstGeom prst="rect">
            <a:avLst/>
          </a:prstGeom>
        </p:spPr>
      </p:pic>
      <p:sp>
        <p:nvSpPr>
          <p:cNvPr id="5" name="对话气泡: 矩形 4">
            <a:extLst>
              <a:ext uri="{FF2B5EF4-FFF2-40B4-BE49-F238E27FC236}">
                <a16:creationId xmlns:a16="http://schemas.microsoft.com/office/drawing/2014/main" id="{BFB4BE7E-E254-0B0A-8CA1-BC3D9DA238E2}"/>
              </a:ext>
            </a:extLst>
          </p:cNvPr>
          <p:cNvSpPr/>
          <p:nvPr/>
        </p:nvSpPr>
        <p:spPr>
          <a:xfrm>
            <a:off x="8857395" y="3204128"/>
            <a:ext cx="1887941" cy="735526"/>
          </a:xfrm>
          <a:prstGeom prst="wedgeRectCallout">
            <a:avLst>
              <a:gd name="adj1" fmla="val -53122"/>
              <a:gd name="adj2" fmla="val 78220"/>
            </a:avLst>
          </a:prstGeom>
          <a:solidFill>
            <a:schemeClr val="tx1"/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bg1"/>
                </a:solidFill>
              </a:rPr>
              <a:t>…</a:t>
            </a:r>
            <a:r>
              <a:rPr lang="zh-CN" altLang="en-US" sz="1400" dirty="0">
                <a:solidFill>
                  <a:schemeClr val="bg1"/>
                </a:solidFill>
              </a:rPr>
              <a:t>我们去了北京，看到了天安门、长城还有东方明珠。</a:t>
            </a:r>
          </a:p>
        </p:txBody>
      </p:sp>
      <p:sp>
        <p:nvSpPr>
          <p:cNvPr id="9" name="思想气泡: 云 8">
            <a:extLst>
              <a:ext uri="{FF2B5EF4-FFF2-40B4-BE49-F238E27FC236}">
                <a16:creationId xmlns:a16="http://schemas.microsoft.com/office/drawing/2014/main" id="{8618B3D1-98B3-63C5-3F5F-91F7C5033505}"/>
              </a:ext>
            </a:extLst>
          </p:cNvPr>
          <p:cNvSpPr/>
          <p:nvPr/>
        </p:nvSpPr>
        <p:spPr>
          <a:xfrm flipH="1">
            <a:off x="5240739" y="3648468"/>
            <a:ext cx="1759389" cy="821065"/>
          </a:xfrm>
          <a:prstGeom prst="cloudCallout">
            <a:avLst>
              <a:gd name="adj1" fmla="val -69037"/>
              <a:gd name="adj2" fmla="val 37431"/>
            </a:avLst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bg1"/>
                </a:solidFill>
              </a:rPr>
              <a:t>嗯、嗯、嗯？这不对吧</a:t>
            </a:r>
            <a:r>
              <a:rPr lang="en-US" altLang="zh-CN" sz="1400" dirty="0">
                <a:solidFill>
                  <a:schemeClr val="bg1"/>
                </a:solidFill>
              </a:rPr>
              <a:t>……</a:t>
            </a:r>
            <a:endParaRPr lang="zh-CN" altLang="en-US" sz="1400" dirty="0">
              <a:solidFill>
                <a:schemeClr val="bg1"/>
              </a:solidFill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789A77D-E2E2-F257-7ED4-2BD0DAABC6DC}"/>
              </a:ext>
            </a:extLst>
          </p:cNvPr>
          <p:cNvSpPr/>
          <p:nvPr/>
        </p:nvSpPr>
        <p:spPr>
          <a:xfrm>
            <a:off x="7601803" y="3625845"/>
            <a:ext cx="308088" cy="4866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910840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D809D4-7D4C-BC70-3725-B5EFE72219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BFB226E-805A-6BB6-D5EC-A0284AD3A8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274" y="-44918"/>
            <a:ext cx="10515600" cy="1325563"/>
          </a:xfrm>
        </p:spPr>
        <p:txBody>
          <a:bodyPr/>
          <a:lstStyle/>
          <a:p>
            <a:r>
              <a:rPr lang="zh-CN" altLang="en-US" dirty="0"/>
              <a:t>异常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E0A8B3B9-50A1-7414-9E42-5D35D89E8851}"/>
              </a:ext>
            </a:extLst>
          </p:cNvPr>
          <p:cNvSpPr txBox="1"/>
          <p:nvPr/>
        </p:nvSpPr>
        <p:spPr>
          <a:xfrm>
            <a:off x="538415" y="1117314"/>
            <a:ext cx="913742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prstClr val="white"/>
                </a:solidFill>
                <a:latin typeface="Arial" panose="020B0604020202020204"/>
                <a:ea typeface="黑体" panose="02010609060101010101" pitchFamily="49" charset="-122"/>
              </a:rPr>
              <a:t>分类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  <a:p>
            <a:r>
              <a:rPr lang="zh-CN" altLang="en-US" sz="2000" dirty="0">
                <a:solidFill>
                  <a:prstClr val="white"/>
                </a:solidFill>
                <a:latin typeface="Arial" panose="020B0604020202020204"/>
                <a:ea typeface="黑体" panose="02010609060101010101" pitchFamily="49" charset="-122"/>
              </a:rPr>
              <a:t>异常又可分为</a:t>
            </a:r>
            <a:r>
              <a:rPr lang="en-US" altLang="zh-CN" sz="2000" dirty="0">
                <a:solidFill>
                  <a:prstClr val="white"/>
                </a:solidFill>
                <a:latin typeface="Arial" panose="020B0604020202020204"/>
                <a:ea typeface="黑体" panose="02010609060101010101" pitchFamily="49" charset="-122"/>
              </a:rPr>
              <a:t>1</a:t>
            </a:r>
            <a:r>
              <a:rPr lang="zh-CN" altLang="en-US" sz="2000" dirty="0">
                <a:solidFill>
                  <a:prstClr val="white"/>
                </a:solidFill>
                <a:latin typeface="Arial" panose="020B0604020202020204"/>
                <a:ea typeface="黑体" panose="02010609060101010101" pitchFamily="49" charset="-122"/>
              </a:rPr>
              <a:t>）非致命异常，和</a:t>
            </a:r>
            <a:r>
              <a:rPr lang="en-US" altLang="zh-CN" sz="2000" dirty="0">
                <a:solidFill>
                  <a:prstClr val="white"/>
                </a:solidFill>
                <a:latin typeface="Arial" panose="020B0604020202020204"/>
                <a:ea typeface="黑体" panose="02010609060101010101" pitchFamily="49" charset="-122"/>
              </a:rPr>
              <a:t>2</a:t>
            </a:r>
            <a:r>
              <a:rPr lang="zh-CN" altLang="en-US" sz="2000" dirty="0">
                <a:solidFill>
                  <a:prstClr val="white"/>
                </a:solidFill>
                <a:latin typeface="Arial" panose="020B0604020202020204"/>
                <a:ea typeface="黑体" panose="02010609060101010101" pitchFamily="49" charset="-122"/>
              </a:rPr>
              <a:t>）致命异常</a:t>
            </a:r>
            <a:endParaRPr lang="en-US" altLang="zh-CN" sz="2000" dirty="0">
              <a:solidFill>
                <a:prstClr val="white"/>
              </a:solidFill>
              <a:latin typeface="Arial" panose="020B0604020202020204"/>
              <a:ea typeface="黑体" panose="02010609060101010101" pitchFamily="49" charset="-122"/>
            </a:endParaRPr>
          </a:p>
          <a:p>
            <a:endParaRPr lang="en-US" altLang="zh-CN" sz="2000" dirty="0">
              <a:solidFill>
                <a:prstClr val="white"/>
              </a:solidFill>
              <a:latin typeface="Arial" panose="020B0604020202020204"/>
              <a:ea typeface="黑体" panose="02010609060101010101" pitchFamily="49" charset="-122"/>
            </a:endParaRPr>
          </a:p>
          <a:p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8D75006B-923B-BADF-091F-EC7AED0D3AA9}"/>
              </a:ext>
            </a:extLst>
          </p:cNvPr>
          <p:cNvSpPr txBox="1"/>
          <p:nvPr/>
        </p:nvSpPr>
        <p:spPr>
          <a:xfrm>
            <a:off x="3743362" y="2750365"/>
            <a:ext cx="19425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/>
              <a:t>BaseException</a:t>
            </a:r>
            <a:endParaRPr lang="zh-CN" altLang="en-US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C517EB2-919B-09BC-205D-9CA115D1A8F4}"/>
              </a:ext>
            </a:extLst>
          </p:cNvPr>
          <p:cNvSpPr txBox="1"/>
          <p:nvPr/>
        </p:nvSpPr>
        <p:spPr>
          <a:xfrm>
            <a:off x="3698543" y="2183624"/>
            <a:ext cx="1942531" cy="400110"/>
          </a:xfrm>
          <a:prstGeom prst="rect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2000" b="1" dirty="0"/>
              <a:t>异常类的关系</a:t>
            </a:r>
          </a:p>
        </p:txBody>
      </p: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FFF691E9-D04E-C45E-455D-1360DF0DED94}"/>
              </a:ext>
            </a:extLst>
          </p:cNvPr>
          <p:cNvCxnSpPr/>
          <p:nvPr/>
        </p:nvCxnSpPr>
        <p:spPr>
          <a:xfrm flipH="1">
            <a:off x="3647829" y="3203478"/>
            <a:ext cx="518615" cy="53681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8E8B5124-2710-ADF5-9BA8-153C3A95C3C8}"/>
              </a:ext>
            </a:extLst>
          </p:cNvPr>
          <p:cNvCxnSpPr>
            <a:cxnSpLocks/>
          </p:cNvCxnSpPr>
          <p:nvPr/>
        </p:nvCxnSpPr>
        <p:spPr>
          <a:xfrm>
            <a:off x="4501951" y="3203478"/>
            <a:ext cx="498144" cy="53681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文本框 24">
            <a:extLst>
              <a:ext uri="{FF2B5EF4-FFF2-40B4-BE49-F238E27FC236}">
                <a16:creationId xmlns:a16="http://schemas.microsoft.com/office/drawing/2014/main" id="{B82D8404-A921-1F36-F0B9-5A6D101A081B}"/>
              </a:ext>
            </a:extLst>
          </p:cNvPr>
          <p:cNvSpPr txBox="1"/>
          <p:nvPr/>
        </p:nvSpPr>
        <p:spPr>
          <a:xfrm>
            <a:off x="2808492" y="3790112"/>
            <a:ext cx="19425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Exception</a:t>
            </a:r>
            <a:endParaRPr lang="zh-CN" altLang="en-US" dirty="0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2E240644-73FE-D23A-ACF1-BC2D22C4F5CF}"/>
              </a:ext>
            </a:extLst>
          </p:cNvPr>
          <p:cNvSpPr txBox="1"/>
          <p:nvPr/>
        </p:nvSpPr>
        <p:spPr>
          <a:xfrm>
            <a:off x="538415" y="4079510"/>
            <a:ext cx="194253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tx1">
                    <a:lumMod val="75000"/>
                  </a:schemeClr>
                </a:solidFill>
              </a:rPr>
              <a:t>非致命异常的基类。你迄今为止应该已经遇到过一些了。</a:t>
            </a:r>
            <a:endParaRPr lang="en-US" altLang="zh-CN" dirty="0">
              <a:solidFill>
                <a:schemeClr val="tx1">
                  <a:lumMod val="75000"/>
                </a:schemeClr>
              </a:solidFill>
            </a:endParaRPr>
          </a:p>
          <a:p>
            <a:r>
              <a:rPr lang="zh-CN" altLang="en-US" dirty="0">
                <a:solidFill>
                  <a:schemeClr val="tx1">
                    <a:lumMod val="75000"/>
                  </a:schemeClr>
                </a:solidFill>
              </a:rPr>
              <a:t>程序遇到此类异常时会抛出“异常名：具体细节”这样格式的语句</a:t>
            </a:r>
            <a:endParaRPr lang="en-US" altLang="zh-CN" dirty="0">
              <a:solidFill>
                <a:schemeClr val="tx1">
                  <a:lumMod val="75000"/>
                </a:schemeClr>
              </a:solidFill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3CFEC5B7-1D71-1D2B-4EA8-BE758727904B}"/>
              </a:ext>
            </a:extLst>
          </p:cNvPr>
          <p:cNvSpPr txBox="1"/>
          <p:nvPr/>
        </p:nvSpPr>
        <p:spPr>
          <a:xfrm>
            <a:off x="5997518" y="2711059"/>
            <a:ext cx="22775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tx1">
                    <a:lumMod val="75000"/>
                  </a:schemeClr>
                </a:solidFill>
              </a:rPr>
              <a:t>所有异常的基类。不应该被直接继承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B8318BCD-67D7-14E0-6397-4DCC185F40C7}"/>
              </a:ext>
            </a:extLst>
          </p:cNvPr>
          <p:cNvSpPr txBox="1"/>
          <p:nvPr/>
        </p:nvSpPr>
        <p:spPr>
          <a:xfrm>
            <a:off x="4922757" y="3790112"/>
            <a:ext cx="19425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其他异常类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17D4692B-2DFE-24CD-A922-D6816FC2398E}"/>
              </a:ext>
            </a:extLst>
          </p:cNvPr>
          <p:cNvSpPr txBox="1"/>
          <p:nvPr/>
        </p:nvSpPr>
        <p:spPr>
          <a:xfrm>
            <a:off x="6547978" y="3790112"/>
            <a:ext cx="227757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tx1">
                    <a:lumMod val="75000"/>
                  </a:schemeClr>
                </a:solidFill>
              </a:rPr>
              <a:t>程序终止型异常。包括</a:t>
            </a:r>
            <a:r>
              <a:rPr lang="en-US" altLang="zh-CN" dirty="0" err="1">
                <a:solidFill>
                  <a:schemeClr val="tx1">
                    <a:lumMod val="75000"/>
                  </a:schemeClr>
                </a:solidFill>
              </a:rPr>
              <a:t>sys.exit</a:t>
            </a:r>
            <a:r>
              <a:rPr lang="en-US" altLang="zh-CN" dirty="0">
                <a:solidFill>
                  <a:schemeClr val="tx1">
                    <a:lumMod val="75000"/>
                  </a:schemeClr>
                </a:solidFill>
              </a:rPr>
              <a:t>()</a:t>
            </a:r>
            <a:r>
              <a:rPr lang="zh-CN" altLang="en-US" dirty="0">
                <a:solidFill>
                  <a:schemeClr val="tx1">
                    <a:lumMod val="75000"/>
                  </a:schemeClr>
                </a:solidFill>
              </a:rPr>
              <a:t>或者用户点叉这样引发直接终止程序的异常。通常不被处理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640F6FA5-A8DF-446C-5ECF-7BEF0A8B6C07}"/>
              </a:ext>
            </a:extLst>
          </p:cNvPr>
          <p:cNvSpPr txBox="1"/>
          <p:nvPr/>
        </p:nvSpPr>
        <p:spPr>
          <a:xfrm>
            <a:off x="5740485" y="2711059"/>
            <a:ext cx="5374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tx1">
                    <a:lumMod val="75000"/>
                  </a:schemeClr>
                </a:solidFill>
              </a:rPr>
              <a:t>--</a:t>
            </a:r>
            <a:endParaRPr lang="zh-CN" altLang="en-US" dirty="0">
              <a:solidFill>
                <a:schemeClr val="tx1">
                  <a:lumMod val="75000"/>
                </a:schemeClr>
              </a:solidFill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F2EFF785-2070-2403-DC72-ED54DEAF70E1}"/>
              </a:ext>
            </a:extLst>
          </p:cNvPr>
          <p:cNvSpPr txBox="1"/>
          <p:nvPr/>
        </p:nvSpPr>
        <p:spPr>
          <a:xfrm>
            <a:off x="6241368" y="3817523"/>
            <a:ext cx="5374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tx1">
                    <a:lumMod val="75000"/>
                  </a:schemeClr>
                </a:solidFill>
              </a:rPr>
              <a:t>--</a:t>
            </a:r>
            <a:endParaRPr lang="zh-CN" altLang="en-US" dirty="0">
              <a:solidFill>
                <a:schemeClr val="tx1">
                  <a:lumMod val="75000"/>
                </a:schemeClr>
              </a:solidFill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B11439A9-8854-CE15-A23B-B76D46885B3C}"/>
              </a:ext>
            </a:extLst>
          </p:cNvPr>
          <p:cNvSpPr txBox="1"/>
          <p:nvPr/>
        </p:nvSpPr>
        <p:spPr>
          <a:xfrm>
            <a:off x="2260771" y="4106921"/>
            <a:ext cx="5374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tx1">
                    <a:lumMod val="75000"/>
                  </a:schemeClr>
                </a:solidFill>
              </a:rPr>
              <a:t>--</a:t>
            </a:r>
            <a:endParaRPr lang="zh-CN" altLang="en-US" dirty="0">
              <a:solidFill>
                <a:schemeClr val="tx1">
                  <a:lumMod val="75000"/>
                </a:schemeClr>
              </a:solidFill>
            </a:endParaRP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CC76E4B4-A70E-2B6A-EA9D-39F5AFEC1FAD}"/>
              </a:ext>
            </a:extLst>
          </p:cNvPr>
          <p:cNvSpPr/>
          <p:nvPr/>
        </p:nvSpPr>
        <p:spPr>
          <a:xfrm>
            <a:off x="200946" y="2678380"/>
            <a:ext cx="1687564" cy="53681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基类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0F183229-A6E6-0AA8-A47F-CA6753F7DC51}"/>
              </a:ext>
            </a:extLst>
          </p:cNvPr>
          <p:cNvSpPr/>
          <p:nvPr/>
        </p:nvSpPr>
        <p:spPr>
          <a:xfrm>
            <a:off x="221105" y="3570109"/>
            <a:ext cx="1687564" cy="53681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子类</a:t>
            </a: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D1762D3D-6B52-B424-9E35-437188427D4F}"/>
              </a:ext>
            </a:extLst>
          </p:cNvPr>
          <p:cNvSpPr txBox="1"/>
          <p:nvPr/>
        </p:nvSpPr>
        <p:spPr>
          <a:xfrm>
            <a:off x="8785074" y="5315559"/>
            <a:ext cx="340692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a</a:t>
            </a:r>
            <a:r>
              <a:rPr lang="zh-CN" altLang="en-US" dirty="0"/>
              <a:t> </a:t>
            </a:r>
            <a:r>
              <a:rPr lang="en-US" altLang="zh-CN" dirty="0"/>
              <a:t>=</a:t>
            </a:r>
            <a:r>
              <a:rPr lang="zh-CN" altLang="en-US" dirty="0"/>
              <a:t> </a:t>
            </a:r>
            <a:r>
              <a:rPr lang="en-US" altLang="zh-CN" dirty="0"/>
              <a:t>3</a:t>
            </a:r>
          </a:p>
          <a:p>
            <a:r>
              <a:rPr lang="en-US" altLang="zh-CN" dirty="0"/>
              <a:t>Int -》 </a:t>
            </a:r>
            <a:r>
              <a:rPr lang="zh-CN" altLang="en-US" dirty="0"/>
              <a:t>调取类的信息（包括很多方法） </a:t>
            </a:r>
            <a:r>
              <a:rPr lang="en-US" altLang="zh-CN" dirty="0"/>
              <a:t>-》 </a:t>
            </a:r>
            <a:r>
              <a:rPr lang="zh-CN" altLang="en-US" dirty="0"/>
              <a:t>创建这个对象 </a:t>
            </a:r>
            <a:r>
              <a:rPr lang="en-US" altLang="zh-CN" dirty="0"/>
              <a:t>-》 </a:t>
            </a:r>
            <a:r>
              <a:rPr lang="zh-CN" altLang="en-US" dirty="0"/>
              <a:t>赋值</a:t>
            </a:r>
            <a:r>
              <a:rPr lang="en-US" altLang="zh-CN" dirty="0"/>
              <a:t>3</a:t>
            </a:r>
          </a:p>
          <a:p>
            <a:r>
              <a:rPr lang="en-US" altLang="zh-CN" dirty="0"/>
              <a:t>a == 5 -》</a:t>
            </a:r>
            <a:r>
              <a:rPr lang="en-US" altLang="zh-CN" dirty="0" err="1"/>
              <a:t>a.__eq</a:t>
            </a:r>
            <a:r>
              <a:rPr lang="en-US" altLang="zh-CN" dirty="0"/>
              <a:t>__(5)</a:t>
            </a:r>
            <a:endParaRPr lang="zh-CN" altLang="en-US" dirty="0"/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6746DA4C-0E16-024A-0866-DCD7D2E121FD}"/>
              </a:ext>
            </a:extLst>
          </p:cNvPr>
          <p:cNvSpPr txBox="1"/>
          <p:nvPr/>
        </p:nvSpPr>
        <p:spPr>
          <a:xfrm>
            <a:off x="3617586" y="4843427"/>
            <a:ext cx="19425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/>
              <a:t>FileException</a:t>
            </a:r>
            <a:endParaRPr lang="zh-CN" altLang="en-US" dirty="0"/>
          </a:p>
        </p:txBody>
      </p:sp>
      <p:cxnSp>
        <p:nvCxnSpPr>
          <p:cNvPr id="37" name="直接连接符 36">
            <a:extLst>
              <a:ext uri="{FF2B5EF4-FFF2-40B4-BE49-F238E27FC236}">
                <a16:creationId xmlns:a16="http://schemas.microsoft.com/office/drawing/2014/main" id="{64E2B23C-E211-A7BD-0278-43BB10F7D0E4}"/>
              </a:ext>
            </a:extLst>
          </p:cNvPr>
          <p:cNvCxnSpPr>
            <a:cxnSpLocks/>
          </p:cNvCxnSpPr>
          <p:nvPr/>
        </p:nvCxnSpPr>
        <p:spPr>
          <a:xfrm>
            <a:off x="3533890" y="4177219"/>
            <a:ext cx="387334" cy="55458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7504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8A96AB-6AB6-C5D8-E12B-A8308DDC11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B47B118-B246-6E43-2B48-946C87B92F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274" y="405900"/>
            <a:ext cx="10515600" cy="1325563"/>
          </a:xfrm>
        </p:spPr>
        <p:txBody>
          <a:bodyPr/>
          <a:lstStyle/>
          <a:p>
            <a:r>
              <a:rPr lang="zh-CN" altLang="en-US" dirty="0"/>
              <a:t>异常</a:t>
            </a:r>
            <a:br>
              <a:rPr lang="en-US" altLang="zh-CN" dirty="0"/>
            </a:br>
            <a:r>
              <a:rPr lang="en-US" altLang="zh-CN" dirty="0"/>
              <a:t>	</a:t>
            </a:r>
            <a:r>
              <a:rPr lang="en-US" altLang="zh-CN" sz="3600" dirty="0"/>
              <a:t>--</a:t>
            </a:r>
            <a:r>
              <a:rPr lang="zh-CN" altLang="en-US" sz="3600" dirty="0"/>
              <a:t>非致命异常（</a:t>
            </a:r>
            <a:r>
              <a:rPr lang="en-US" altLang="zh-CN" sz="3600" dirty="0"/>
              <a:t>Exception</a:t>
            </a:r>
            <a:r>
              <a:rPr lang="zh-CN" altLang="en-US" sz="3600" dirty="0"/>
              <a:t>）</a:t>
            </a:r>
            <a:endParaRPr lang="zh-CN" altLang="en-US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1CF7210F-0BF0-E6DA-C08C-BB74AAA9F135}"/>
              </a:ext>
            </a:extLst>
          </p:cNvPr>
          <p:cNvSpPr txBox="1"/>
          <p:nvPr/>
        </p:nvSpPr>
        <p:spPr>
          <a:xfrm>
            <a:off x="2412708" y="1581338"/>
            <a:ext cx="9137422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zh-CN" sz="2400" b="1" dirty="0">
              <a:solidFill>
                <a:prstClr val="white"/>
              </a:solidFill>
              <a:latin typeface="Arial" panose="020B0604020202020204"/>
              <a:ea typeface="黑体" panose="02010609060101010101" pitchFamily="49" charset="-122"/>
            </a:endParaRPr>
          </a:p>
          <a:p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代码演示：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  <a:p>
            <a:r>
              <a:rPr lang="en-GB" altLang="zh-CN" sz="2000" dirty="0">
                <a:solidFill>
                  <a:prstClr val="white"/>
                </a:solidFill>
              </a:rPr>
              <a:t>common_exceptions.py</a:t>
            </a:r>
          </a:p>
          <a:p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一些常见官方异常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  <a:p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FC8AF10-7314-23B5-F4BC-B5720F057F77}"/>
              </a:ext>
            </a:extLst>
          </p:cNvPr>
          <p:cNvSpPr/>
          <p:nvPr/>
        </p:nvSpPr>
        <p:spPr>
          <a:xfrm>
            <a:off x="2543035" y="3079846"/>
            <a:ext cx="2729552" cy="2574877"/>
          </a:xfrm>
          <a:prstGeom prst="rect">
            <a:avLst/>
          </a:prstGeom>
          <a:solidFill>
            <a:schemeClr val="tx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altLang="zh-CN" sz="1600" dirty="0" err="1">
                <a:solidFill>
                  <a:schemeClr val="bg1"/>
                </a:solidFill>
              </a:rPr>
              <a:t>NameError</a:t>
            </a:r>
            <a:r>
              <a:rPr lang="en-GB" altLang="zh-CN" sz="1600" dirty="0">
                <a:solidFill>
                  <a:schemeClr val="bg1"/>
                </a:solidFill>
              </a:rPr>
              <a:t> – </a:t>
            </a:r>
            <a:r>
              <a:rPr lang="zh-CN" altLang="en-US" sz="1600" dirty="0">
                <a:solidFill>
                  <a:schemeClr val="bg1"/>
                </a:solidFill>
              </a:rPr>
              <a:t>变量未被定义</a:t>
            </a:r>
            <a:endParaRPr lang="en-US" altLang="zh-CN" sz="1600" dirty="0">
              <a:solidFill>
                <a:schemeClr val="bg1"/>
              </a:solidFill>
            </a:endParaRPr>
          </a:p>
          <a:p>
            <a:r>
              <a:rPr lang="en-US" altLang="zh-CN" sz="1600" dirty="0" err="1">
                <a:solidFill>
                  <a:schemeClr val="bg1"/>
                </a:solidFill>
              </a:rPr>
              <a:t>TypeError</a:t>
            </a:r>
            <a:r>
              <a:rPr lang="en-US" altLang="zh-CN" sz="1600" dirty="0">
                <a:solidFill>
                  <a:schemeClr val="bg1"/>
                </a:solidFill>
              </a:rPr>
              <a:t> </a:t>
            </a:r>
            <a:r>
              <a:rPr lang="en-GB" altLang="zh-CN" sz="1600" dirty="0">
                <a:solidFill>
                  <a:schemeClr val="bg1"/>
                </a:solidFill>
              </a:rPr>
              <a:t>– </a:t>
            </a:r>
            <a:r>
              <a:rPr lang="zh-CN" altLang="en-US" sz="1600" dirty="0">
                <a:solidFill>
                  <a:schemeClr val="bg1"/>
                </a:solidFill>
              </a:rPr>
              <a:t>一个操作被应用于类型不适当的对象</a:t>
            </a:r>
            <a:endParaRPr lang="en-US" altLang="zh-CN" sz="1600" dirty="0">
              <a:solidFill>
                <a:schemeClr val="bg1"/>
              </a:solidFill>
            </a:endParaRPr>
          </a:p>
          <a:p>
            <a:r>
              <a:rPr lang="en-US" altLang="zh-CN" sz="1600" dirty="0" err="1">
                <a:solidFill>
                  <a:schemeClr val="bg1"/>
                </a:solidFill>
              </a:rPr>
              <a:t>ValueError</a:t>
            </a:r>
            <a:r>
              <a:rPr lang="en-US" altLang="zh-CN" sz="1600" dirty="0">
                <a:solidFill>
                  <a:schemeClr val="bg1"/>
                </a:solidFill>
              </a:rPr>
              <a:t> – </a:t>
            </a:r>
            <a:r>
              <a:rPr lang="zh-CN" altLang="en-US" sz="1600" dirty="0">
                <a:solidFill>
                  <a:schemeClr val="bg1"/>
                </a:solidFill>
              </a:rPr>
              <a:t>一个操作被应用于不恰当的值</a:t>
            </a:r>
            <a:endParaRPr lang="en-US" altLang="zh-CN" sz="1600" dirty="0">
              <a:solidFill>
                <a:schemeClr val="bg1"/>
              </a:solidFill>
            </a:endParaRPr>
          </a:p>
          <a:p>
            <a:r>
              <a:rPr lang="en-US" altLang="zh-CN" sz="1600" dirty="0">
                <a:solidFill>
                  <a:schemeClr val="bg1"/>
                </a:solidFill>
              </a:rPr>
              <a:t>…</a:t>
            </a:r>
            <a:endParaRPr lang="zh-CN" altLang="zh-CN" sz="1600" dirty="0">
              <a:solidFill>
                <a:schemeClr val="bg1"/>
              </a:solidFill>
            </a:endParaRPr>
          </a:p>
          <a:p>
            <a:endParaRPr lang="zh-CN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285841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5C416F-897F-9E29-0E2B-33AA642C7C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A32B8F4-4CB2-A7FD-D5DE-ED02DC75E9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274" y="41959"/>
            <a:ext cx="10515600" cy="1325563"/>
          </a:xfrm>
        </p:spPr>
        <p:txBody>
          <a:bodyPr/>
          <a:lstStyle/>
          <a:p>
            <a:r>
              <a:rPr lang="zh-CN" altLang="en-US" dirty="0"/>
              <a:t>处理非致命异常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B83D16B-1349-D26F-685E-4E93EC623B57}"/>
              </a:ext>
            </a:extLst>
          </p:cNvPr>
          <p:cNvSpPr txBox="1"/>
          <p:nvPr/>
        </p:nvSpPr>
        <p:spPr>
          <a:xfrm>
            <a:off x="674891" y="1176454"/>
            <a:ext cx="9137422" cy="2954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为什么要处理异常</a:t>
            </a:r>
            <a:endParaRPr lang="en-US" altLang="zh-CN" sz="2400" b="1" dirty="0"/>
          </a:p>
          <a:p>
            <a:r>
              <a:rPr lang="zh-CN" altLang="en-US" dirty="0"/>
              <a:t>我们目前为止看过的异常，都是</a:t>
            </a:r>
            <a:r>
              <a:rPr lang="en-US" altLang="zh-CN" dirty="0"/>
              <a:t>python</a:t>
            </a:r>
            <a:r>
              <a:rPr lang="zh-CN" altLang="en-US" dirty="0"/>
              <a:t>告诉程序员：“这里写错了。”程序员修改后，就能继续运行了。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但是现实世界中，会出现无法预先控制的异常。例如：向用户请求输入时，可能遇到：用户明知道应该输数字却输了字母；读取一个文件时，可能遇到：文件被改名了</a:t>
            </a:r>
            <a:r>
              <a:rPr lang="en-US" altLang="zh-CN" dirty="0"/>
              <a:t>/</a:t>
            </a:r>
            <a:r>
              <a:rPr lang="zh-CN" altLang="en-US" dirty="0"/>
              <a:t>移动了，所以找不到这个文件了。如果我们放任程序就这么终止并跳出异常，对于用户是一个很差的体验。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想象：你在</a:t>
            </a:r>
            <a:r>
              <a:rPr lang="en-US" altLang="zh-CN" dirty="0"/>
              <a:t>excel</a:t>
            </a:r>
            <a:r>
              <a:rPr lang="zh-CN" altLang="en-US" dirty="0"/>
              <a:t>一个格子里输入“</a:t>
            </a:r>
            <a:r>
              <a:rPr lang="en-US" altLang="zh-CN" dirty="0"/>
              <a:t>=3/0</a:t>
            </a:r>
            <a:r>
              <a:rPr lang="zh-CN" altLang="en-US" dirty="0"/>
              <a:t>”，</a:t>
            </a:r>
            <a:r>
              <a:rPr lang="en-US" altLang="zh-CN" dirty="0"/>
              <a:t>excel</a:t>
            </a:r>
            <a:r>
              <a:rPr lang="zh-CN" altLang="en-US" dirty="0"/>
              <a:t>弹出错误，然后直接退出了。</a:t>
            </a:r>
            <a:endParaRPr lang="en-US" altLang="zh-CN" sz="2000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4BFB2ED-A35A-3735-D59E-AF3E3266E318}"/>
              </a:ext>
            </a:extLst>
          </p:cNvPr>
          <p:cNvSpPr txBox="1"/>
          <p:nvPr/>
        </p:nvSpPr>
        <p:spPr>
          <a:xfrm>
            <a:off x="674891" y="4219607"/>
            <a:ext cx="9137422" cy="29854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如何处理异常 </a:t>
            </a:r>
            <a:r>
              <a:rPr lang="en-US" altLang="zh-CN" sz="2400" b="1" dirty="0"/>
              <a:t>– </a:t>
            </a:r>
            <a:r>
              <a:rPr lang="zh-CN" altLang="en-US" sz="2400" b="1" dirty="0"/>
              <a:t>代码演示 </a:t>
            </a:r>
            <a:r>
              <a:rPr lang="zh-CN" altLang="en-US" dirty="0"/>
              <a:t>（</a:t>
            </a:r>
            <a:r>
              <a:rPr lang="en-GB" altLang="zh-CN" dirty="0"/>
              <a:t> deal_with_exceptions.py </a:t>
            </a:r>
            <a:r>
              <a:rPr lang="zh-CN" altLang="en-US" dirty="0"/>
              <a:t>）</a:t>
            </a:r>
            <a:endParaRPr lang="en-US" altLang="zh-CN" dirty="0"/>
          </a:p>
          <a:p>
            <a:r>
              <a:rPr lang="en-US" altLang="zh-CN" dirty="0"/>
              <a:t>try: </a:t>
            </a:r>
          </a:p>
          <a:p>
            <a:r>
              <a:rPr lang="en-US" altLang="zh-CN" dirty="0"/>
              <a:t>	</a:t>
            </a:r>
            <a:r>
              <a:rPr lang="zh-CN" altLang="en-US" dirty="0"/>
              <a:t>代码块</a:t>
            </a:r>
            <a:endParaRPr lang="en-US" altLang="zh-CN" dirty="0"/>
          </a:p>
          <a:p>
            <a:r>
              <a:rPr lang="en-US" altLang="zh-CN" dirty="0"/>
              <a:t>except &lt;Exception&gt; (as &lt;</a:t>
            </a:r>
            <a:r>
              <a:rPr lang="zh-CN" altLang="en-US" dirty="0"/>
              <a:t>变量名</a:t>
            </a:r>
            <a:r>
              <a:rPr lang="en-US" altLang="zh-CN" dirty="0"/>
              <a:t>&gt;): </a:t>
            </a:r>
          </a:p>
          <a:p>
            <a:r>
              <a:rPr lang="en-US" altLang="zh-CN" dirty="0"/>
              <a:t>	</a:t>
            </a:r>
            <a:r>
              <a:rPr lang="zh-CN" altLang="en-US" dirty="0"/>
              <a:t>其他代码块</a:t>
            </a:r>
            <a:endParaRPr lang="en-US" altLang="zh-CN" dirty="0"/>
          </a:p>
          <a:p>
            <a:r>
              <a:rPr lang="en-US" altLang="zh-CN" dirty="0"/>
              <a:t>(finally:)</a:t>
            </a:r>
          </a:p>
          <a:p>
            <a:r>
              <a:rPr lang="en-US" altLang="zh-CN" dirty="0"/>
              <a:t>	</a:t>
            </a:r>
            <a:r>
              <a:rPr lang="zh-CN" altLang="en-US" dirty="0"/>
              <a:t>一些无论有无异常都一定执行的代码块</a:t>
            </a:r>
            <a:endParaRPr lang="en-US" altLang="zh-CN" dirty="0"/>
          </a:p>
          <a:p>
            <a:r>
              <a:rPr lang="en-US" altLang="zh-CN" dirty="0"/>
              <a:t>	#</a:t>
            </a:r>
            <a:r>
              <a:rPr lang="zh-CN" altLang="en-US" dirty="0"/>
              <a:t> 例如：打开文件，处理文件。过程中遇到异常或顺利处理完成。无论如何， 在</a:t>
            </a:r>
            <a:r>
              <a:rPr lang="en-US" altLang="zh-CN" dirty="0"/>
              <a:t>finally</a:t>
            </a:r>
            <a:r>
              <a:rPr lang="zh-CN" altLang="en-US" dirty="0"/>
              <a:t>中关闭文件</a:t>
            </a:r>
            <a:endParaRPr lang="en-US" altLang="zh-CN" dirty="0"/>
          </a:p>
          <a:p>
            <a:r>
              <a:rPr lang="en-US" altLang="zh-CN" sz="2000" dirty="0"/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6436694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>
            <a:extLst>
              <a:ext uri="{FF2B5EF4-FFF2-40B4-BE49-F238E27FC236}">
                <a16:creationId xmlns:a16="http://schemas.microsoft.com/office/drawing/2014/main" id="{E8A6DFA1-6357-A084-E763-1A1E4A1B6B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274" y="405900"/>
            <a:ext cx="10515600" cy="1325563"/>
          </a:xfrm>
        </p:spPr>
        <p:txBody>
          <a:bodyPr/>
          <a:lstStyle/>
          <a:p>
            <a:r>
              <a:rPr lang="zh-CN" altLang="en-US" dirty="0"/>
              <a:t>运用非致命异常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C56D545-DC0A-D52B-AFC8-F2545746BE2C}"/>
              </a:ext>
            </a:extLst>
          </p:cNvPr>
          <p:cNvSpPr txBox="1"/>
          <p:nvPr/>
        </p:nvSpPr>
        <p:spPr>
          <a:xfrm>
            <a:off x="674891" y="1731463"/>
            <a:ext cx="913742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自定义异常定义方法</a:t>
            </a:r>
            <a:endParaRPr lang="en-US" altLang="zh-CN" sz="2400" b="1" dirty="0"/>
          </a:p>
          <a:p>
            <a:r>
              <a:rPr lang="zh-CN" altLang="en-US" sz="2000" dirty="0"/>
              <a:t>按照类的定义方法定义，且继承自</a:t>
            </a:r>
            <a:r>
              <a:rPr lang="en-US" altLang="zh-CN" sz="2000" dirty="0"/>
              <a:t>Exception</a:t>
            </a:r>
            <a:r>
              <a:rPr lang="zh-CN" altLang="en-US" sz="2000" dirty="0"/>
              <a:t>即可</a:t>
            </a:r>
            <a:r>
              <a:rPr lang="zh-CN" altLang="en-US" sz="2000"/>
              <a:t>。（记住</a:t>
            </a:r>
            <a:r>
              <a:rPr lang="zh-CN" altLang="en-US" sz="2000">
                <a:solidFill>
                  <a:srgbClr val="FF0000"/>
                </a:solidFill>
              </a:rPr>
              <a:t>异常</a:t>
            </a:r>
            <a:r>
              <a:rPr lang="zh-CN" altLang="en-US" sz="2000" dirty="0">
                <a:solidFill>
                  <a:srgbClr val="FF0000"/>
                </a:solidFill>
              </a:rPr>
              <a:t>本来也是一种类</a:t>
            </a:r>
            <a:r>
              <a:rPr lang="zh-CN" altLang="en-US" sz="2000" dirty="0"/>
              <a:t>）</a:t>
            </a:r>
            <a:endParaRPr lang="en-US" altLang="zh-CN" sz="2400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2BF7B6B6-C214-E212-17AC-B95421D8CDFF}"/>
              </a:ext>
            </a:extLst>
          </p:cNvPr>
          <p:cNvSpPr txBox="1"/>
          <p:nvPr/>
        </p:nvSpPr>
        <p:spPr>
          <a:xfrm>
            <a:off x="674890" y="2714150"/>
            <a:ext cx="9297073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为什么需要自定义异常</a:t>
            </a:r>
            <a:endParaRPr lang="en-US" altLang="zh-CN" sz="2400" b="1" dirty="0"/>
          </a:p>
          <a:p>
            <a:r>
              <a:rPr lang="zh-CN" altLang="en-US" sz="2000" dirty="0"/>
              <a:t>原生异常不满足程序的需求时，使用自定义异常增加代码可读性。</a:t>
            </a:r>
            <a:endParaRPr lang="en-US" altLang="zh-CN" sz="2000" dirty="0"/>
          </a:p>
          <a:p>
            <a:endParaRPr lang="en-US" altLang="zh-CN" sz="2000" dirty="0"/>
          </a:p>
          <a:p>
            <a:r>
              <a:rPr lang="zh-CN" altLang="en-US" sz="2000" dirty="0"/>
              <a:t>场景举例：软件在用户注册时询问各种基本信息，包括出生年月日、电话、邮箱等。</a:t>
            </a:r>
            <a:endParaRPr lang="en-US" altLang="zh-CN" sz="2000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74968080-32AF-C885-F61A-EF2F59011585}"/>
              </a:ext>
            </a:extLst>
          </p:cNvPr>
          <p:cNvSpPr txBox="1"/>
          <p:nvPr/>
        </p:nvSpPr>
        <p:spPr>
          <a:xfrm>
            <a:off x="674891" y="4870448"/>
            <a:ext cx="9137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代码演示</a:t>
            </a:r>
            <a:endParaRPr lang="en-US" altLang="zh-CN" sz="2800" b="1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410773FE-50FB-5083-3986-34BD61A274C1}"/>
              </a:ext>
            </a:extLst>
          </p:cNvPr>
          <p:cNvSpPr txBox="1"/>
          <p:nvPr/>
        </p:nvSpPr>
        <p:spPr>
          <a:xfrm>
            <a:off x="674890" y="5242593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register_app_example.py</a:t>
            </a:r>
            <a:endParaRPr lang="en-US" altLang="zh-CN" dirty="0"/>
          </a:p>
          <a:p>
            <a:r>
              <a:rPr lang="en-GB" altLang="zh-CN" dirty="0"/>
              <a:t>register_app_with_custom_exceptions.py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19745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F29CCF-899D-5BC6-EA8B-8ADDE8B9E5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>
            <a:extLst>
              <a:ext uri="{FF2B5EF4-FFF2-40B4-BE49-F238E27FC236}">
                <a16:creationId xmlns:a16="http://schemas.microsoft.com/office/drawing/2014/main" id="{47B0B0E6-96CA-3C7C-30CA-505C9AF022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274" y="69255"/>
            <a:ext cx="10515600" cy="1325563"/>
          </a:xfrm>
        </p:spPr>
        <p:txBody>
          <a:bodyPr/>
          <a:lstStyle/>
          <a:p>
            <a:r>
              <a:rPr lang="en-US" altLang="zh-CN" dirty="0"/>
              <a:t>debug</a:t>
            </a:r>
            <a:endParaRPr lang="zh-CN" alt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0CBAF15B-2399-8E2E-816A-05CAF64324D0}"/>
              </a:ext>
            </a:extLst>
          </p:cNvPr>
          <p:cNvSpPr txBox="1"/>
          <p:nvPr/>
        </p:nvSpPr>
        <p:spPr>
          <a:xfrm>
            <a:off x="674891" y="1203751"/>
            <a:ext cx="913742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定义</a:t>
            </a:r>
            <a:endParaRPr lang="en-US" altLang="zh-CN" sz="2400" b="1" dirty="0"/>
          </a:p>
          <a:p>
            <a:r>
              <a:rPr lang="zh-CN" altLang="en-US" sz="2000" dirty="0"/>
              <a:t>顾名思义，通过识别问题、解决问题来消除程序的</a:t>
            </a:r>
            <a:r>
              <a:rPr lang="en-US" altLang="zh-CN" sz="2000" dirty="0"/>
              <a:t>bug</a:t>
            </a:r>
            <a:r>
              <a:rPr lang="zh-CN" altLang="en-US" sz="2000" dirty="0"/>
              <a:t>。</a:t>
            </a:r>
            <a:endParaRPr lang="en-US" altLang="zh-CN" sz="2000" dirty="0"/>
          </a:p>
          <a:p>
            <a:r>
              <a:rPr lang="zh-CN" altLang="en-US" sz="2000" dirty="0"/>
              <a:t>什么又是</a:t>
            </a:r>
            <a:r>
              <a:rPr lang="en-US" altLang="zh-CN" sz="2000" dirty="0"/>
              <a:t>bug</a:t>
            </a:r>
            <a:r>
              <a:rPr lang="zh-CN" altLang="en-US" sz="2000" dirty="0"/>
              <a:t>？</a:t>
            </a:r>
            <a:r>
              <a:rPr lang="en-US" altLang="zh-CN" sz="2000" dirty="0"/>
              <a:t>Bug</a:t>
            </a:r>
            <a:r>
              <a:rPr lang="zh-CN" altLang="en-US" sz="2000" dirty="0"/>
              <a:t>不一定是异常，任何执行效果和设计预期不符合的情况都可以叫</a:t>
            </a:r>
            <a:r>
              <a:rPr lang="en-US" altLang="zh-CN" sz="2000" dirty="0"/>
              <a:t>bug</a:t>
            </a:r>
            <a:r>
              <a:rPr lang="zh-CN" altLang="en-US" sz="2000" dirty="0"/>
              <a:t>。</a:t>
            </a:r>
            <a:endParaRPr lang="en-US" altLang="zh-CN" sz="2400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18042CCE-8C33-AD51-28DB-1F242BF91D6A}"/>
              </a:ext>
            </a:extLst>
          </p:cNvPr>
          <p:cNvSpPr txBox="1"/>
          <p:nvPr/>
        </p:nvSpPr>
        <p:spPr>
          <a:xfrm>
            <a:off x="674891" y="5912226"/>
            <a:ext cx="9137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代码演示</a:t>
            </a:r>
            <a:endParaRPr lang="en-US" altLang="zh-CN" sz="2800" b="1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046BFDE-A2C6-B27E-FD78-8433F7686276}"/>
              </a:ext>
            </a:extLst>
          </p:cNvPr>
          <p:cNvSpPr txBox="1"/>
          <p:nvPr/>
        </p:nvSpPr>
        <p:spPr>
          <a:xfrm>
            <a:off x="674890" y="6284371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altLang="zh-CN" dirty="0"/>
              <a:t>debug.py</a:t>
            </a:r>
          </a:p>
          <a:p>
            <a:r>
              <a:rPr lang="en-US" altLang="zh-CN" dirty="0"/>
              <a:t>debug_with_print.py</a:t>
            </a:r>
            <a:endParaRPr lang="en-GB" altLang="zh-CN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2405228-551E-943C-99E7-A5671DA37D8C}"/>
              </a:ext>
            </a:extLst>
          </p:cNvPr>
          <p:cNvSpPr txBox="1"/>
          <p:nvPr/>
        </p:nvSpPr>
        <p:spPr>
          <a:xfrm>
            <a:off x="674891" y="2760147"/>
            <a:ext cx="9137422" cy="29238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方法</a:t>
            </a:r>
            <a:endParaRPr lang="en-US" altLang="zh-CN" sz="2400" b="1" dirty="0"/>
          </a:p>
          <a:p>
            <a:r>
              <a:rPr lang="en-US" altLang="zh-CN" sz="2000" dirty="0"/>
              <a:t>1</a:t>
            </a:r>
            <a:r>
              <a:rPr lang="zh-CN" altLang="en-US" sz="2000" dirty="0"/>
              <a:t>）使用</a:t>
            </a:r>
            <a:r>
              <a:rPr lang="en-US" altLang="zh-CN" sz="2000" dirty="0"/>
              <a:t>debugger</a:t>
            </a:r>
          </a:p>
          <a:p>
            <a:r>
              <a:rPr lang="zh-CN" altLang="en-US" sz="2000" dirty="0"/>
              <a:t>许多流行程序语言都配有</a:t>
            </a:r>
            <a:r>
              <a:rPr lang="en-US" altLang="zh-CN" sz="2000" dirty="0"/>
              <a:t>debugger</a:t>
            </a:r>
            <a:r>
              <a:rPr lang="zh-CN" altLang="en-US" sz="2000" dirty="0"/>
              <a:t>。它们的一个共性是：允许在程序中对单行或多行设置断点，运行到断点时中断。允许逐步运行。显示所有变量的值信息等</a:t>
            </a:r>
            <a:endParaRPr lang="en-US" altLang="zh-CN" sz="2000" dirty="0"/>
          </a:p>
          <a:p>
            <a:r>
              <a:rPr lang="en-US" altLang="zh-CN" sz="2000" dirty="0"/>
              <a:t>2</a:t>
            </a:r>
            <a:r>
              <a:rPr lang="zh-CN" altLang="en-US" sz="2000" dirty="0"/>
              <a:t>）打印</a:t>
            </a:r>
            <a:endParaRPr lang="en-US" altLang="zh-CN" sz="2000" dirty="0"/>
          </a:p>
          <a:p>
            <a:r>
              <a:rPr lang="zh-CN" altLang="en-US" sz="2000" dirty="0"/>
              <a:t>对于一些简单的情况</a:t>
            </a:r>
            <a:r>
              <a:rPr lang="en-US" altLang="zh-CN" sz="2000" dirty="0"/>
              <a:t>/</a:t>
            </a:r>
            <a:r>
              <a:rPr lang="zh-CN" altLang="en-US" sz="2000" dirty="0"/>
              <a:t>不方便使用</a:t>
            </a:r>
            <a:r>
              <a:rPr lang="en-US" altLang="zh-CN" sz="2000" dirty="0"/>
              <a:t>debugger</a:t>
            </a:r>
            <a:r>
              <a:rPr lang="zh-CN" altLang="en-US" sz="2000" dirty="0"/>
              <a:t>的场景，在每个变量产生变化的节点直接打印出变量的信息也可以用来</a:t>
            </a:r>
            <a:r>
              <a:rPr lang="en-US" altLang="zh-CN" sz="2000" dirty="0"/>
              <a:t>debug</a:t>
            </a:r>
          </a:p>
          <a:p>
            <a:endParaRPr lang="en-US" altLang="zh-CN" sz="2000" dirty="0"/>
          </a:p>
          <a:p>
            <a:r>
              <a:rPr lang="zh-CN" altLang="en-US" sz="2000" dirty="0"/>
              <a:t>方法并不重要。重要的是能够发现问题。</a:t>
            </a:r>
            <a:endParaRPr lang="en-US" altLang="zh-CN" sz="2000" dirty="0"/>
          </a:p>
        </p:txBody>
      </p:sp>
    </p:spTree>
    <p:extLst>
      <p:ext uri="{BB962C8B-B14F-4D97-AF65-F5344CB8AC3E}">
        <p14:creationId xmlns:p14="http://schemas.microsoft.com/office/powerpoint/2010/main" val="32676107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442200-AB71-FFC2-7BFE-0A8021D72F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>
            <a:extLst>
              <a:ext uri="{FF2B5EF4-FFF2-40B4-BE49-F238E27FC236}">
                <a16:creationId xmlns:a16="http://schemas.microsoft.com/office/drawing/2014/main" id="{796529A9-BA01-280E-05DF-4904B2DEA9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274" y="69255"/>
            <a:ext cx="10515600" cy="1325563"/>
          </a:xfrm>
        </p:spPr>
        <p:txBody>
          <a:bodyPr/>
          <a:lstStyle/>
          <a:p>
            <a:r>
              <a:rPr lang="zh-CN" altLang="en-US" dirty="0"/>
              <a:t>作业（</a:t>
            </a:r>
            <a:r>
              <a:rPr lang="en-US" altLang="zh-CN" dirty="0"/>
              <a:t>45min</a:t>
            </a:r>
            <a:r>
              <a:rPr lang="zh-CN" altLang="en-US" dirty="0"/>
              <a:t>内）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8F234CD3-9E67-913A-74B0-6073BFF8B359}"/>
              </a:ext>
            </a:extLst>
          </p:cNvPr>
          <p:cNvSpPr txBox="1"/>
          <p:nvPr/>
        </p:nvSpPr>
        <p:spPr>
          <a:xfrm>
            <a:off x="741528" y="1219200"/>
            <a:ext cx="5190700" cy="26161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/>
              <a:t>判断题</a:t>
            </a:r>
            <a:endParaRPr lang="en-US" altLang="zh-CN" sz="2000" b="1" dirty="0"/>
          </a:p>
          <a:p>
            <a:pPr marL="342900" indent="-342900">
              <a:buAutoNum type="arabicPeriod"/>
            </a:pPr>
            <a:r>
              <a:rPr lang="zh-CN" altLang="zh-CN" dirty="0"/>
              <a:t>下面几种情况，判断各属于语法错误还是异常，如果是异常，再判断是非致命异常还是致命异常</a:t>
            </a:r>
            <a:endParaRPr lang="en-US" altLang="zh-CN" dirty="0"/>
          </a:p>
          <a:p>
            <a:pPr marL="342900" indent="-342900">
              <a:buAutoNum type="arabicPeriod"/>
            </a:pP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zh-CN" dirty="0"/>
              <a:t>忘记给 if 语句加冒号 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zh-CN" dirty="0"/>
              <a:t>调用 sys.exit() 主动退出程序 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zh-CN" dirty="0"/>
              <a:t>对一个字符串和一个整数做加法运算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zh-CN" dirty="0"/>
              <a:t>引用了一个还没赋值的变量名</a:t>
            </a:r>
            <a:endParaRPr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A7F1422-8EA2-00C2-159B-2DF773524BC4}"/>
              </a:ext>
            </a:extLst>
          </p:cNvPr>
          <p:cNvSpPr txBox="1"/>
          <p:nvPr/>
        </p:nvSpPr>
        <p:spPr>
          <a:xfrm>
            <a:off x="6359856" y="1219200"/>
            <a:ext cx="519070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/>
              <a:t>编程题</a:t>
            </a:r>
            <a:endParaRPr lang="en-US" altLang="zh-CN" sz="2000" b="1" dirty="0"/>
          </a:p>
          <a:p>
            <a:r>
              <a:rPr lang="en-US" altLang="zh-CN" dirty="0"/>
              <a:t>1. </a:t>
            </a:r>
            <a:r>
              <a:rPr lang="zh-CN" altLang="en-US" dirty="0"/>
              <a:t>自定义异常</a:t>
            </a:r>
            <a:endParaRPr lang="en-US" altLang="zh-CN" dirty="0"/>
          </a:p>
          <a:p>
            <a:r>
              <a:rPr lang="zh-CN" altLang="en-US" dirty="0"/>
              <a:t>仿照</a:t>
            </a:r>
            <a:r>
              <a:rPr lang="en-US" altLang="zh-CN" dirty="0"/>
              <a:t>register_app_with_custom_exceptions.py </a:t>
            </a:r>
            <a:r>
              <a:rPr lang="zh-CN" altLang="en-US" dirty="0"/>
              <a:t>的思路，自己定义一个继承自 </a:t>
            </a:r>
            <a:r>
              <a:rPr lang="en-US" altLang="zh-CN" dirty="0"/>
              <a:t>Exception </a:t>
            </a:r>
            <a:r>
              <a:rPr lang="zh-CN" altLang="en-US" dirty="0"/>
              <a:t>的异常类（比如 </a:t>
            </a:r>
            <a:r>
              <a:rPr lang="en-US" altLang="zh-CN" dirty="0" err="1"/>
              <a:t>AgeError</a:t>
            </a:r>
            <a:r>
              <a:rPr lang="zh-CN" altLang="en-US" dirty="0"/>
              <a:t>），用于处理用户注册时年龄输入不合法（不是 </a:t>
            </a:r>
            <a:r>
              <a:rPr lang="en-US" altLang="zh-CN" dirty="0"/>
              <a:t>1-120 </a:t>
            </a:r>
            <a:r>
              <a:rPr lang="zh-CN" altLang="en-US" dirty="0"/>
              <a:t>之间的整数）的情况。要求使用</a:t>
            </a:r>
            <a:r>
              <a:rPr lang="en-US" altLang="zh-CN" dirty="0"/>
              <a:t>try-catch</a:t>
            </a:r>
            <a:r>
              <a:rPr lang="zh-CN" altLang="en-US" dirty="0"/>
              <a:t>捕获这个异常，打印出对用户友好的报错信息。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2. While</a:t>
            </a:r>
            <a:r>
              <a:rPr lang="zh-CN" altLang="en-US" dirty="0"/>
              <a:t>循环</a:t>
            </a:r>
            <a:r>
              <a:rPr lang="en-US" altLang="zh-CN" dirty="0"/>
              <a:t>+</a:t>
            </a:r>
            <a:r>
              <a:rPr lang="zh-CN" altLang="en-US" dirty="0"/>
              <a:t>自定义异常</a:t>
            </a:r>
            <a:endParaRPr lang="en-US" altLang="zh-CN" dirty="0"/>
          </a:p>
          <a:p>
            <a:r>
              <a:rPr lang="zh-CN" altLang="en-US" dirty="0"/>
              <a:t>在上道题基础上，利用</a:t>
            </a:r>
            <a:r>
              <a:rPr lang="en-US" altLang="zh-CN" dirty="0"/>
              <a:t>while</a:t>
            </a:r>
            <a:r>
              <a:rPr lang="zh-CN" altLang="en-US" dirty="0"/>
              <a:t>循环请求用户输入年龄，直到获得合法年龄（</a:t>
            </a:r>
            <a:r>
              <a:rPr lang="en-US" altLang="zh-CN" dirty="0"/>
              <a:t>1-120</a:t>
            </a:r>
            <a:r>
              <a:rPr lang="zh-CN" altLang="en-US" dirty="0"/>
              <a:t>之间的整数）为止。不要看演示代码，自己写。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0230063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细微固体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F46216B-77A9-411A-B9D3-5023FCB70208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2151</TotalTime>
  <Words>1110</Words>
  <Application>Microsoft Office PowerPoint</Application>
  <PresentationFormat>宽屏</PresentationFormat>
  <Paragraphs>118</Paragraphs>
  <Slides>10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3" baseType="lpstr">
      <vt:lpstr>等线</vt:lpstr>
      <vt:lpstr>Arial</vt:lpstr>
      <vt:lpstr>Office 主题​​</vt:lpstr>
      <vt:lpstr>Python</vt:lpstr>
      <vt:lpstr>本节内容</vt:lpstr>
      <vt:lpstr>Override</vt:lpstr>
      <vt:lpstr>错误和异常</vt:lpstr>
      <vt:lpstr>异常</vt:lpstr>
      <vt:lpstr>异常  --非致命异常（Exception）</vt:lpstr>
      <vt:lpstr>处理非致命异常</vt:lpstr>
      <vt:lpstr>运用非致命异常</vt:lpstr>
      <vt:lpstr>debug</vt:lpstr>
      <vt:lpstr>作业（45min内）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Kexin Wang</dc:creator>
  <cp:lastModifiedBy>Kexin Wang</cp:lastModifiedBy>
  <cp:revision>419</cp:revision>
  <dcterms:created xsi:type="dcterms:W3CDTF">2026-04-14T21:03:52Z</dcterms:created>
  <dcterms:modified xsi:type="dcterms:W3CDTF">2026-06-20T09:28:33Z</dcterms:modified>
</cp:coreProperties>
</file>