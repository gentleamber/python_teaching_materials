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6" r:id="rId4"/>
    <p:sldId id="270" r:id="rId5"/>
    <p:sldId id="274" r:id="rId6"/>
    <p:sldId id="272" r:id="rId7"/>
    <p:sldId id="271" r:id="rId8"/>
    <p:sldId id="273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715" autoAdjust="0"/>
  </p:normalViewPr>
  <p:slideViewPr>
    <p:cSldViewPr snapToGrid="0">
      <p:cViewPr varScale="1">
        <p:scale>
          <a:sx n="97" d="100"/>
          <a:sy n="97" d="100"/>
        </p:scale>
        <p:origin x="4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71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55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第五课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7FA9-E991-4C7A-A6AF-69300F41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170C-730F-1C95-B8B9-4E1E25CB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  <a:r>
              <a:rPr lang="en-US" altLang="zh-CN" dirty="0"/>
              <a:t>dictionary </a:t>
            </a:r>
            <a:r>
              <a:rPr lang="en-US" altLang="zh-CN" strike="sngStrike" dirty="0">
                <a:solidFill>
                  <a:schemeClr val="tx2">
                    <a:lumMod val="50000"/>
                  </a:schemeClr>
                </a:solidFill>
              </a:rPr>
              <a:t>map</a:t>
            </a:r>
            <a:r>
              <a:rPr lang="zh-CN" altLang="en-US" dirty="0"/>
              <a:t>这种特殊数据类型</a:t>
            </a:r>
            <a:endParaRPr lang="en-US" altLang="zh-CN" dirty="0"/>
          </a:p>
          <a:p>
            <a:r>
              <a:rPr lang="zh-CN" altLang="en-US" dirty="0"/>
              <a:t>介绍基本数据类型和“特殊”数据类型的区别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3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31C2-FFCC-E81F-6FA6-D59DA660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D5ECA-0844-C537-4081-DEBD5A70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Dictionary </a:t>
            </a:r>
            <a:r>
              <a:rPr lang="en-US" altLang="zh-CN" strike="sngStrike" dirty="0">
                <a:solidFill>
                  <a:schemeClr val="tx2">
                    <a:lumMod val="50000"/>
                  </a:schemeClr>
                </a:solidFill>
              </a:rPr>
              <a:t>map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FCE2A31-C2FD-3D55-FC2A-B5A8DE616BBC}"/>
              </a:ext>
            </a:extLst>
          </p:cNvPr>
          <p:cNvSpPr txBox="1">
            <a:spLocks/>
          </p:cNvSpPr>
          <p:nvPr/>
        </p:nvSpPr>
        <p:spPr>
          <a:xfrm>
            <a:off x="752680" y="3014577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使用方式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0316967-BA03-FE36-3C0D-9DFA3F4121D6}"/>
              </a:ext>
            </a:extLst>
          </p:cNvPr>
          <p:cNvSpPr txBox="1">
            <a:spLocks/>
          </p:cNvSpPr>
          <p:nvPr/>
        </p:nvSpPr>
        <p:spPr>
          <a:xfrm>
            <a:off x="1081601" y="3545801"/>
            <a:ext cx="8595251" cy="142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经典应用：分析文本</a:t>
            </a: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C3502389-4167-CF7C-25FA-85EEC63D59DC}"/>
              </a:ext>
            </a:extLst>
          </p:cNvPr>
          <p:cNvSpPr txBox="1">
            <a:spLocks/>
          </p:cNvSpPr>
          <p:nvPr/>
        </p:nvSpPr>
        <p:spPr>
          <a:xfrm>
            <a:off x="838200" y="1328875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可以理解为自定义索引的</a:t>
            </a:r>
            <a:r>
              <a:rPr lang="en-US" altLang="zh-CN" sz="2400" dirty="0"/>
              <a:t>list</a:t>
            </a:r>
            <a:r>
              <a:rPr lang="zh-CN" altLang="en-US" sz="2400" dirty="0"/>
              <a:t>。在</a:t>
            </a:r>
            <a:r>
              <a:rPr lang="en-US" altLang="zh-CN" sz="2400" dirty="0"/>
              <a:t>list</a:t>
            </a:r>
            <a:r>
              <a:rPr lang="zh-CN" altLang="en-US" sz="2400" dirty="0"/>
              <a:t>里，索引是语言规定好的（</a:t>
            </a:r>
            <a:r>
              <a:rPr lang="en-US" altLang="zh-CN" sz="2400" dirty="0"/>
              <a:t>0,1,2,…)</a:t>
            </a:r>
            <a:r>
              <a:rPr lang="zh-CN" altLang="en-US" sz="2400" dirty="0"/>
              <a:t>，在</a:t>
            </a:r>
            <a:r>
              <a:rPr lang="en-US" altLang="zh-CN" sz="2400" dirty="0"/>
              <a:t>dictionary</a:t>
            </a:r>
            <a:r>
              <a:rPr lang="zh-CN" altLang="en-US" sz="2400" dirty="0"/>
              <a:t>里面，每个元素都是</a:t>
            </a:r>
            <a:r>
              <a:rPr lang="en-US" altLang="zh-CN" sz="2400" dirty="0" err="1"/>
              <a:t>key:value</a:t>
            </a:r>
            <a:r>
              <a:rPr lang="zh-CN" altLang="en-US" sz="2400" dirty="0"/>
              <a:t>的对子，你可以使用</a:t>
            </a:r>
            <a:r>
              <a:rPr lang="en-US" altLang="zh-CN" sz="2400" dirty="0"/>
              <a:t>key</a:t>
            </a:r>
            <a:r>
              <a:rPr lang="zh-CN" altLang="en-US" sz="2400" dirty="0"/>
              <a:t>来搜寻元素。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2DF5DB7-7917-528C-D957-A17936B67BB0}"/>
              </a:ext>
            </a:extLst>
          </p:cNvPr>
          <p:cNvSpPr txBox="1">
            <a:spLocks/>
          </p:cNvSpPr>
          <p:nvPr/>
        </p:nvSpPr>
        <p:spPr>
          <a:xfrm>
            <a:off x="752680" y="4567084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代码演示</a:t>
            </a:r>
          </a:p>
        </p:txBody>
      </p:sp>
    </p:spTree>
    <p:extLst>
      <p:ext uri="{BB962C8B-B14F-4D97-AF65-F5344CB8AC3E}">
        <p14:creationId xmlns:p14="http://schemas.microsoft.com/office/powerpoint/2010/main" val="112864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DED4F-22A3-E371-71A6-D3F0AAF1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基本数据类型和“特殊”数据类型的区别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B5246BE-03DD-C5BD-C0C0-A251696B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基本数据类型（英文：</a:t>
            </a:r>
            <a:r>
              <a:rPr lang="en-US" altLang="zh-CN" dirty="0"/>
              <a:t>primitive data type</a:t>
            </a:r>
            <a:r>
              <a:rPr lang="zh-CN" altLang="en-US" dirty="0"/>
              <a:t>），相当于原子，是最基本的、不可再分割的数据类型。它们直接以值的形式被</a:t>
            </a:r>
            <a:r>
              <a:rPr lang="en-US" altLang="zh-CN" dirty="0" err="1"/>
              <a:t>cpu</a:t>
            </a:r>
            <a:r>
              <a:rPr lang="zh-CN" altLang="en-US" dirty="0"/>
              <a:t>读取和处理</a:t>
            </a:r>
            <a:endParaRPr lang="en-US" altLang="zh-CN" dirty="0"/>
          </a:p>
          <a:p>
            <a:pPr lvl="1"/>
            <a:r>
              <a:rPr lang="zh-CN" altLang="en-US" dirty="0"/>
              <a:t>特点：每种基本数据类型都有固定大小，例如在</a:t>
            </a:r>
            <a:r>
              <a:rPr lang="en-US" altLang="zh-CN" dirty="0"/>
              <a:t>java</a:t>
            </a:r>
            <a:r>
              <a:rPr lang="zh-CN" altLang="en-US" dirty="0"/>
              <a:t>里</a:t>
            </a:r>
            <a:r>
              <a:rPr lang="en-US" altLang="zh-CN" dirty="0"/>
              <a:t>int</a:t>
            </a:r>
            <a:r>
              <a:rPr lang="zh-CN" altLang="en-US" dirty="0"/>
              <a:t>型是</a:t>
            </a:r>
            <a:r>
              <a:rPr lang="en-US" altLang="zh-CN" dirty="0"/>
              <a:t>4bytes </a:t>
            </a:r>
            <a:r>
              <a:rPr lang="zh-CN" altLang="en-US" dirty="0"/>
              <a:t>（</a:t>
            </a:r>
            <a:r>
              <a:rPr lang="en-US" altLang="zh-CN" dirty="0"/>
              <a:t>1byte=8bit</a:t>
            </a:r>
            <a:r>
              <a:rPr lang="zh-CN" altLang="en-US" dirty="0"/>
              <a:t>），也就是有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bool</a:t>
            </a:r>
            <a:r>
              <a:rPr lang="zh-CN" altLang="en-US" dirty="0"/>
              <a:t>（</a:t>
            </a:r>
            <a:r>
              <a:rPr lang="en-US" altLang="zh-CN" dirty="0"/>
              <a:t>true/false</a:t>
            </a:r>
            <a:r>
              <a:rPr lang="zh-CN" altLang="en-US" dirty="0"/>
              <a:t>）型是</a:t>
            </a:r>
            <a:r>
              <a:rPr lang="en-US" altLang="zh-CN" dirty="0"/>
              <a:t>1byte</a:t>
            </a:r>
            <a:r>
              <a:rPr lang="zh-CN" altLang="en-US" dirty="0"/>
              <a:t>。在软件运行的时候，一个</a:t>
            </a:r>
            <a:r>
              <a:rPr lang="en-US" altLang="zh-CN" dirty="0"/>
              <a:t>bool</a:t>
            </a:r>
            <a:r>
              <a:rPr lang="zh-CN" altLang="en-US" dirty="0"/>
              <a:t>型数据就可直接以</a:t>
            </a:r>
            <a:r>
              <a:rPr lang="en-US" altLang="zh-CN" dirty="0"/>
              <a:t>00000001</a:t>
            </a:r>
            <a:r>
              <a:rPr lang="zh-CN" altLang="en-US" dirty="0"/>
              <a:t>这样的样子被传输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“特殊”数据类型，则是原生的类（</a:t>
            </a:r>
            <a:r>
              <a:rPr lang="en-US" altLang="zh-CN" dirty="0"/>
              <a:t>class</a:t>
            </a:r>
            <a:r>
              <a:rPr lang="zh-CN" altLang="en-US" dirty="0"/>
              <a:t>）。它们有自己的属性和方法可供调用，有或没有固定大小。在</a:t>
            </a:r>
            <a:r>
              <a:rPr lang="en-US" altLang="zh-CN" dirty="0"/>
              <a:t>Java</a:t>
            </a:r>
            <a:r>
              <a:rPr lang="zh-CN" altLang="en-US" dirty="0"/>
              <a:t>里是</a:t>
            </a:r>
            <a:r>
              <a:rPr lang="en-US" altLang="zh-CN" dirty="0"/>
              <a:t>String</a:t>
            </a:r>
            <a:r>
              <a:rPr lang="zh-CN" altLang="en-US" dirty="0"/>
              <a:t>，</a:t>
            </a:r>
            <a:r>
              <a:rPr lang="en-US" altLang="zh-CN" dirty="0"/>
              <a:t>Array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690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28125DC-D227-DD52-A164-CE17D1E6D475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161D43-DCB9-D93D-CCB8-60B614A2ED21}"/>
              </a:ext>
            </a:extLst>
          </p:cNvPr>
          <p:cNvSpPr txBox="1"/>
          <p:nvPr/>
        </p:nvSpPr>
        <p:spPr>
          <a:xfrm>
            <a:off x="1532771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6F9C4F-8EB8-DEAC-F9E3-0E7673591E50}"/>
              </a:ext>
            </a:extLst>
          </p:cNvPr>
          <p:cNvSpPr/>
          <p:nvPr/>
        </p:nvSpPr>
        <p:spPr>
          <a:xfrm>
            <a:off x="5736378" y="1151224"/>
            <a:ext cx="5394304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B6E7B6-2549-B4D8-0A9F-FCB8F1D9AEFE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03B068-EBE9-41A2-DA93-D789094ACC9D}"/>
              </a:ext>
            </a:extLst>
          </p:cNvPr>
          <p:cNvSpPr/>
          <p:nvPr/>
        </p:nvSpPr>
        <p:spPr>
          <a:xfrm>
            <a:off x="1710388" y="1677496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24BC2C-3B74-F7E0-391C-91F779F8E341}"/>
              </a:ext>
            </a:extLst>
          </p:cNvPr>
          <p:cNvSpPr txBox="1"/>
          <p:nvPr/>
        </p:nvSpPr>
        <p:spPr>
          <a:xfrm>
            <a:off x="868351" y="473646"/>
            <a:ext cx="191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的行为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626971-8D4B-3F1E-C833-E2213A2177C1}"/>
              </a:ext>
            </a:extLst>
          </p:cNvPr>
          <p:cNvSpPr/>
          <p:nvPr/>
        </p:nvSpPr>
        <p:spPr>
          <a:xfrm>
            <a:off x="1710388" y="204682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0F9F9C-B85A-EB07-1165-BF3D1810990E}"/>
              </a:ext>
            </a:extLst>
          </p:cNvPr>
          <p:cNvSpPr txBox="1"/>
          <p:nvPr/>
        </p:nvSpPr>
        <p:spPr>
          <a:xfrm>
            <a:off x="763096" y="1677496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5BAE63-3AD8-ED27-05F0-7DBBB5376E60}"/>
              </a:ext>
            </a:extLst>
          </p:cNvPr>
          <p:cNvSpPr txBox="1"/>
          <p:nvPr/>
        </p:nvSpPr>
        <p:spPr>
          <a:xfrm>
            <a:off x="763096" y="2065623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0CBAA0-AC46-935E-06A3-A8F9C2B102B7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6E1422-E8EA-7001-60DA-5EF0E15F58D8}"/>
              </a:ext>
            </a:extLst>
          </p:cNvPr>
          <p:cNvSpPr txBox="1"/>
          <p:nvPr/>
        </p:nvSpPr>
        <p:spPr>
          <a:xfrm>
            <a:off x="1585399" y="4564483"/>
            <a:ext cx="3519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int[] arr1 = {1, 2, 3};</a:t>
            </a:r>
          </a:p>
          <a:p>
            <a:r>
              <a:rPr lang="en-US" altLang="zh-CN" dirty="0"/>
              <a:t>int[] arr2 = arr1;</a:t>
            </a:r>
          </a:p>
          <a:p>
            <a:r>
              <a:rPr lang="en-US" altLang="zh-CN" dirty="0"/>
              <a:t>arr1[0] = 3;</a:t>
            </a:r>
          </a:p>
          <a:p>
            <a:r>
              <a:rPr lang="en-US" altLang="zh-CN" dirty="0"/>
              <a:t>Arr2[0] = ?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4C6228-BE68-4015-0D28-78D4B494A84F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arr1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6FC33167-8FFE-0E49-19AC-4095853B379E}"/>
              </a:ext>
            </a:extLst>
          </p:cNvPr>
          <p:cNvCxnSpPr/>
          <p:nvPr/>
        </p:nvCxnSpPr>
        <p:spPr>
          <a:xfrm flipV="1">
            <a:off x="4210187" y="1862162"/>
            <a:ext cx="2131407" cy="109859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D04A400-7272-F1AD-0C2A-B976CB53DFB7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96F1E7-5A5F-9582-E8B1-0A5E45644BEC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59BDD0-D554-B718-7862-4A28A0635D47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5AD104-6C80-9173-540F-369CE52C1DDB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887894-208B-B8BE-C933-BA919B2D43A1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E0F34B-012B-4B76-8F28-F215C6F6ABFA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38E7DE0-DEBA-25AC-CC4E-523302AE6B93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4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345A-1ADE-FDF9-A526-3C80FA3D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4D439-2A68-7790-047C-63CE3A6D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的数据类型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3B595D-A4EF-B3EA-B379-3FD4B309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但是在</a:t>
            </a:r>
            <a:r>
              <a:rPr lang="en-US" altLang="zh-CN" dirty="0"/>
              <a:t>python</a:t>
            </a:r>
            <a:r>
              <a:rPr lang="zh-CN" altLang="en-US" dirty="0"/>
              <a:t>里面，所有的数据类型，都是对象！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950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D53D1-C731-8AB5-EFD6-41E68BEB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CF7E594-6F8B-55F6-8BDE-E91409C1878E}"/>
              </a:ext>
            </a:extLst>
          </p:cNvPr>
          <p:cNvSpPr/>
          <p:nvPr/>
        </p:nvSpPr>
        <p:spPr>
          <a:xfrm>
            <a:off x="1082698" y="2164299"/>
            <a:ext cx="2480063" cy="39338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972B6C-00E8-68BA-7EDF-80F1126D470C}"/>
              </a:ext>
            </a:extLst>
          </p:cNvPr>
          <p:cNvSpPr/>
          <p:nvPr/>
        </p:nvSpPr>
        <p:spPr>
          <a:xfrm>
            <a:off x="1299787" y="2684934"/>
            <a:ext cx="1881427" cy="21304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</a:rPr>
              <a:t>引用计数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类型指针 </a:t>
            </a:r>
            <a:r>
              <a:rPr lang="en-US" altLang="zh-CN" dirty="0">
                <a:solidFill>
                  <a:schemeClr val="bg1"/>
                </a:solidFill>
              </a:rPr>
              <a:t>-&gt; Int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实际值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…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F7AD2C-D87E-AA91-1935-7778E8E5F597}"/>
              </a:ext>
            </a:extLst>
          </p:cNvPr>
          <p:cNvSpPr txBox="1"/>
          <p:nvPr/>
        </p:nvSpPr>
        <p:spPr>
          <a:xfrm>
            <a:off x="1299787" y="2256397"/>
            <a:ext cx="934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内存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67EAE9-9687-589C-819D-A6A4EC0D036F}"/>
              </a:ext>
            </a:extLst>
          </p:cNvPr>
          <p:cNvSpPr txBox="1"/>
          <p:nvPr/>
        </p:nvSpPr>
        <p:spPr>
          <a:xfrm>
            <a:off x="2322729" y="2717827"/>
            <a:ext cx="749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对象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2DFBB6BD-0926-7E5A-BB6D-E9401399213F}"/>
              </a:ext>
            </a:extLst>
          </p:cNvPr>
          <p:cNvSpPr txBox="1">
            <a:spLocks/>
          </p:cNvSpPr>
          <p:nvPr/>
        </p:nvSpPr>
        <p:spPr>
          <a:xfrm>
            <a:off x="990600" y="4358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Python</a:t>
            </a:r>
            <a:r>
              <a:rPr lang="zh-CN" altLang="en-US" dirty="0"/>
              <a:t>的数据类型</a:t>
            </a:r>
          </a:p>
        </p:txBody>
      </p:sp>
    </p:spTree>
    <p:extLst>
      <p:ext uri="{BB962C8B-B14F-4D97-AF65-F5344CB8AC3E}">
        <p14:creationId xmlns:p14="http://schemas.microsoft.com/office/powerpoint/2010/main" val="194496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41EF-89DB-B2A3-7A5B-6C7F430B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92E24B-A123-2485-B527-14AA24615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273"/>
            <a:ext cx="10206963" cy="3305540"/>
          </a:xfrm>
        </p:spPr>
        <p:txBody>
          <a:bodyPr>
            <a:normAutofit/>
          </a:bodyPr>
          <a:lstStyle/>
          <a:p>
            <a:r>
              <a:rPr lang="zh-CN" altLang="en-US" dirty="0"/>
              <a:t>尽管如此，</a:t>
            </a:r>
            <a:r>
              <a:rPr lang="en-US" altLang="zh-CN" dirty="0"/>
              <a:t>python</a:t>
            </a:r>
            <a:r>
              <a:rPr lang="zh-CN" altLang="en-US" dirty="0"/>
              <a:t>的不同类型的数据，表现也还是和</a:t>
            </a:r>
            <a:r>
              <a:rPr lang="en-US" altLang="zh-CN" dirty="0"/>
              <a:t>java</a:t>
            </a:r>
            <a:r>
              <a:rPr lang="zh-CN" altLang="en-US" dirty="0"/>
              <a:t>类似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代码演示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74D560FA-BE9F-107D-C56E-3546AD7BF3E3}"/>
              </a:ext>
            </a:extLst>
          </p:cNvPr>
          <p:cNvSpPr txBox="1">
            <a:spLocks/>
          </p:cNvSpPr>
          <p:nvPr/>
        </p:nvSpPr>
        <p:spPr>
          <a:xfrm>
            <a:off x="990600" y="4358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Python</a:t>
            </a:r>
            <a:r>
              <a:rPr lang="zh-CN" altLang="en-US" dirty="0"/>
              <a:t>的数据类型</a:t>
            </a:r>
          </a:p>
        </p:txBody>
      </p:sp>
    </p:spTree>
    <p:extLst>
      <p:ext uri="{BB962C8B-B14F-4D97-AF65-F5344CB8AC3E}">
        <p14:creationId xmlns:p14="http://schemas.microsoft.com/office/powerpoint/2010/main" val="263612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F708-F4ED-74B7-5A42-2233809F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348F2-9FD1-91EB-3400-83137120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70" y="-263137"/>
            <a:ext cx="10515600" cy="1325563"/>
          </a:xfrm>
        </p:spPr>
        <p:txBody>
          <a:bodyPr/>
          <a:lstStyle/>
          <a:p>
            <a:r>
              <a:rPr lang="zh-CN" altLang="en-US" dirty="0"/>
              <a:t>作业（</a:t>
            </a:r>
            <a:r>
              <a:rPr lang="en-US" altLang="zh-CN" dirty="0"/>
              <a:t>1h</a:t>
            </a:r>
            <a:r>
              <a:rPr lang="zh-CN" altLang="en-US" dirty="0"/>
              <a:t>熔断）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AF69F-0F67-0BB4-583D-9EFFA7DB15C2}"/>
              </a:ext>
            </a:extLst>
          </p:cNvPr>
          <p:cNvSpPr txBox="1">
            <a:spLocks/>
          </p:cNvSpPr>
          <p:nvPr/>
        </p:nvSpPr>
        <p:spPr>
          <a:xfrm>
            <a:off x="897406" y="800914"/>
            <a:ext cx="10515600" cy="59814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任选一段你喜欢的文本（中</a:t>
            </a:r>
            <a:r>
              <a:rPr lang="en-US" altLang="zh-CN" sz="2400" dirty="0"/>
              <a:t>/</a:t>
            </a:r>
            <a:r>
              <a:rPr lang="zh-CN" altLang="en-US" sz="2400" dirty="0"/>
              <a:t>英），不需要长（不得超过</a:t>
            </a:r>
            <a:r>
              <a:rPr lang="en-US" altLang="zh-CN" sz="2400" dirty="0"/>
              <a:t>200</a:t>
            </a:r>
            <a:r>
              <a:rPr lang="zh-CN" altLang="en-US" sz="2400" dirty="0"/>
              <a:t>字</a:t>
            </a:r>
            <a:r>
              <a:rPr lang="en-US" altLang="zh-CN" sz="2400" dirty="0"/>
              <a:t>/</a:t>
            </a:r>
            <a:r>
              <a:rPr lang="zh-CN" altLang="en-US" sz="2400" dirty="0"/>
              <a:t>词），但需要</a:t>
            </a:r>
            <a:r>
              <a:rPr lang="zh-CN" altLang="en-US" sz="2400" dirty="0">
                <a:solidFill>
                  <a:srgbClr val="FF0000"/>
                </a:solidFill>
              </a:rPr>
              <a:t>至少有一个字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zh-CN" altLang="en-US" sz="2400" dirty="0">
                <a:solidFill>
                  <a:srgbClr val="FF0000"/>
                </a:solidFill>
              </a:rPr>
              <a:t>字母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zh-CN" altLang="en-US" sz="2400" dirty="0">
                <a:solidFill>
                  <a:srgbClr val="FF0000"/>
                </a:solidFill>
              </a:rPr>
              <a:t>字符出现次数</a:t>
            </a:r>
            <a:r>
              <a:rPr lang="en-US" altLang="zh-CN" sz="2400" dirty="0">
                <a:solidFill>
                  <a:srgbClr val="FF0000"/>
                </a:solidFill>
              </a:rPr>
              <a:t>&gt;=2</a:t>
            </a:r>
            <a:r>
              <a:rPr lang="zh-CN" altLang="en-US" sz="2400" dirty="0"/>
              <a:t>。使用</a:t>
            </a:r>
            <a:r>
              <a:rPr lang="en-US" altLang="zh-CN" sz="2400" dirty="0"/>
              <a:t>dictionary</a:t>
            </a:r>
            <a:r>
              <a:rPr lang="zh-CN" altLang="en-US" sz="2400" dirty="0"/>
              <a:t>进行字频统计。然后按照</a:t>
            </a:r>
            <a:r>
              <a:rPr lang="zh-CN" altLang="en-US" sz="2400" dirty="0">
                <a:solidFill>
                  <a:srgbClr val="FF0000"/>
                </a:solidFill>
              </a:rPr>
              <a:t>出现频率从高到低</a:t>
            </a:r>
            <a:r>
              <a:rPr lang="zh-CN" altLang="en-US" sz="2400" dirty="0"/>
              <a:t>排列</a:t>
            </a:r>
            <a:r>
              <a:rPr lang="en-US" altLang="zh-CN" sz="2400" dirty="0"/>
              <a:t>dictionary</a:t>
            </a:r>
            <a:r>
              <a:rPr lang="zh-CN" altLang="en-US" sz="2400" dirty="0"/>
              <a:t>中的元素。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000" dirty="0"/>
              <a:t>例如：对于</a:t>
            </a:r>
            <a:r>
              <a:rPr lang="en-GB" altLang="zh-CN" sz="2000" dirty="0"/>
              <a:t>“Hello, world!”</a:t>
            </a:r>
            <a:r>
              <a:rPr lang="zh-CN" altLang="en-US" sz="2000" dirty="0"/>
              <a:t>这段文本，排序后的</a:t>
            </a:r>
            <a:r>
              <a:rPr lang="en-US" altLang="zh-CN" sz="2000" dirty="0"/>
              <a:t>dictionary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457200" lvl="1" indent="0">
              <a:buNone/>
            </a:pPr>
            <a:endParaRPr lang="en-GB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排第一的字母</a:t>
            </a:r>
            <a:r>
              <a:rPr lang="en-US" altLang="zh-CN" sz="2000" dirty="0"/>
              <a:t>L</a:t>
            </a:r>
            <a:r>
              <a:rPr lang="zh-CN" altLang="en-US" sz="2000" dirty="0"/>
              <a:t>出现</a:t>
            </a:r>
            <a:r>
              <a:rPr lang="en-US" altLang="zh-CN" sz="2000" dirty="0"/>
              <a:t>3</a:t>
            </a:r>
            <a:r>
              <a:rPr lang="zh-CN" altLang="en-US" sz="2000" dirty="0"/>
              <a:t>次，排第二的字母</a:t>
            </a:r>
            <a:r>
              <a:rPr lang="en-US" altLang="zh-CN" sz="2000" dirty="0"/>
              <a:t>O</a:t>
            </a:r>
            <a:r>
              <a:rPr lang="zh-CN" altLang="en-US" sz="2000" dirty="0"/>
              <a:t>出现</a:t>
            </a:r>
            <a:r>
              <a:rPr lang="en-US" altLang="zh-CN" sz="2000" dirty="0"/>
              <a:t>2</a:t>
            </a:r>
            <a:r>
              <a:rPr lang="zh-CN" altLang="en-US" sz="2000" dirty="0"/>
              <a:t>次，后略。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原则上，除了定义文本的行数以外，有效代码行可以在</a:t>
            </a:r>
            <a:r>
              <a:rPr lang="en-US" altLang="zh-CN" sz="2000" dirty="0"/>
              <a:t>20</a:t>
            </a:r>
            <a:r>
              <a:rPr lang="zh-CN" altLang="en-US" sz="2000" dirty="0"/>
              <a:t>行以内。这并非一个体力劳动，只需要理解透</a:t>
            </a:r>
            <a:r>
              <a:rPr lang="en-US" altLang="zh-CN" sz="2000" dirty="0"/>
              <a:t>dictionary, tuple, list</a:t>
            </a:r>
            <a:r>
              <a:rPr lang="zh-CN" altLang="en-US" sz="2000" dirty="0"/>
              <a:t>这几个可循环序列的构成、读取、以及排序就可以做。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如果在</a:t>
            </a:r>
            <a:r>
              <a:rPr lang="en-US" altLang="zh-CN" sz="2000" dirty="0"/>
              <a:t>1h</a:t>
            </a:r>
            <a:r>
              <a:rPr lang="zh-CN" altLang="en-US" sz="2000" dirty="0"/>
              <a:t>后无法完成，请直接看上传的参考答案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提示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：你可以使用 </a:t>
            </a:r>
            <a:r>
              <a:rPr lang="en-GB" altLang="zh-CN" sz="1600" dirty="0">
                <a:solidFill>
                  <a:schemeClr val="bg1">
                    <a:lumMod val="65000"/>
                    <a:lumOff val="35000"/>
                  </a:schemeClr>
                </a:solidFill>
                <a:highlight>
                  <a:srgbClr val="C0C0C0"/>
                </a:highlight>
              </a:rPr>
              <a:t>for k</a:t>
            </a:r>
            <a:r>
              <a:rPr lang="en-US" altLang="zh-CN" sz="1600" dirty="0" err="1">
                <a:solidFill>
                  <a:schemeClr val="bg1">
                    <a:lumMod val="65000"/>
                    <a:lumOff val="35000"/>
                  </a:schemeClr>
                </a:solidFill>
                <a:highlight>
                  <a:srgbClr val="C0C0C0"/>
                </a:highlight>
              </a:rPr>
              <a:t>ey</a:t>
            </a:r>
            <a:r>
              <a:rPr lang="en-GB" altLang="zh-CN" sz="1600" dirty="0">
                <a:solidFill>
                  <a:schemeClr val="bg1">
                    <a:lumMod val="65000"/>
                    <a:lumOff val="35000"/>
                  </a:schemeClr>
                </a:solidFill>
                <a:highlight>
                  <a:srgbClr val="C0C0C0"/>
                </a:highlight>
              </a:rPr>
              <a:t>, value in </a:t>
            </a:r>
            <a:r>
              <a:rPr lang="en-GB" altLang="zh-CN" sz="1600" dirty="0" err="1">
                <a:solidFill>
                  <a:schemeClr val="bg1">
                    <a:lumMod val="65000"/>
                    <a:lumOff val="35000"/>
                  </a:schemeClr>
                </a:solidFill>
                <a:highlight>
                  <a:srgbClr val="C0C0C0"/>
                </a:highlight>
              </a:rPr>
              <a:t>d.items</a:t>
            </a:r>
            <a:r>
              <a:rPr lang="en-GB" altLang="zh-CN" sz="1600" dirty="0">
                <a:solidFill>
                  <a:schemeClr val="bg1">
                    <a:lumMod val="65000"/>
                    <a:lumOff val="35000"/>
                  </a:schemeClr>
                </a:solidFill>
                <a:highlight>
                  <a:srgbClr val="C0C0C0"/>
                </a:highlight>
              </a:rPr>
              <a:t>(): 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的语句单独得到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dictionary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中的每一个元素（</a:t>
            </a:r>
            <a:r>
              <a:rPr lang="en-US" altLang="zh-CN" sz="1600" dirty="0" err="1">
                <a:solidFill>
                  <a:schemeClr val="bg1">
                    <a:lumMod val="65000"/>
                    <a:lumOff val="35000"/>
                  </a:schemeClr>
                </a:solidFill>
              </a:rPr>
              <a:t>key,value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只是一个指代，也可以是任何名字）。你可以使用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type()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方法验证这些元素的独立性。</a:t>
            </a:r>
            <a:endParaRPr lang="en-US" altLang="zh-CN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这个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for a, b in &lt;</a:t>
            </a:r>
            <a:r>
              <a:rPr lang="en-US" altLang="zh-CN" sz="1600" dirty="0" err="1">
                <a:solidFill>
                  <a:schemeClr val="bg1">
                    <a:lumMod val="65000"/>
                    <a:lumOff val="35000"/>
                  </a:schemeClr>
                </a:solidFill>
              </a:rPr>
              <a:t>iterable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&gt;: 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的语句叫做</a:t>
            </a:r>
            <a:r>
              <a:rPr lang="en-US" altLang="zh-CN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unpacking</a:t>
            </a:r>
            <a:r>
              <a:rPr lang="zh-CN" alt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。就像把压缩包解压一样。可以用来拿出任意由两个元素构成一个单元的可遍历数据</a:t>
            </a:r>
            <a:endParaRPr lang="en-US" altLang="zh-CN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提示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sorted()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方法和</a:t>
            </a:r>
            <a:r>
              <a:rPr lang="en-US" altLang="zh-CN" sz="16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List.sort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()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都可以在这里使用，且可以传入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reverse=True/False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。记得你永远可以把鼠标悬浮在方法上看官方的使用说明。</a:t>
            </a:r>
            <a:endParaRPr lang="en-US" altLang="zh-CN" sz="16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在底层机制上，它们实现比较的方式是调用里面的元素类型自己的比较方法。所以当你对一个由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tuple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组成的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list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调用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sort()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方法时，它会按照</a:t>
            </a:r>
            <a:r>
              <a:rPr lang="en-US" altLang="zh-CN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tuple</a:t>
            </a:r>
            <a:r>
              <a:rPr lang="zh-CN" alt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原生的比大小规则进行比较。也就是先比较第一个元素，相同的话再比较第二个元素，再相同的话就第三个元素，依此类推。</a:t>
            </a:r>
            <a:endParaRPr lang="en-US" altLang="zh-CN" sz="16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6FE17B-79D6-BD80-4860-005BFA15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67" y="2021218"/>
            <a:ext cx="9376065" cy="3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1277</TotalTime>
  <Words>688</Words>
  <Application>Microsoft Office PowerPoint</Application>
  <PresentationFormat>宽屏</PresentationFormat>
  <Paragraphs>63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等线</vt:lpstr>
      <vt:lpstr>Arial</vt:lpstr>
      <vt:lpstr>Office 主题​​</vt:lpstr>
      <vt:lpstr>Python</vt:lpstr>
      <vt:lpstr>本节主要任务</vt:lpstr>
      <vt:lpstr>Dictionary map</vt:lpstr>
      <vt:lpstr>基本数据类型和“特殊”数据类型的区别</vt:lpstr>
      <vt:lpstr>PowerPoint 演示文稿</vt:lpstr>
      <vt:lpstr>Python的数据类型</vt:lpstr>
      <vt:lpstr>PowerPoint 演示文稿</vt:lpstr>
      <vt:lpstr>PowerPoint 演示文稿</vt:lpstr>
      <vt:lpstr>作业（1h熔断）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103</cp:revision>
  <dcterms:created xsi:type="dcterms:W3CDTF">2026-04-14T21:03:52Z</dcterms:created>
  <dcterms:modified xsi:type="dcterms:W3CDTF">2026-05-21T10:13:05Z</dcterms:modified>
</cp:coreProperties>
</file>