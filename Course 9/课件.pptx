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90" r:id="rId3"/>
    <p:sldId id="301" r:id="rId4"/>
    <p:sldId id="302" r:id="rId5"/>
    <p:sldId id="303" r:id="rId6"/>
    <p:sldId id="304" r:id="rId7"/>
    <p:sldId id="30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7715" autoAdjust="0"/>
  </p:normalViewPr>
  <p:slideViewPr>
    <p:cSldViewPr snapToGrid="0">
      <p:cViewPr varScale="1">
        <p:scale>
          <a:sx n="105" d="100"/>
          <a:sy n="105" d="100"/>
        </p:scale>
        <p:origin x="42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B98F1-4929-4136-A9CC-2BB66C9B3A9D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36BA4-AC12-4B47-A9B7-4DBFC532E7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4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FD92D-571D-72F0-3FF6-D3D19902B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396CD0-3FC9-24AA-E2AB-6463BF58A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C5114E-81A9-68F1-DD26-44C768733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31C920-508A-899F-1570-FF162867F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007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8B97-7880-08CC-C89D-05E14281A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ACDB21-13AD-5A0E-FC1A-61BA173E9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63097E-7D9B-EE3E-4C59-E3E3D954D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69FCAF-AEB6-DEA7-70F4-F0F83916D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003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C6A3C-AB7F-BD8B-126B-223BC68A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695E11-9857-013E-2C2D-1EFF02650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6DBC77-F657-A864-99FC-809067A8E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B9A796-ED32-AC55-9B9E-C8A6C4719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188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790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10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98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6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77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95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68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44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78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2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9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6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A9CC7-114C-49AD-8DE5-1FF5B4BC8B9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84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zh-cn/3.14/library/stdtypes.html#string-method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zh-cn/3.14/howto/regex.html" TargetMode="External"/><Relationship Id="rId2" Type="http://schemas.openxmlformats.org/officeDocument/2006/relationships/hyperlink" Target="https://docs.python.org/zh-cn/3.14/library/re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12E11-7C8B-699E-AFF6-F06255C44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DCC62B-10E0-FB1D-6444-C409AD2032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Ⅸ</a:t>
            </a:r>
            <a:r>
              <a:rPr lang="zh-CN" altLang="en-US" dirty="0"/>
              <a:t>课</a:t>
            </a:r>
          </a:p>
        </p:txBody>
      </p:sp>
    </p:spTree>
    <p:extLst>
      <p:ext uri="{BB962C8B-B14F-4D97-AF65-F5344CB8AC3E}">
        <p14:creationId xmlns:p14="http://schemas.microsoft.com/office/powerpoint/2010/main" val="197343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27CDE-C91D-4CCC-48FF-31809B56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CECAC65-8DA0-FDDC-BC64-E0400415EA91}"/>
              </a:ext>
            </a:extLst>
          </p:cNvPr>
          <p:cNvSpPr txBox="1">
            <a:spLocks/>
          </p:cNvSpPr>
          <p:nvPr/>
        </p:nvSpPr>
        <p:spPr>
          <a:xfrm>
            <a:off x="1265797" y="2338741"/>
            <a:ext cx="10515600" cy="3772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80599A4-CF26-4408-B2CE-9CC95C47B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本节内容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05DB4E-3BEA-360E-1AD7-1609D9D9D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8055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上节没讲完的</a:t>
            </a:r>
            <a:r>
              <a:rPr lang="en-US" altLang="zh-CN" sz="2400" dirty="0"/>
              <a:t>debug</a:t>
            </a:r>
          </a:p>
          <a:p>
            <a:r>
              <a:rPr lang="zh-CN" altLang="en-US" sz="2400" dirty="0"/>
              <a:t>由</a:t>
            </a:r>
            <a:r>
              <a:rPr lang="en-US" altLang="zh-CN" sz="2400" dirty="0"/>
              <a:t>debugger</a:t>
            </a:r>
            <a:r>
              <a:rPr lang="zh-CN" altLang="en-US" sz="2400" dirty="0"/>
              <a:t>信息引申：</a:t>
            </a:r>
            <a:r>
              <a:rPr lang="en-US" altLang="zh-CN" sz="2400" dirty="0"/>
              <a:t>Local</a:t>
            </a:r>
            <a:r>
              <a:rPr lang="zh-CN" altLang="en-US" sz="2400" dirty="0"/>
              <a:t>和</a:t>
            </a:r>
            <a:r>
              <a:rPr lang="en-US" altLang="zh-CN" sz="2400" dirty="0"/>
              <a:t>global</a:t>
            </a:r>
            <a:r>
              <a:rPr lang="zh-CN" altLang="en-US" sz="2400" dirty="0"/>
              <a:t>变量</a:t>
            </a:r>
            <a:endParaRPr lang="en-US" altLang="zh-CN" sz="2400" dirty="0"/>
          </a:p>
          <a:p>
            <a:r>
              <a:rPr lang="zh-CN" altLang="en-US" sz="2400" dirty="0"/>
              <a:t>字符串处理的魔法 </a:t>
            </a:r>
            <a:r>
              <a:rPr lang="en-US" altLang="zh-CN" sz="2400" dirty="0"/>
              <a:t>–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3631393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29CCF-899D-5BC6-EA8B-8ADDE8B9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47B0B0E6-96CA-3C7C-30CA-505C9AF02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74" y="69255"/>
            <a:ext cx="10515600" cy="1325563"/>
          </a:xfrm>
        </p:spPr>
        <p:txBody>
          <a:bodyPr/>
          <a:lstStyle/>
          <a:p>
            <a:r>
              <a:rPr lang="en-US" altLang="zh-CN" dirty="0"/>
              <a:t>debug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BAF15B-2399-8E2E-816A-05CAF64324D0}"/>
              </a:ext>
            </a:extLst>
          </p:cNvPr>
          <p:cNvSpPr txBox="1"/>
          <p:nvPr/>
        </p:nvSpPr>
        <p:spPr>
          <a:xfrm>
            <a:off x="674891" y="1203751"/>
            <a:ext cx="91374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定义</a:t>
            </a:r>
            <a:endParaRPr lang="en-US" altLang="zh-CN" sz="2400" b="1" dirty="0"/>
          </a:p>
          <a:p>
            <a:r>
              <a:rPr lang="zh-CN" altLang="en-US" sz="2000" dirty="0"/>
              <a:t>顾名思义，通过识别问题、解决问题来消除程序的</a:t>
            </a:r>
            <a:r>
              <a:rPr lang="en-US" altLang="zh-CN" sz="2000" dirty="0"/>
              <a:t>bug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zh-CN" altLang="en-US" sz="2000" dirty="0"/>
              <a:t>什么又是</a:t>
            </a:r>
            <a:r>
              <a:rPr lang="en-US" altLang="zh-CN" sz="2000" dirty="0"/>
              <a:t>bug</a:t>
            </a:r>
            <a:r>
              <a:rPr lang="zh-CN" altLang="en-US" sz="2000" dirty="0"/>
              <a:t>？</a:t>
            </a:r>
            <a:r>
              <a:rPr lang="en-US" altLang="zh-CN" sz="2000" dirty="0"/>
              <a:t>Bug</a:t>
            </a:r>
            <a:r>
              <a:rPr lang="zh-CN" altLang="en-US" sz="2000" dirty="0"/>
              <a:t>不一定是异常，任何执行效果和设计预期不符合的情况都可以叫</a:t>
            </a:r>
            <a:r>
              <a:rPr lang="en-US" altLang="zh-CN" sz="2000" dirty="0"/>
              <a:t>bug</a:t>
            </a:r>
            <a:r>
              <a:rPr lang="zh-CN" altLang="en-US" sz="2000" dirty="0"/>
              <a:t>。</a:t>
            </a:r>
            <a:endParaRPr lang="en-US" altLang="zh-CN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405228-551E-943C-99E7-A5671DA37D8C}"/>
              </a:ext>
            </a:extLst>
          </p:cNvPr>
          <p:cNvSpPr txBox="1"/>
          <p:nvPr/>
        </p:nvSpPr>
        <p:spPr>
          <a:xfrm>
            <a:off x="674891" y="2760147"/>
            <a:ext cx="913742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方法</a:t>
            </a:r>
            <a:endParaRPr lang="en-US" altLang="zh-CN" sz="2400" b="1" dirty="0"/>
          </a:p>
          <a:p>
            <a:r>
              <a:rPr lang="en-US" altLang="zh-CN" sz="2000" dirty="0"/>
              <a:t>1</a:t>
            </a:r>
            <a:r>
              <a:rPr lang="zh-CN" altLang="en-US" sz="2000" dirty="0"/>
              <a:t>）使用</a:t>
            </a:r>
            <a:r>
              <a:rPr lang="en-US" altLang="zh-CN" sz="2000" dirty="0"/>
              <a:t>debugger</a:t>
            </a:r>
          </a:p>
          <a:p>
            <a:r>
              <a:rPr lang="zh-CN" altLang="en-US" sz="2000" dirty="0"/>
              <a:t>许多流行程序语言都配有</a:t>
            </a:r>
            <a:r>
              <a:rPr lang="en-US" altLang="zh-CN" sz="2000" dirty="0"/>
              <a:t>debugger</a:t>
            </a:r>
            <a:r>
              <a:rPr lang="zh-CN" altLang="en-US" sz="2000" dirty="0"/>
              <a:t>。它们的一个共性是：允许在程序中对单行或多行设置断点，运行到断点时中断。允许逐步运行。显示所有变量的值信息等</a:t>
            </a:r>
            <a:endParaRPr lang="en-US" altLang="zh-CN" sz="2000" dirty="0"/>
          </a:p>
          <a:p>
            <a:r>
              <a:rPr lang="en-US" altLang="zh-CN" sz="2000" dirty="0"/>
              <a:t>2</a:t>
            </a:r>
            <a:r>
              <a:rPr lang="zh-CN" altLang="en-US" sz="2000" dirty="0"/>
              <a:t>）打印</a:t>
            </a:r>
            <a:endParaRPr lang="en-US" altLang="zh-CN" sz="2000" dirty="0"/>
          </a:p>
          <a:p>
            <a:r>
              <a:rPr lang="zh-CN" altLang="en-US" sz="2000" dirty="0"/>
              <a:t>对于一些简单的情况</a:t>
            </a:r>
            <a:r>
              <a:rPr lang="en-US" altLang="zh-CN" sz="2000" dirty="0"/>
              <a:t>/</a:t>
            </a:r>
            <a:r>
              <a:rPr lang="zh-CN" altLang="en-US" sz="2000" dirty="0"/>
              <a:t>不方便使用</a:t>
            </a:r>
            <a:r>
              <a:rPr lang="en-US" altLang="zh-CN" sz="2000" dirty="0"/>
              <a:t>debugger</a:t>
            </a:r>
            <a:r>
              <a:rPr lang="zh-CN" altLang="en-US" sz="2000" dirty="0"/>
              <a:t>的场景，在每个变量产生变化的节点直接打印出变量的信息也可以用来</a:t>
            </a:r>
            <a:r>
              <a:rPr lang="en-US" altLang="zh-CN" sz="2000" dirty="0"/>
              <a:t>debug</a:t>
            </a:r>
          </a:p>
          <a:p>
            <a:endParaRPr lang="en-US" altLang="zh-CN" sz="2000" dirty="0"/>
          </a:p>
          <a:p>
            <a:r>
              <a:rPr lang="zh-CN" altLang="en-US" sz="2000" dirty="0"/>
              <a:t>方法并不重要。重要的是能够发现问题。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26761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316C-1C13-4C09-F1C8-B7E48AB20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A5DA428A-CCA1-5661-D97A-4D7FB0548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74" y="69255"/>
            <a:ext cx="10515600" cy="1325563"/>
          </a:xfrm>
        </p:spPr>
        <p:txBody>
          <a:bodyPr/>
          <a:lstStyle/>
          <a:p>
            <a:r>
              <a:rPr lang="en-US" altLang="zh-CN" dirty="0"/>
              <a:t>debugger</a:t>
            </a:r>
            <a:r>
              <a:rPr lang="zh-CN" altLang="en-US" dirty="0"/>
              <a:t>中的</a:t>
            </a:r>
            <a:r>
              <a:rPr lang="en-US" altLang="zh-CN" dirty="0"/>
              <a:t>local</a:t>
            </a:r>
            <a:r>
              <a:rPr lang="zh-CN" altLang="en-US" dirty="0"/>
              <a:t>和</a:t>
            </a:r>
            <a:r>
              <a:rPr lang="en-US" altLang="zh-CN" dirty="0"/>
              <a:t>global</a:t>
            </a:r>
            <a:r>
              <a:rPr lang="zh-CN" altLang="en-US" dirty="0"/>
              <a:t>变量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50035D-3F52-7D9F-FD44-3B435C84309A}"/>
              </a:ext>
            </a:extLst>
          </p:cNvPr>
          <p:cNvSpPr txBox="1"/>
          <p:nvPr/>
        </p:nvSpPr>
        <p:spPr>
          <a:xfrm>
            <a:off x="674891" y="1203751"/>
            <a:ext cx="60625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定义</a:t>
            </a:r>
            <a:endParaRPr lang="en-US" altLang="zh-CN" sz="2400" b="1" dirty="0"/>
          </a:p>
          <a:p>
            <a:r>
              <a:rPr lang="zh-CN" altLang="en-US" sz="2000" dirty="0"/>
              <a:t>每个变量都有一个作用域。</a:t>
            </a:r>
            <a:r>
              <a:rPr lang="en-US" altLang="zh-CN" sz="2000" dirty="0"/>
              <a:t>global</a:t>
            </a:r>
            <a:r>
              <a:rPr lang="zh-CN" altLang="en-US" sz="2000" dirty="0"/>
              <a:t>（全局）变量在整个代码文件中都有效，</a:t>
            </a:r>
            <a:r>
              <a:rPr lang="en-US" altLang="zh-CN" sz="2000" dirty="0"/>
              <a:t>local</a:t>
            </a:r>
            <a:r>
              <a:rPr lang="zh-CN" altLang="en-US" sz="2000" dirty="0"/>
              <a:t>（局部）变量仅对于变量所在作用域有效。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Python3.14</a:t>
            </a:r>
            <a:r>
              <a:rPr lang="zh-CN" altLang="en-US" sz="2000" dirty="0"/>
              <a:t>文档规定：所有变量均为全局变量。除了以下情况：</a:t>
            </a:r>
            <a:endParaRPr lang="en-US" altLang="zh-CN" sz="2000" dirty="0"/>
          </a:p>
          <a:p>
            <a:r>
              <a:rPr lang="zh-CN" altLang="en-US" sz="2000" dirty="0"/>
              <a:t>如果在</a:t>
            </a:r>
            <a:r>
              <a:rPr lang="zh-CN" altLang="en-US" sz="2000" b="1" dirty="0">
                <a:solidFill>
                  <a:srgbClr val="FF0000"/>
                </a:solidFill>
              </a:rPr>
              <a:t>函数内部</a:t>
            </a:r>
            <a:r>
              <a:rPr lang="zh-CN" altLang="en-US" sz="2000" dirty="0"/>
              <a:t>任何位置</a:t>
            </a:r>
            <a:r>
              <a:rPr lang="zh-CN" altLang="en-US" sz="2000" b="1" dirty="0">
                <a:solidFill>
                  <a:srgbClr val="FF0000"/>
                </a:solidFill>
              </a:rPr>
              <a:t>为变量赋值</a:t>
            </a:r>
            <a:r>
              <a:rPr lang="zh-CN" altLang="en-US" sz="2000" dirty="0"/>
              <a:t>，则除非明确声明为全局变量，否则均将其视为局部变量。该局部变量仅在该函数内有效。</a:t>
            </a:r>
            <a:endParaRPr lang="en-US" altLang="zh-CN" sz="2000" dirty="0"/>
          </a:p>
          <a:p>
            <a:r>
              <a:rPr lang="en-GB" altLang="zh-CN" sz="1400" dirty="0"/>
              <a:t>https://docs.python.org/zh-cn/3.14/faq/programming.html#what-are-the-rules-for-local-and-global-variables-in-python</a:t>
            </a:r>
            <a:endParaRPr lang="en-US" altLang="zh-CN" sz="1400" dirty="0"/>
          </a:p>
          <a:p>
            <a:endParaRPr lang="en-US" altLang="zh-CN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6362C8-DE71-97FB-7B4C-66BE6E78FA8B}"/>
              </a:ext>
            </a:extLst>
          </p:cNvPr>
          <p:cNvSpPr txBox="1"/>
          <p:nvPr/>
        </p:nvSpPr>
        <p:spPr>
          <a:xfrm>
            <a:off x="674891" y="5246756"/>
            <a:ext cx="9137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代码演示</a:t>
            </a:r>
            <a:endParaRPr lang="en-US" altLang="zh-CN" sz="28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AE0A4AF-7E30-EAB8-0EEF-2539072D8EBA}"/>
              </a:ext>
            </a:extLst>
          </p:cNvPr>
          <p:cNvSpPr txBox="1"/>
          <p:nvPr/>
        </p:nvSpPr>
        <p:spPr>
          <a:xfrm>
            <a:off x="674890" y="5618901"/>
            <a:ext cx="84190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local_global_var.py</a:t>
            </a:r>
          </a:p>
          <a:p>
            <a:r>
              <a:rPr lang="zh-CN" altLang="en-US" dirty="0"/>
              <a:t>该代码能够一箭双雕演示</a:t>
            </a:r>
            <a:r>
              <a:rPr lang="en-US" altLang="zh-CN" dirty="0"/>
              <a:t>debug</a:t>
            </a:r>
            <a:r>
              <a:rPr lang="zh-CN" altLang="en-US" dirty="0"/>
              <a:t>过程以及变量范围</a:t>
            </a:r>
            <a:endParaRPr lang="en-US" altLang="zh-CN" dirty="0"/>
          </a:p>
          <a:p>
            <a:r>
              <a:rPr lang="zh-CN" altLang="en-US" dirty="0"/>
              <a:t>注：</a:t>
            </a:r>
            <a:r>
              <a:rPr lang="en-US" altLang="zh-CN" dirty="0"/>
              <a:t>debugger</a:t>
            </a:r>
            <a:r>
              <a:rPr lang="zh-CN" altLang="en-US" dirty="0"/>
              <a:t>显示的</a:t>
            </a:r>
            <a:r>
              <a:rPr lang="en-US" altLang="zh-CN" dirty="0"/>
              <a:t>local</a:t>
            </a:r>
            <a:r>
              <a:rPr lang="zh-CN" altLang="en-US" dirty="0"/>
              <a:t>和</a:t>
            </a:r>
            <a:r>
              <a:rPr lang="en-US" altLang="zh-CN" dirty="0"/>
              <a:t>global</a:t>
            </a:r>
            <a:r>
              <a:rPr lang="zh-CN" altLang="en-US" dirty="0"/>
              <a:t>是相对当前执行到的代码所在作用域而言的</a:t>
            </a:r>
            <a:endParaRPr lang="en-GB" altLang="zh-CN" dirty="0"/>
          </a:p>
          <a:p>
            <a:endParaRPr lang="en-GB" altLang="zh-CN" dirty="0"/>
          </a:p>
        </p:txBody>
      </p:sp>
      <p:pic>
        <p:nvPicPr>
          <p:cNvPr id="2" name="图片 1" descr="Difference Between Local and Global Variable in Python ...">
            <a:extLst>
              <a:ext uri="{FF2B5EF4-FFF2-40B4-BE49-F238E27FC236}">
                <a16:creationId xmlns:a16="http://schemas.microsoft.com/office/drawing/2014/main" id="{B6E840E0-13FC-1634-733F-67D0F0F46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154" b="14877"/>
          <a:stretch>
            <a:fillRect/>
          </a:stretch>
        </p:blipFill>
        <p:spPr>
          <a:xfrm>
            <a:off x="6843678" y="1215596"/>
            <a:ext cx="5213445" cy="337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3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0E4E35-0497-23B5-02F3-61BB982DE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468" y="2668246"/>
            <a:ext cx="10515600" cy="38040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课堂互动：描述邮箱地址的格式</a:t>
            </a:r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CA2066-1715-0F50-EB3D-E47346086923}"/>
              </a:ext>
            </a:extLst>
          </p:cNvPr>
          <p:cNvSpPr txBox="1"/>
          <p:nvPr/>
        </p:nvSpPr>
        <p:spPr>
          <a:xfrm>
            <a:off x="468574" y="1287271"/>
            <a:ext cx="112548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4000" dirty="0"/>
              <a:t>现有一个新需求：如何检查用户输入的字符串是否符合邮箱地址的格式？</a:t>
            </a:r>
            <a:endParaRPr lang="en-US" altLang="zh-CN" sz="4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699DD2-AAA0-268D-1B3F-341700736CDF}"/>
              </a:ext>
            </a:extLst>
          </p:cNvPr>
          <p:cNvSpPr txBox="1"/>
          <p:nvPr/>
        </p:nvSpPr>
        <p:spPr>
          <a:xfrm>
            <a:off x="724468" y="4002278"/>
            <a:ext cx="103529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str</a:t>
            </a:r>
            <a:r>
              <a:rPr lang="zh-CN" altLang="en-US" sz="2400" dirty="0"/>
              <a:t>内置方法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zh-CN" altLang="en-US" sz="2000" dirty="0"/>
              <a:t>应用场景</a:t>
            </a:r>
            <a:r>
              <a:rPr lang="en-US" altLang="zh-CN" sz="2000" dirty="0"/>
              <a:t>str</a:t>
            </a:r>
            <a:r>
              <a:rPr lang="zh-CN" altLang="en-US" sz="2000" dirty="0"/>
              <a:t>内置方法可以进行一些基本的格式检查：字符串是否以某个子字符串作为开头</a:t>
            </a:r>
            <a:r>
              <a:rPr lang="en-US" altLang="zh-CN" sz="2000" dirty="0"/>
              <a:t>/</a:t>
            </a:r>
            <a:r>
              <a:rPr lang="zh-CN" altLang="en-US" sz="2000" dirty="0"/>
              <a:t>结尾？字符串中间是否出现了某个子字符串？字符串是否完全由字母和数字构成？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2000" dirty="0"/>
              <a:t>代码：</a:t>
            </a:r>
            <a:r>
              <a:rPr lang="en-GB" altLang="zh-CN" sz="2000" dirty="0"/>
              <a:t> str_functions.py </a:t>
            </a:r>
            <a:r>
              <a:rPr lang="zh-CN" altLang="en-US" sz="2000" dirty="0"/>
              <a:t>（课上不演示）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1400" dirty="0"/>
              <a:t>所有方法可阅读文档：</a:t>
            </a:r>
            <a:r>
              <a:rPr lang="en-GB" altLang="zh-CN" sz="1400" dirty="0">
                <a:hlinkClick r:id="rId2"/>
              </a:rPr>
              <a:t>https://docs.python.org/zh-cn/3.14/library/stdtypes.html#string-methods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3741522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5ED88-0854-7CA7-BA94-CBF356FB9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63FEC-4C29-DCAD-0F99-1B5E62953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39" y="142211"/>
            <a:ext cx="10515600" cy="1325563"/>
          </a:xfrm>
        </p:spPr>
        <p:txBody>
          <a:bodyPr/>
          <a:lstStyle/>
          <a:p>
            <a:r>
              <a:rPr lang="zh-CN" altLang="en-US" dirty="0"/>
              <a:t>神奇魔法：</a:t>
            </a:r>
            <a:r>
              <a:rPr lang="en-US" altLang="zh-CN" dirty="0"/>
              <a:t>Regular Expression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AEEA3-2704-9B1A-DF29-4A3716751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25" y="1388896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简介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zh-CN" altLang="en-US" sz="2000" dirty="0"/>
              <a:t>简称</a:t>
            </a:r>
            <a:r>
              <a:rPr lang="en-US" altLang="zh-CN" sz="2000" dirty="0"/>
              <a:t>RE</a:t>
            </a:r>
            <a:r>
              <a:rPr lang="zh-CN" altLang="en-US" sz="2000" dirty="0"/>
              <a:t>，中文翻译为正则表达式。最初由数学家在试图描述人工智能神经元的时候创造，以用通用的数学表达式描述自然语言。后被广泛应用于</a:t>
            </a:r>
            <a:r>
              <a:rPr lang="en-US" altLang="zh-CN" sz="2000" dirty="0"/>
              <a:t>1</a:t>
            </a:r>
            <a:r>
              <a:rPr lang="zh-CN" altLang="en-US" sz="2000" dirty="0"/>
              <a:t>）编译器进行文本分析，以及</a:t>
            </a:r>
            <a:r>
              <a:rPr lang="en-US" altLang="zh-CN" sz="2000" dirty="0"/>
              <a:t>2</a:t>
            </a:r>
            <a:r>
              <a:rPr lang="zh-CN" altLang="en-US" sz="2000" dirty="0"/>
              <a:t>）在文本编辑中检查字符串是否满足特定格式</a:t>
            </a:r>
            <a:endParaRPr lang="en-US" altLang="zh-CN" sz="2000" dirty="0"/>
          </a:p>
          <a:p>
            <a:endParaRPr lang="en-US" altLang="zh-CN" sz="2400" dirty="0"/>
          </a:p>
          <a:p>
            <a:r>
              <a:rPr lang="zh-CN" altLang="en-US" sz="2400" dirty="0"/>
              <a:t>使用</a:t>
            </a:r>
            <a:r>
              <a:rPr lang="en-US" altLang="zh-CN" sz="2400" dirty="0"/>
              <a:t>Regular Expression——</a:t>
            </a:r>
            <a:r>
              <a:rPr lang="zh-CN" altLang="en-US" sz="2400" dirty="0"/>
              <a:t>尝鲜纯演示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zh-CN" altLang="en-US" sz="2000" dirty="0"/>
              <a:t>代码：</a:t>
            </a:r>
            <a:r>
              <a:rPr lang="en-GB" altLang="zh-CN" sz="2000" dirty="0"/>
              <a:t> re_for_email.py </a:t>
            </a:r>
          </a:p>
          <a:p>
            <a:pPr marL="457200" lvl="1" indent="0">
              <a:buNone/>
            </a:pPr>
            <a:r>
              <a:rPr lang="en-US" altLang="zh-CN" sz="1400" dirty="0"/>
              <a:t>RE</a:t>
            </a:r>
            <a:r>
              <a:rPr lang="zh-CN" altLang="en-US" sz="1400" dirty="0"/>
              <a:t>完整文档：</a:t>
            </a:r>
            <a:r>
              <a:rPr lang="en-GB" altLang="zh-CN" sz="1400" dirty="0">
                <a:hlinkClick r:id="rId2"/>
              </a:rPr>
              <a:t>https://docs.python.org/zh-cn/3.14/library/re.html</a:t>
            </a:r>
            <a:endParaRPr lang="en-GB" altLang="zh-CN" sz="1400" dirty="0"/>
          </a:p>
          <a:p>
            <a:pPr marL="457200" lvl="1" indent="0">
              <a:buNone/>
            </a:pPr>
            <a:r>
              <a:rPr lang="zh-CN" altLang="en-US" sz="1400" dirty="0"/>
              <a:t>入门指南：</a:t>
            </a:r>
            <a:r>
              <a:rPr lang="en-GB" altLang="zh-CN" sz="1400" dirty="0"/>
              <a:t> </a:t>
            </a:r>
            <a:r>
              <a:rPr lang="en-GB" altLang="zh-CN" sz="1400" dirty="0">
                <a:hlinkClick r:id="rId3"/>
              </a:rPr>
              <a:t>https://docs.python.org/zh-cn/3.14/howto/regex.html</a:t>
            </a:r>
            <a:r>
              <a:rPr lang="en-GB" altLang="zh-CN" sz="1400" dirty="0"/>
              <a:t> 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7219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821EB-9F9F-EC07-F994-55F70057B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BD5A8-D819-C07D-EE2C-F908E2B01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31" y="140695"/>
            <a:ext cx="4804012" cy="445827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深入介绍</a:t>
            </a:r>
            <a:endParaRPr lang="en-US" altLang="zh-CN" sz="2000" dirty="0"/>
          </a:p>
          <a:p>
            <a:endParaRPr lang="en-US" altLang="zh-CN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7BC4590-7154-FA1A-DABB-DE76E78B9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983948"/>
              </p:ext>
            </p:extLst>
          </p:nvPr>
        </p:nvGraphicFramePr>
        <p:xfrm>
          <a:off x="755175" y="710592"/>
          <a:ext cx="10795380" cy="4953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270">
                  <a:extLst>
                    <a:ext uri="{9D8B030D-6E8A-4147-A177-3AD203B41FA5}">
                      <a16:colId xmlns:a16="http://schemas.microsoft.com/office/drawing/2014/main" val="728011999"/>
                    </a:ext>
                  </a:extLst>
                </a:gridCol>
                <a:gridCol w="3443785">
                  <a:extLst>
                    <a:ext uri="{9D8B030D-6E8A-4147-A177-3AD203B41FA5}">
                      <a16:colId xmlns:a16="http://schemas.microsoft.com/office/drawing/2014/main" val="1822268605"/>
                    </a:ext>
                  </a:extLst>
                </a:gridCol>
                <a:gridCol w="5941325">
                  <a:extLst>
                    <a:ext uri="{9D8B030D-6E8A-4147-A177-3AD203B41FA5}">
                      <a16:colId xmlns:a16="http://schemas.microsoft.com/office/drawing/2014/main" val="1600905256"/>
                    </a:ext>
                  </a:extLst>
                </a:gridCol>
              </a:tblGrid>
              <a:tr h="69350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RE</a:t>
                      </a:r>
                      <a:r>
                        <a:rPr lang="zh-CN" altLang="en-US" sz="1400" dirty="0"/>
                        <a:t>中的四种字符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举例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018535"/>
                  </a:ext>
                </a:extLst>
              </a:tr>
              <a:tr h="13890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用来匹配的字符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除元字符和其他正则表达式外，正则表达式中的字符为字面的字符，可以直接匹配同样字符的字符串。</a:t>
                      </a:r>
                      <a:endParaRPr lang="en-US" altLang="zh-CN" sz="1400" dirty="0"/>
                    </a:p>
                    <a:p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如果需要匹配元字符，需要在前面加上转义字符</a:t>
                      </a:r>
                      <a:r>
                        <a:rPr lang="en-US" altLang="zh-CN" sz="1400" dirty="0"/>
                        <a:t>\</a:t>
                      </a:r>
                      <a:r>
                        <a:rPr lang="zh-CN" altLang="en-US" sz="1400" dirty="0"/>
                        <a:t>将其转为字面的字符。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bg1"/>
                          </a:solidFill>
                        </a:rPr>
                        <a:t>‘test’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直接匹配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</a:rPr>
                        <a:t>’testing’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中的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</a:rPr>
                        <a:t>’test’</a:t>
                      </a:r>
                    </a:p>
                    <a:p>
                      <a:r>
                        <a:rPr lang="en-US" altLang="zh-CN" sz="1400" dirty="0"/>
                        <a:t>r‘\.’</a:t>
                      </a:r>
                      <a:r>
                        <a:rPr lang="zh-CN" altLang="en-US" sz="1400" dirty="0"/>
                        <a:t>匹配</a:t>
                      </a:r>
                      <a:r>
                        <a:rPr lang="en-US" altLang="zh-CN" sz="1400" dirty="0"/>
                        <a:t>’</a:t>
                      </a:r>
                      <a:r>
                        <a:rPr lang="zh-CN" altLang="en-US" sz="1400" dirty="0"/>
                        <a:t>好吧</a:t>
                      </a:r>
                      <a:r>
                        <a:rPr lang="en-US" altLang="zh-CN" sz="1400" dirty="0"/>
                        <a:t>..’</a:t>
                      </a:r>
                      <a:r>
                        <a:rPr lang="zh-CN" altLang="en-US" sz="1400" dirty="0"/>
                        <a:t>中的</a:t>
                      </a:r>
                      <a:r>
                        <a:rPr lang="en-US" altLang="zh-CN" sz="1400" dirty="0"/>
                        <a:t>’..’</a:t>
                      </a:r>
                    </a:p>
                    <a:p>
                      <a:r>
                        <a:rPr lang="en-US" altLang="zh-CN" sz="1400" dirty="0"/>
                        <a:t>[</a:t>
                      </a:r>
                      <a:r>
                        <a:rPr lang="en-US" altLang="zh-CN" sz="1400" dirty="0" err="1"/>
                        <a:t>abc</a:t>
                      </a:r>
                      <a:r>
                        <a:rPr lang="en-US" altLang="zh-CN" sz="1400" dirty="0"/>
                        <a:t>]</a:t>
                      </a:r>
                      <a:r>
                        <a:rPr lang="zh-CN" altLang="en-US" sz="1400" dirty="0"/>
                        <a:t>匹配</a:t>
                      </a:r>
                      <a:r>
                        <a:rPr lang="en-US" altLang="zh-CN" sz="1400" dirty="0" err="1"/>
                        <a:t>abc</a:t>
                      </a:r>
                      <a:r>
                        <a:rPr lang="zh-CN" altLang="en-US" sz="1400" dirty="0"/>
                        <a:t>中任意一个元素</a:t>
                      </a:r>
                      <a:endParaRPr lang="en-US" altLang="zh-CN" sz="1400" dirty="0"/>
                    </a:p>
                    <a:p>
                      <a:r>
                        <a:rPr lang="en-US" altLang="zh-CN" sz="1400" dirty="0"/>
                        <a:t>[a-zA-Z0-9]</a:t>
                      </a:r>
                      <a:r>
                        <a:rPr lang="zh-CN" altLang="en-US" sz="1400" dirty="0"/>
                        <a:t>匹配所有的大小写字母和数字，等同于</a:t>
                      </a:r>
                      <a:r>
                        <a:rPr lang="en-US" altLang="zh-CN" sz="1400" dirty="0"/>
                        <a:t>\w</a:t>
                      </a:r>
                    </a:p>
                    <a:p>
                      <a:r>
                        <a:rPr lang="en-US" altLang="zh-CN" sz="1400" dirty="0"/>
                        <a:t>[0-9]</a:t>
                      </a:r>
                      <a:r>
                        <a:rPr lang="zh-CN" altLang="en-US" sz="1400" dirty="0"/>
                        <a:t>匹配所有数字，等同于</a:t>
                      </a:r>
                      <a:r>
                        <a:rPr lang="en-US" altLang="zh-CN" sz="1400" dirty="0"/>
                        <a:t>\d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063383"/>
                  </a:ext>
                </a:extLst>
              </a:tr>
              <a:tr h="956894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用于设定边界，或是寻找某个字符前面</a:t>
                      </a:r>
                      <a:r>
                        <a:rPr lang="en-US" altLang="zh-CN" sz="1400" dirty="0"/>
                        <a:t>/</a:t>
                      </a:r>
                      <a:r>
                        <a:rPr lang="zh-CN" altLang="en-US" sz="1400" dirty="0"/>
                        <a:t>后面的字符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^</a:t>
                      </a:r>
                      <a:r>
                        <a:rPr lang="zh-CN" altLang="en-US" sz="1400" dirty="0"/>
                        <a:t>表示匹配字符串的开头</a:t>
                      </a:r>
                      <a:endParaRPr lang="en-US" altLang="zh-CN" sz="1400" dirty="0"/>
                    </a:p>
                    <a:p>
                      <a:r>
                        <a:rPr lang="en-US" altLang="zh-CN" sz="1400" dirty="0"/>
                        <a:t>$</a:t>
                      </a:r>
                      <a:r>
                        <a:rPr lang="zh-CN" altLang="en-US" sz="1400" dirty="0"/>
                        <a:t>表示匹配字符串的结尾</a:t>
                      </a:r>
                      <a:endParaRPr lang="en-US" altLang="zh-CN" sz="1400" dirty="0"/>
                    </a:p>
                    <a:p>
                      <a:r>
                        <a:rPr lang="en-US" altLang="zh-CN" sz="1400" dirty="0"/>
                        <a:t>(?=…)</a:t>
                      </a:r>
                      <a:r>
                        <a:rPr lang="zh-CN" altLang="en-US" sz="1400" dirty="0"/>
                        <a:t>表示匹配指定字符前面的字符</a:t>
                      </a:r>
                      <a:endParaRPr lang="en-US" altLang="zh-CN" sz="1400" dirty="0"/>
                    </a:p>
                    <a:p>
                      <a:r>
                        <a:rPr lang="en-US" altLang="zh-CN" sz="1400" dirty="0"/>
                        <a:t>(?!…)</a:t>
                      </a:r>
                      <a:r>
                        <a:rPr lang="zh-CN" altLang="en-US" sz="1400" dirty="0"/>
                        <a:t>表示匹配非指定字符前面的字符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956590"/>
                  </a:ext>
                </a:extLst>
              </a:tr>
              <a:tr h="956894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量词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用于规定匹配字符串的次数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{m}</a:t>
                      </a:r>
                      <a:r>
                        <a:rPr lang="zh-CN" altLang="en-US" sz="1400" dirty="0"/>
                        <a:t>：匹配指定字符</a:t>
                      </a:r>
                      <a:r>
                        <a:rPr lang="en-US" altLang="zh-CN" sz="1400" dirty="0"/>
                        <a:t>m</a:t>
                      </a:r>
                      <a:r>
                        <a:rPr lang="zh-CN" altLang="en-US" sz="1400" dirty="0"/>
                        <a:t>次。例如</a:t>
                      </a:r>
                      <a:r>
                        <a:rPr lang="en-US" altLang="zh-CN" sz="1400" dirty="0"/>
                        <a:t>‘a{m}’</a:t>
                      </a:r>
                      <a:r>
                        <a:rPr lang="zh-CN" altLang="en-US" sz="1400" dirty="0"/>
                        <a:t>会匹配</a:t>
                      </a:r>
                      <a:r>
                        <a:rPr lang="en-US" altLang="zh-CN" sz="1400" dirty="0"/>
                        <a:t>m</a:t>
                      </a:r>
                      <a:r>
                        <a:rPr lang="zh-CN" altLang="en-US" sz="1400" dirty="0"/>
                        <a:t>次</a:t>
                      </a:r>
                      <a:r>
                        <a:rPr lang="en-US" altLang="zh-CN" sz="1400" dirty="0"/>
                        <a:t>a</a:t>
                      </a:r>
                    </a:p>
                    <a:p>
                      <a:r>
                        <a:rPr lang="en-US" altLang="zh-CN" sz="1400" dirty="0"/>
                        <a:t>{</a:t>
                      </a:r>
                      <a:r>
                        <a:rPr lang="en-US" altLang="zh-CN" sz="1400" dirty="0" err="1"/>
                        <a:t>m,n</a:t>
                      </a:r>
                      <a:r>
                        <a:rPr lang="en-US" altLang="zh-CN" sz="1400" dirty="0"/>
                        <a:t>}</a:t>
                      </a:r>
                      <a:r>
                        <a:rPr lang="zh-CN" altLang="en-US" sz="1400" dirty="0"/>
                        <a:t>：匹配指定字符</a:t>
                      </a:r>
                      <a:r>
                        <a:rPr lang="en-US" altLang="zh-CN" sz="1400" dirty="0"/>
                        <a:t>m-n</a:t>
                      </a:r>
                      <a:r>
                        <a:rPr lang="zh-CN" altLang="en-US" sz="1400" dirty="0"/>
                        <a:t>次，尽量取大</a:t>
                      </a:r>
                      <a:endParaRPr lang="en-US" altLang="zh-CN" sz="1400" dirty="0"/>
                    </a:p>
                    <a:p>
                      <a:r>
                        <a:rPr lang="en-US" altLang="zh-CN" sz="1400" dirty="0"/>
                        <a:t>{</a:t>
                      </a:r>
                      <a:r>
                        <a:rPr lang="en-US" altLang="zh-CN" sz="1400" dirty="0" err="1"/>
                        <a:t>m,n</a:t>
                      </a:r>
                      <a:r>
                        <a:rPr lang="en-US" altLang="zh-CN" sz="1400" dirty="0"/>
                        <a:t>}?</a:t>
                      </a:r>
                      <a:r>
                        <a:rPr lang="zh-CN" altLang="en-US" sz="1400" dirty="0"/>
                        <a:t>：匹配指定字符</a:t>
                      </a:r>
                      <a:r>
                        <a:rPr lang="en-US" altLang="zh-CN" sz="1400" dirty="0"/>
                        <a:t>m-n</a:t>
                      </a:r>
                      <a:r>
                        <a:rPr lang="zh-CN" altLang="en-US" sz="1400" dirty="0"/>
                        <a:t>次，尽量取少</a:t>
                      </a:r>
                      <a:endParaRPr lang="en-US" altLang="zh-CN" sz="1400" dirty="0"/>
                    </a:p>
                    <a:p>
                      <a:r>
                        <a:rPr lang="en-US" altLang="zh-CN" sz="1400" dirty="0"/>
                        <a:t>+ == {1,}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653033"/>
                  </a:ext>
                </a:extLst>
              </a:tr>
              <a:tr h="956894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组和反向引用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将搜索到的内容进行分组便于调取，以及反过来引用已经搜索到的字符串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() </a:t>
                      </a:r>
                      <a:r>
                        <a:rPr lang="zh-CN" altLang="en-US" sz="1400" dirty="0"/>
                        <a:t>使用括号包裹正则表达式内被分组内容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使用</a:t>
                      </a:r>
                      <a:r>
                        <a:rPr lang="en-US" altLang="zh-CN" sz="1400" dirty="0"/>
                        <a:t>\&lt;</a:t>
                      </a:r>
                      <a:r>
                        <a:rPr lang="zh-CN" altLang="en-US" sz="1400" dirty="0"/>
                        <a:t>数字</a:t>
                      </a:r>
                      <a:r>
                        <a:rPr lang="en-US" altLang="zh-CN" sz="1400" dirty="0"/>
                        <a:t>&gt; </a:t>
                      </a:r>
                      <a:r>
                        <a:rPr lang="zh-CN" altLang="en-US" sz="1400" dirty="0"/>
                        <a:t>调用已搜索到的内容。</a:t>
                      </a:r>
                      <a:r>
                        <a:rPr lang="en-US" altLang="zh-CN" sz="1400" dirty="0"/>
                        <a:t>&lt;</a:t>
                      </a:r>
                      <a:r>
                        <a:rPr lang="zh-CN" altLang="en-US" sz="1400" dirty="0"/>
                        <a:t>数字</a:t>
                      </a:r>
                      <a:r>
                        <a:rPr lang="en-US" altLang="zh-CN" sz="1400" dirty="0"/>
                        <a:t>&gt;</a:t>
                      </a:r>
                      <a:r>
                        <a:rPr lang="zh-CN" altLang="en-US" sz="1400" dirty="0"/>
                        <a:t>的索引和分组索引一致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也可以使用</a:t>
                      </a:r>
                      <a:r>
                        <a:rPr lang="zh-CN" altLang="zh-CN" sz="1400" dirty="0"/>
                        <a:t>(?P&lt;name&gt;)</a:t>
                      </a:r>
                      <a:r>
                        <a:rPr lang="zh-CN" altLang="en-US" sz="1400" dirty="0"/>
                        <a:t>在捕获时对组进行命名，使用</a:t>
                      </a:r>
                      <a:r>
                        <a:rPr lang="zh-CN" altLang="zh-CN" sz="1400" dirty="0"/>
                        <a:t>(?P=name)</a:t>
                      </a:r>
                      <a:r>
                        <a:rPr lang="zh-CN" altLang="en-US" sz="1400" dirty="0"/>
                        <a:t>在反向引用时调用已命名组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43942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35E82A3-5BB4-5A1D-F51C-7E7520BCE41E}"/>
              </a:ext>
            </a:extLst>
          </p:cNvPr>
          <p:cNvSpPr txBox="1"/>
          <p:nvPr/>
        </p:nvSpPr>
        <p:spPr>
          <a:xfrm>
            <a:off x="5436357" y="278745"/>
            <a:ext cx="3375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元字符：</a:t>
            </a:r>
            <a:r>
              <a:rPr lang="zh-CN" altLang="zh-CN" sz="1400" dirty="0"/>
              <a:t> . ^ $ * + ? { } [ ] \ | ( )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869609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2444</TotalTime>
  <Words>858</Words>
  <Application>Microsoft Office PowerPoint</Application>
  <PresentationFormat>宽屏</PresentationFormat>
  <Paragraphs>78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等线</vt:lpstr>
      <vt:lpstr>Arial</vt:lpstr>
      <vt:lpstr>Office 主题​​</vt:lpstr>
      <vt:lpstr>Python</vt:lpstr>
      <vt:lpstr>本节内容</vt:lpstr>
      <vt:lpstr>debug</vt:lpstr>
      <vt:lpstr>debugger中的local和global变量</vt:lpstr>
      <vt:lpstr>PowerPoint 演示文稿</vt:lpstr>
      <vt:lpstr>神奇魔法：Regular Expression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Kexin Wang</dc:creator>
  <cp:lastModifiedBy>Kexin Wang</cp:lastModifiedBy>
  <cp:revision>512</cp:revision>
  <dcterms:created xsi:type="dcterms:W3CDTF">2026-04-14T21:03:52Z</dcterms:created>
  <dcterms:modified xsi:type="dcterms:W3CDTF">2026-06-25T14:33:59Z</dcterms:modified>
</cp:coreProperties>
</file>