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7715" autoAdjust="0"/>
  </p:normalViewPr>
  <p:slideViewPr>
    <p:cSldViewPr snapToGrid="0">
      <p:cViewPr varScale="1">
        <p:scale>
          <a:sx n="97" d="100"/>
          <a:sy n="97" d="100"/>
        </p:scale>
        <p:origin x="4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98F1-4929-4136-A9CC-2BB66C9B3A9D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36BA4-AC12-4B47-A9B7-4DBFC532E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399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8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5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68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9CC7-114C-49AD-8DE5-1FF5B4BC8B9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84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iaoxuefeng.com/books/python/oop/extend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12E11-7C8B-699E-AFF6-F06255C44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CC62B-10E0-FB1D-6444-C409AD203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第三课</a:t>
            </a:r>
          </a:p>
        </p:txBody>
      </p:sp>
    </p:spTree>
    <p:extLst>
      <p:ext uri="{BB962C8B-B14F-4D97-AF65-F5344CB8AC3E}">
        <p14:creationId xmlns:p14="http://schemas.microsoft.com/office/powerpoint/2010/main" val="19734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37FA9-E991-4C7A-A6AF-69300F41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14170C-730F-1C95-B8B9-4E1E25CB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再厘清一下类和对象的概念。通过游戏来解释</a:t>
            </a:r>
            <a:endParaRPr lang="en-US" altLang="zh-CN" dirty="0"/>
          </a:p>
          <a:p>
            <a:r>
              <a:rPr lang="zh-CN" altLang="en-US" dirty="0"/>
              <a:t>介绍</a:t>
            </a:r>
            <a:r>
              <a:rPr lang="en-US" altLang="zh-CN" dirty="0"/>
              <a:t>python</a:t>
            </a:r>
            <a:r>
              <a:rPr lang="zh-CN" altLang="en-US" dirty="0"/>
              <a:t>模块化编程的思路，区分 </a:t>
            </a:r>
            <a:r>
              <a:rPr lang="zh-CN" altLang="en-US" u="sng" dirty="0"/>
              <a:t>对象</a:t>
            </a:r>
            <a:r>
              <a:rPr lang="en-US" altLang="zh-CN" u="sng" dirty="0"/>
              <a:t>.</a:t>
            </a:r>
            <a:r>
              <a:rPr lang="zh-CN" altLang="en-US" u="sng" dirty="0"/>
              <a:t>函数</a:t>
            </a:r>
            <a:r>
              <a:rPr lang="en-US" altLang="zh-CN" u="sng" dirty="0"/>
              <a:t>()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zh-CN" altLang="en-US" u="sng" dirty="0"/>
              <a:t>模块</a:t>
            </a:r>
            <a:r>
              <a:rPr lang="en-US" altLang="zh-CN" u="sng" dirty="0"/>
              <a:t>.</a:t>
            </a:r>
            <a:r>
              <a:rPr lang="zh-CN" altLang="en-US" u="sng" dirty="0"/>
              <a:t>函数</a:t>
            </a:r>
            <a:r>
              <a:rPr lang="en-US" altLang="zh-CN" u="sng" dirty="0"/>
              <a:t>()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934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E4B7-1C0A-DB6C-DA25-22367B1D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9875C-26BD-23E6-7DB1-35CD72DB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96" y="107375"/>
            <a:ext cx="10515600" cy="1325563"/>
          </a:xfrm>
        </p:spPr>
        <p:txBody>
          <a:bodyPr/>
          <a:lstStyle/>
          <a:p>
            <a:r>
              <a:rPr lang="zh-CN" altLang="en-US" dirty="0"/>
              <a:t>上节作业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F7BFCA-46A8-FC34-0654-2A4FDABE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36" y="1432938"/>
            <a:ext cx="6388428" cy="2609984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274D57C-9611-E59B-B5CF-DEE26CEE9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239" y="231834"/>
            <a:ext cx="4687928" cy="25376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/>
              <a:t>隐藏逻辑：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需要把每个对象的初始个人粉丝数加入公司总粉丝数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152B548-146A-599F-DC61-EDB9B1CBF378}"/>
              </a:ext>
            </a:extLst>
          </p:cNvPr>
          <p:cNvCxnSpPr>
            <a:cxnSpLocks/>
          </p:cNvCxnSpPr>
          <p:nvPr/>
        </p:nvCxnSpPr>
        <p:spPr>
          <a:xfrm flipV="1">
            <a:off x="4240607" y="1732128"/>
            <a:ext cx="2559092" cy="21157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025408B2-5B66-8766-4C9A-6293BFFBA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919" y="1158111"/>
            <a:ext cx="4654789" cy="1447874"/>
          </a:xfrm>
          <a:prstGeom prst="rect">
            <a:avLst/>
          </a:prstGeom>
        </p:spPr>
      </p:pic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580B74D-EA90-6DB9-FA3F-14F36AB9B402}"/>
              </a:ext>
            </a:extLst>
          </p:cNvPr>
          <p:cNvCxnSpPr/>
          <p:nvPr/>
        </p:nvCxnSpPr>
        <p:spPr>
          <a:xfrm>
            <a:off x="6846239" y="1232867"/>
            <a:ext cx="46540" cy="5283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3D9BF7EB-5CD3-C909-B6E0-669E31E22183}"/>
              </a:ext>
            </a:extLst>
          </p:cNvPr>
          <p:cNvSpPr/>
          <p:nvPr/>
        </p:nvSpPr>
        <p:spPr>
          <a:xfrm>
            <a:off x="70988" y="1109231"/>
            <a:ext cx="411173" cy="38048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88BBE11-E9D5-F1AA-D634-D8DD24CA9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54" y="4717608"/>
            <a:ext cx="6143727" cy="1098051"/>
          </a:xfrm>
          <a:prstGeom prst="rect">
            <a:avLst/>
          </a:prstGeom>
        </p:spPr>
      </p:pic>
      <p:sp>
        <p:nvSpPr>
          <p:cNvPr id="28" name="椭圆 27">
            <a:extLst>
              <a:ext uri="{FF2B5EF4-FFF2-40B4-BE49-F238E27FC236}">
                <a16:creationId xmlns:a16="http://schemas.microsoft.com/office/drawing/2014/main" id="{7AFFC562-93CA-EC84-419D-57CE1F60949E}"/>
              </a:ext>
            </a:extLst>
          </p:cNvPr>
          <p:cNvSpPr/>
          <p:nvPr/>
        </p:nvSpPr>
        <p:spPr>
          <a:xfrm>
            <a:off x="70988" y="4343384"/>
            <a:ext cx="411173" cy="38048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9B71AEFB-1E6A-95B6-5650-05560C017DB6}"/>
              </a:ext>
            </a:extLst>
          </p:cNvPr>
          <p:cNvSpPr txBox="1">
            <a:spLocks/>
          </p:cNvSpPr>
          <p:nvPr/>
        </p:nvSpPr>
        <p:spPr>
          <a:xfrm>
            <a:off x="6846238" y="3031615"/>
            <a:ext cx="5040961" cy="13900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/>
              <a:t>是的。事实上，由于</a:t>
            </a:r>
            <a:r>
              <a:rPr lang="en-US" altLang="zh-CN" sz="1600" dirty="0" err="1"/>
              <a:t>IdolAgency</a:t>
            </a:r>
            <a:r>
              <a:rPr lang="zh-CN" altLang="en-US" sz="1600" dirty="0"/>
              <a:t>类定义有类函数</a:t>
            </a:r>
            <a:r>
              <a:rPr lang="en-US" altLang="zh-CN" sz="1600" dirty="0"/>
              <a:t>def </a:t>
            </a:r>
            <a:r>
              <a:rPr lang="en-US" altLang="zh-CN" sz="1600" dirty="0" err="1"/>
              <a:t>company_event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cls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new_fans</a:t>
            </a:r>
            <a:r>
              <a:rPr lang="en-US" altLang="zh-CN" sz="1600" dirty="0"/>
              <a:t>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cls.total_fans</a:t>
            </a:r>
            <a:r>
              <a:rPr lang="en-US" altLang="zh-CN" sz="1600" dirty="0"/>
              <a:t> += </a:t>
            </a:r>
            <a:r>
              <a:rPr lang="en-US" altLang="zh-CN" sz="1600" dirty="0" err="1"/>
              <a:t>new_fans</a:t>
            </a:r>
            <a:endParaRPr lang="en-US" altLang="zh-CN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/>
              <a:t>你也可以通过</a:t>
            </a:r>
            <a:r>
              <a:rPr lang="en-US" altLang="zh-CN" sz="1600" dirty="0"/>
              <a:t>self</a:t>
            </a:r>
            <a:r>
              <a:rPr lang="zh-CN" altLang="en-US" sz="1600" dirty="0"/>
              <a:t>或者直接用类名调用该函数来实现该动作，即：</a:t>
            </a:r>
            <a:endParaRPr lang="en-US" altLang="zh-CN" sz="1600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D152E8C-148F-1149-085C-908820FD7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9846" y="4522822"/>
            <a:ext cx="5181166" cy="636887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7C27954-CBF8-A92E-5FB3-7FDCD04ECDAB}"/>
              </a:ext>
            </a:extLst>
          </p:cNvPr>
          <p:cNvCxnSpPr>
            <a:cxnSpLocks/>
          </p:cNvCxnSpPr>
          <p:nvPr/>
        </p:nvCxnSpPr>
        <p:spPr>
          <a:xfrm flipV="1">
            <a:off x="5480263" y="4096867"/>
            <a:ext cx="1412516" cy="13281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81B484E-6A3A-7D8F-6B21-8632790F127A}"/>
              </a:ext>
            </a:extLst>
          </p:cNvPr>
          <p:cNvSpPr txBox="1">
            <a:spLocks/>
          </p:cNvSpPr>
          <p:nvPr/>
        </p:nvSpPr>
        <p:spPr>
          <a:xfrm>
            <a:off x="6846238" y="5260865"/>
            <a:ext cx="5040961" cy="16815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/>
              <a:t>是的。用</a:t>
            </a:r>
            <a:r>
              <a:rPr lang="en-US" altLang="zh-CN" sz="1600" dirty="0" err="1"/>
              <a:t>IdolAgency.total_fans</a:t>
            </a:r>
            <a:r>
              <a:rPr lang="zh-CN" altLang="en-US" sz="1600" dirty="0"/>
              <a:t>才能触及类属性，不能是</a:t>
            </a:r>
            <a:r>
              <a:rPr lang="en-US" altLang="zh-CN" sz="1600" dirty="0" err="1"/>
              <a:t>self.total_fans</a:t>
            </a:r>
            <a:endParaRPr lang="en-US" altLang="zh-CN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/>
              <a:t>需要注意在你的注释里的“</a:t>
            </a:r>
            <a:r>
              <a:rPr lang="en-US" altLang="zh-CN" sz="1600" dirty="0" err="1"/>
              <a:t>Alice.total_fans</a:t>
            </a:r>
            <a:r>
              <a:rPr lang="zh-CN" altLang="en-US" sz="1600" dirty="0"/>
              <a:t>”是错误的概念。在我们构建类的属性和函数时，对象</a:t>
            </a:r>
            <a:r>
              <a:rPr lang="en-US" altLang="zh-CN" sz="1600" dirty="0"/>
              <a:t>Alice</a:t>
            </a:r>
            <a:r>
              <a:rPr lang="zh-CN" altLang="en-US" sz="1600" dirty="0"/>
              <a:t>是不存在的，我们用</a:t>
            </a:r>
            <a:r>
              <a:rPr lang="en-US" altLang="zh-CN" sz="1600" dirty="0"/>
              <a:t>self</a:t>
            </a:r>
            <a:r>
              <a:rPr lang="zh-CN" altLang="en-US" sz="1600" dirty="0"/>
              <a:t>来指代单个的对象。</a:t>
            </a:r>
            <a:endParaRPr lang="en-US" altLang="zh-CN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/>
              <a:t>“抽象”是很重要的编程思想。总是试着考虑广泛的情况而非具体的个例。</a:t>
            </a:r>
            <a:endParaRPr lang="en-US" altLang="zh-CN" sz="16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5891AF3-1965-96E0-5099-5BD65787C029}"/>
              </a:ext>
            </a:extLst>
          </p:cNvPr>
          <p:cNvSpPr/>
          <p:nvPr/>
        </p:nvSpPr>
        <p:spPr>
          <a:xfrm>
            <a:off x="6405096" y="2949269"/>
            <a:ext cx="411173" cy="3804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8C4658B-2B7B-C93C-BF10-C7C9F6C67985}"/>
              </a:ext>
            </a:extLst>
          </p:cNvPr>
          <p:cNvSpPr/>
          <p:nvPr/>
        </p:nvSpPr>
        <p:spPr>
          <a:xfrm>
            <a:off x="6377102" y="443878"/>
            <a:ext cx="411173" cy="3804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1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41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1248A-8CBE-32F0-8414-62C267C8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CE8CF-7359-AA67-342B-0210E99E4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96" y="107375"/>
            <a:ext cx="10515600" cy="1325563"/>
          </a:xfrm>
        </p:spPr>
        <p:txBody>
          <a:bodyPr/>
          <a:lstStyle/>
          <a:p>
            <a:r>
              <a:rPr lang="zh-CN" altLang="en-US" dirty="0"/>
              <a:t>上节作业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0C413A52-EC92-2AD1-7578-DA176BC28B07}"/>
              </a:ext>
            </a:extLst>
          </p:cNvPr>
          <p:cNvSpPr/>
          <p:nvPr/>
        </p:nvSpPr>
        <p:spPr>
          <a:xfrm>
            <a:off x="70988" y="1109231"/>
            <a:ext cx="411173" cy="38048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22B044-BBBD-2FD8-3C51-5FE49EA94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703"/>
          <a:stretch>
            <a:fillRect/>
          </a:stretch>
        </p:blipFill>
        <p:spPr>
          <a:xfrm>
            <a:off x="215205" y="1500656"/>
            <a:ext cx="6511701" cy="2825895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2F2BB1E-6A25-A404-0BC7-A15CE0A3D07A}"/>
              </a:ext>
            </a:extLst>
          </p:cNvPr>
          <p:cNvCxnSpPr/>
          <p:nvPr/>
        </p:nvCxnSpPr>
        <p:spPr>
          <a:xfrm>
            <a:off x="4823613" y="3154373"/>
            <a:ext cx="164469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F6630DB-C0BD-3EBC-CCDE-02B7A7AB811F}"/>
              </a:ext>
            </a:extLst>
          </p:cNvPr>
          <p:cNvSpPr txBox="1"/>
          <p:nvPr/>
        </p:nvSpPr>
        <p:spPr>
          <a:xfrm>
            <a:off x="7303688" y="3957219"/>
            <a:ext cx="2070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/>
              <a:t>错误？粗心？</a:t>
            </a: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E8F0575E-41F1-8287-0AEA-0AAF747FB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96" y="4591734"/>
            <a:ext cx="10515600" cy="2098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小结：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构建了类的结构之后，我们可以通过声明 </a:t>
            </a:r>
            <a:r>
              <a:rPr lang="en-US" altLang="zh-CN" sz="2000" dirty="0"/>
              <a:t>x = X() </a:t>
            </a:r>
            <a:r>
              <a:rPr lang="zh-CN" altLang="en-US" sz="2000" dirty="0"/>
              <a:t>来获得具有类的结构的对象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你已经通过作业注意到，类的函数中总是会隐式地声明</a:t>
            </a:r>
            <a:r>
              <a:rPr lang="en-US" altLang="zh-CN" sz="2000" dirty="0" err="1"/>
              <a:t>cls</a:t>
            </a:r>
            <a:r>
              <a:rPr lang="zh-CN" altLang="en-US" sz="2000" dirty="0"/>
              <a:t>或者</a:t>
            </a:r>
            <a:r>
              <a:rPr lang="en-US" altLang="zh-CN" sz="2000" dirty="0"/>
              <a:t>self</a:t>
            </a:r>
            <a:r>
              <a:rPr lang="zh-CN" altLang="en-US" sz="2000" dirty="0"/>
              <a:t>，用来指代类或单个的对象。我们本节会进一步解释这一点。</a:t>
            </a:r>
          </a:p>
        </p:txBody>
      </p:sp>
    </p:spTree>
    <p:extLst>
      <p:ext uri="{BB962C8B-B14F-4D97-AF65-F5344CB8AC3E}">
        <p14:creationId xmlns:p14="http://schemas.microsoft.com/office/powerpoint/2010/main" val="4039247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B31C2-FFCC-E81F-6FA6-D59DA660E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D5ECA-0844-C537-4081-DEBD5A70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14CA15-B307-E4AD-E021-FD734EB49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119"/>
            <a:ext cx="10515600" cy="10261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问：为什么类里的函数总需要写一个</a:t>
            </a:r>
            <a:r>
              <a:rPr lang="en-US" altLang="zh-CN" dirty="0"/>
              <a:t>self</a:t>
            </a:r>
            <a:r>
              <a:rPr lang="zh-CN" altLang="en-US" dirty="0"/>
              <a:t>或者</a:t>
            </a:r>
            <a:r>
              <a:rPr lang="en-US" altLang="zh-CN" dirty="0" err="1"/>
              <a:t>cls</a:t>
            </a:r>
            <a:r>
              <a:rPr lang="zh-CN" altLang="en-US" dirty="0"/>
              <a:t>作为参数，否则就会报错？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7B8F84-49CE-D86D-F0E0-131F58C327E0}"/>
              </a:ext>
            </a:extLst>
          </p:cNvPr>
          <p:cNvSpPr txBox="1">
            <a:spLocks/>
          </p:cNvSpPr>
          <p:nvPr/>
        </p:nvSpPr>
        <p:spPr>
          <a:xfrm>
            <a:off x="1170958" y="2585318"/>
            <a:ext cx="10182842" cy="3137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答：因为</a:t>
            </a:r>
            <a:r>
              <a:rPr lang="en-US" altLang="zh-CN" sz="2400" dirty="0"/>
              <a:t>python</a:t>
            </a:r>
            <a:r>
              <a:rPr lang="zh-CN" altLang="en-US" sz="2400" dirty="0"/>
              <a:t>的函数其实并不知道自己属于哪个对象，当我们写对象</a:t>
            </a:r>
            <a:r>
              <a:rPr lang="en-US" altLang="zh-CN" sz="2400" dirty="0"/>
              <a:t>.</a:t>
            </a:r>
            <a:r>
              <a:rPr lang="zh-CN" altLang="en-US" sz="2400" dirty="0"/>
              <a:t>函数</a:t>
            </a:r>
            <a:r>
              <a:rPr lang="en-US" altLang="zh-CN" sz="2400" dirty="0"/>
              <a:t>()</a:t>
            </a:r>
            <a:r>
              <a:rPr lang="zh-CN" altLang="en-US" sz="2400" dirty="0"/>
              <a:t>时，</a:t>
            </a:r>
            <a:r>
              <a:rPr lang="en-US" altLang="zh-CN" sz="2400" dirty="0"/>
              <a:t>python</a:t>
            </a:r>
            <a:r>
              <a:rPr lang="zh-CN" altLang="en-US" sz="2400" dirty="0"/>
              <a:t>实际做的是：类</a:t>
            </a:r>
            <a:r>
              <a:rPr lang="en-US" altLang="zh-CN" sz="2400" dirty="0"/>
              <a:t>.</a:t>
            </a:r>
            <a:r>
              <a:rPr lang="zh-CN" altLang="en-US" sz="2400" dirty="0"/>
              <a:t>函数</a:t>
            </a:r>
            <a:r>
              <a:rPr lang="en-US" altLang="zh-CN" sz="2400" dirty="0"/>
              <a:t>(</a:t>
            </a:r>
            <a:r>
              <a:rPr lang="zh-CN" altLang="en-US" sz="2400" dirty="0"/>
              <a:t>对象</a:t>
            </a:r>
            <a:r>
              <a:rPr lang="en-US" altLang="zh-CN" sz="2400" dirty="0"/>
              <a:t>)</a:t>
            </a:r>
            <a:r>
              <a:rPr lang="zh-CN" altLang="en-US" sz="2400" dirty="0"/>
              <a:t>，将对象传入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F916EE-322D-8AB8-0C6E-6473BF40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58" y="3479948"/>
            <a:ext cx="3714941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41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FB43-9544-C5A1-D742-C3A82519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332FC-0281-4C53-AE06-96CBA0D2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类与对象的使用场景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A85B36-2070-A56A-47A9-252F05705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119"/>
            <a:ext cx="10515600" cy="10261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猜拳游戏 </a:t>
            </a:r>
            <a:r>
              <a:rPr lang="en-US" altLang="zh-CN" dirty="0"/>
              <a:t>– </a:t>
            </a:r>
            <a:r>
              <a:rPr lang="zh-CN" altLang="en-US" dirty="0"/>
              <a:t>代码演示</a:t>
            </a:r>
          </a:p>
        </p:txBody>
      </p:sp>
    </p:spTree>
    <p:extLst>
      <p:ext uri="{BB962C8B-B14F-4D97-AF65-F5344CB8AC3E}">
        <p14:creationId xmlns:p14="http://schemas.microsoft.com/office/powerpoint/2010/main" val="1086412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B3B2-7C67-51F9-2EB3-4A510132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405EC-5056-9CFA-1811-1939898B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与模块函数的区别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A35CAB-BBD0-BC19-130C-D60E913E1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119"/>
            <a:ext cx="10515600" cy="38746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Python</a:t>
            </a:r>
            <a:r>
              <a:rPr lang="zh-CN" altLang="en-US" dirty="0"/>
              <a:t>的函数分为：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）内置函数：例如</a:t>
            </a:r>
            <a:r>
              <a:rPr lang="en-US" altLang="zh-CN" dirty="0"/>
              <a:t>print()</a:t>
            </a:r>
            <a:r>
              <a:rPr lang="zh-CN" altLang="en-US" dirty="0"/>
              <a:t>， </a:t>
            </a:r>
            <a:r>
              <a:rPr lang="en-US" altLang="zh-CN" dirty="0"/>
              <a:t>type()</a:t>
            </a:r>
            <a:r>
              <a:rPr lang="zh-CN" altLang="en-US" dirty="0"/>
              <a:t>。无需</a:t>
            </a:r>
            <a:r>
              <a:rPr lang="en-US" altLang="zh-CN" dirty="0"/>
              <a:t>import</a:t>
            </a:r>
            <a:r>
              <a:rPr lang="zh-CN" altLang="en-US" dirty="0"/>
              <a:t>即可使用。本质这些函数被存储在</a:t>
            </a:r>
            <a:r>
              <a:rPr lang="en-US" altLang="zh-CN" dirty="0"/>
              <a:t>python</a:t>
            </a:r>
            <a:r>
              <a:rPr lang="zh-CN" altLang="en-US" dirty="0"/>
              <a:t>运行时自动加载的模块里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）普通函数：用户自己使用</a:t>
            </a:r>
            <a:r>
              <a:rPr lang="en-US" altLang="zh-CN" dirty="0"/>
              <a:t>def </a:t>
            </a:r>
            <a:r>
              <a:rPr lang="zh-CN" altLang="en-US" dirty="0"/>
              <a:t>函数名</a:t>
            </a:r>
            <a:r>
              <a:rPr lang="en-US" altLang="zh-CN" dirty="0"/>
              <a:t>()</a:t>
            </a:r>
            <a:r>
              <a:rPr lang="zh-CN" altLang="en-US" dirty="0"/>
              <a:t>：的方式定义，需要</a:t>
            </a:r>
            <a:r>
              <a:rPr lang="en-US" altLang="zh-CN" dirty="0"/>
              <a:t>import</a:t>
            </a:r>
            <a:r>
              <a:rPr lang="zh-CN" altLang="en-US" dirty="0"/>
              <a:t>函数所属模块才可使用。例如</a:t>
            </a:r>
            <a:r>
              <a:rPr lang="en-US" altLang="zh-CN" dirty="0" err="1"/>
              <a:t>random.randint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）类中函数：在类中定义的函数，通过类名</a:t>
            </a:r>
            <a:r>
              <a:rPr lang="en-US" altLang="zh-CN" dirty="0"/>
              <a:t>.</a:t>
            </a:r>
            <a:r>
              <a:rPr lang="zh-CN" altLang="en-US" dirty="0"/>
              <a:t>函数</a:t>
            </a:r>
            <a:r>
              <a:rPr lang="en-US" altLang="zh-CN" dirty="0"/>
              <a:t>()</a:t>
            </a:r>
            <a:r>
              <a:rPr lang="zh-CN" altLang="en-US" dirty="0"/>
              <a:t>或者对象名</a:t>
            </a:r>
            <a:r>
              <a:rPr lang="en-US" altLang="zh-CN" dirty="0"/>
              <a:t>.</a:t>
            </a:r>
            <a:r>
              <a:rPr lang="zh-CN" altLang="en-US" dirty="0"/>
              <a:t>函数</a:t>
            </a:r>
            <a:r>
              <a:rPr lang="en-US" altLang="zh-CN" dirty="0"/>
              <a:t>()</a:t>
            </a:r>
            <a:r>
              <a:rPr lang="zh-CN" altLang="en-US" dirty="0"/>
              <a:t>的方法使用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代码演示 </a:t>
            </a:r>
            <a:r>
              <a:rPr lang="en-US" altLang="zh-CN" b="1" dirty="0"/>
              <a:t>+ </a:t>
            </a:r>
            <a:r>
              <a:rPr lang="zh-CN" altLang="en-US" b="1" dirty="0"/>
              <a:t>源代码浏览</a:t>
            </a:r>
          </a:p>
        </p:txBody>
      </p:sp>
    </p:spTree>
    <p:extLst>
      <p:ext uri="{BB962C8B-B14F-4D97-AF65-F5344CB8AC3E}">
        <p14:creationId xmlns:p14="http://schemas.microsoft.com/office/powerpoint/2010/main" val="303068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F708-F4ED-74B7-5A42-2233809F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348F2-9FD1-91EB-3400-83137120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作业（</a:t>
            </a:r>
            <a:r>
              <a:rPr lang="en-US" altLang="zh-CN"/>
              <a:t>45min-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6E0D94-8D27-E5C4-5742-C7204D3FF2D3}"/>
              </a:ext>
            </a:extLst>
          </p:cNvPr>
          <p:cNvSpPr txBox="1"/>
          <p:nvPr/>
        </p:nvSpPr>
        <p:spPr>
          <a:xfrm>
            <a:off x="1152868" y="1745747"/>
            <a:ext cx="89976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阅读（重点）：</a:t>
            </a:r>
            <a:endParaRPr lang="en-US" altLang="zh-CN" dirty="0"/>
          </a:p>
          <a:p>
            <a:r>
              <a:rPr lang="zh-CN" altLang="en-US" dirty="0">
                <a:hlinkClick r:id="rId2"/>
              </a:rPr>
              <a:t>https://liaoxuefeng.com/books/python/oop/extend/index.html</a:t>
            </a:r>
            <a:endParaRPr lang="en-US" altLang="zh-CN" dirty="0"/>
          </a:p>
          <a:p>
            <a:r>
              <a:rPr lang="zh-CN" altLang="en-US" dirty="0"/>
              <a:t>理解类的继承机制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在上周作业的基础上，新增一个</a:t>
            </a:r>
            <a:r>
              <a:rPr lang="en-US" altLang="zh-CN" dirty="0"/>
              <a:t>class Company</a:t>
            </a:r>
            <a:r>
              <a:rPr lang="zh-CN" altLang="en-US" dirty="0"/>
              <a:t>，规定其有一个类方法</a:t>
            </a:r>
            <a:r>
              <a:rPr lang="en-US" altLang="zh-CN" dirty="0"/>
              <a:t>state(): print(f”</a:t>
            </a:r>
            <a:r>
              <a:rPr lang="zh-CN" altLang="en-US" dirty="0"/>
              <a:t>一切解释权归本公司所有</a:t>
            </a:r>
            <a:r>
              <a:rPr lang="en-US" altLang="zh-CN" dirty="0"/>
              <a:t>”)</a:t>
            </a:r>
          </a:p>
          <a:p>
            <a:r>
              <a:rPr lang="zh-CN" altLang="en-US" dirty="0"/>
              <a:t>让</a:t>
            </a:r>
            <a:r>
              <a:rPr lang="en-US" altLang="zh-CN" dirty="0"/>
              <a:t>class </a:t>
            </a:r>
            <a:r>
              <a:rPr lang="en-US" altLang="zh-CN" dirty="0" err="1"/>
              <a:t>IdolAgency</a:t>
            </a:r>
            <a:r>
              <a:rPr lang="zh-CN" altLang="en-US" dirty="0"/>
              <a:t>继承</a:t>
            </a:r>
            <a:r>
              <a:rPr lang="en-US" altLang="zh-CN" dirty="0"/>
              <a:t>Company</a:t>
            </a:r>
            <a:r>
              <a:rPr lang="zh-CN" altLang="en-US" dirty="0"/>
              <a:t>类，然后新建一个对象，调用</a:t>
            </a:r>
            <a:r>
              <a:rPr lang="en-US" altLang="zh-CN" dirty="0"/>
              <a:t>state()</a:t>
            </a:r>
            <a:r>
              <a:rPr lang="zh-CN" altLang="en-US" dirty="0"/>
              <a:t>方法。</a:t>
            </a:r>
          </a:p>
        </p:txBody>
      </p:sp>
    </p:spTree>
    <p:extLst>
      <p:ext uri="{BB962C8B-B14F-4D97-AF65-F5344CB8AC3E}">
        <p14:creationId xmlns:p14="http://schemas.microsoft.com/office/powerpoint/2010/main" val="170176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681</TotalTime>
  <Words>543</Words>
  <Application>Microsoft Office PowerPoint</Application>
  <PresentationFormat>宽屏</PresentationFormat>
  <Paragraphs>44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等线</vt:lpstr>
      <vt:lpstr>Arial</vt:lpstr>
      <vt:lpstr>Office 主题​​</vt:lpstr>
      <vt:lpstr>Python</vt:lpstr>
      <vt:lpstr>本节主要任务</vt:lpstr>
      <vt:lpstr>上节作业</vt:lpstr>
      <vt:lpstr>上节作业</vt:lpstr>
      <vt:lpstr>类的函数</vt:lpstr>
      <vt:lpstr>类与对象的使用场景</vt:lpstr>
      <vt:lpstr>与模块函数的区别</vt:lpstr>
      <vt:lpstr>作业（45min-）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Kexin Wang</dc:creator>
  <cp:lastModifiedBy>Kexin Wang</cp:lastModifiedBy>
  <cp:revision>27</cp:revision>
  <dcterms:created xsi:type="dcterms:W3CDTF">2026-04-14T21:03:52Z</dcterms:created>
  <dcterms:modified xsi:type="dcterms:W3CDTF">2026-05-08T15:30:41Z</dcterms:modified>
</cp:coreProperties>
</file>