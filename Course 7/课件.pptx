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90" r:id="rId3"/>
    <p:sldId id="291" r:id="rId4"/>
    <p:sldId id="293" r:id="rId5"/>
    <p:sldId id="292" r:id="rId6"/>
    <p:sldId id="295" r:id="rId7"/>
    <p:sldId id="297" r:id="rId8"/>
    <p:sldId id="298" r:id="rId9"/>
    <p:sldId id="300" r:id="rId10"/>
    <p:sldId id="301" r:id="rId11"/>
    <p:sldId id="299" r:id="rId12"/>
    <p:sldId id="296" r:id="rId13"/>
    <p:sldId id="29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7715" autoAdjust="0"/>
  </p:normalViewPr>
  <p:slideViewPr>
    <p:cSldViewPr snapToGrid="0">
      <p:cViewPr varScale="1">
        <p:scale>
          <a:sx n="81" d="100"/>
          <a:sy n="81" d="100"/>
        </p:scale>
        <p:origin x="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D92D-571D-72F0-3FF6-D3D19902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396CD0-3FC9-24AA-E2AB-6463BF58A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5114E-81A9-68F1-DD26-44C76873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1C920-508A-899F-1570-FF162867F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00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422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68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8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5AC1-9341-1F70-6A93-7E396745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96EDA1-75BD-1B71-C7FD-4F8553BCE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77C850-F3B8-6E9D-B8F8-0B58478C6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40C727-4940-6D17-12FC-7812A9B59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20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1830-BEEF-D9BA-93C5-7ABC6770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814E70-891C-74EE-39D6-0580E79B5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0D63A9-36A1-2B61-CAC8-7983191CA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062068-09B2-104F-D4A5-0D3A5D69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3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1D6B-DAD6-82E1-01CB-1F884D69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AE7A6B-6ACE-5257-529A-E090499F3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C62571-D942-3E18-163D-A093FE92A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77884-AA84-D267-7184-995AEFD6A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23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3737-FFAE-6E6A-BCB9-F93B473C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6FD0AA-2215-9E95-12A8-14E1A081D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99BBB3-B788-F59D-A5A2-6594EDF53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5E8DE-F831-7447-BDA3-E0F00D542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313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3714-520A-1DC2-6E6F-E8B789DA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1D9B5E-5019-317A-5D19-65433C5EC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9CC0B6-8025-D084-7802-C1984858F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DA49DF-349B-4376-0104-DA957D07B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83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0D5D-2C15-9AFD-8C5A-2672E1C8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7BB519-99D9-F1A4-9A56-61BEF1C6D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A807A8-CBC2-7D30-E2CA-1AF40A41B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7E0570-B17B-E88E-1747-27D24AEA6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030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EE9F-964F-E1C6-8B3D-16F4FAE8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F90897-90B8-DC94-E111-FB19C89B4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338A3-D6DC-B38F-CE7D-EF09592D5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CF6011-599D-C77E-FE0E-A1077A08D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58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第七课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7CDE-C91D-4CCC-48FF-31809B5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ECAC65-8DA0-FDDC-BC64-E0400415EA91}"/>
              </a:ext>
            </a:extLst>
          </p:cNvPr>
          <p:cNvSpPr txBox="1">
            <a:spLocks/>
          </p:cNvSpPr>
          <p:nvPr/>
        </p:nvSpPr>
        <p:spPr>
          <a:xfrm>
            <a:off x="1265797" y="2338741"/>
            <a:ext cx="10515600" cy="3772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0599A4-CF26-4408-B2CE-9CC95C47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5DB4E-3BEA-360E-1AD7-1609D9D9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055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Hash</a:t>
            </a:r>
            <a:r>
              <a:rPr lang="zh-CN" altLang="en-US" sz="2400" dirty="0"/>
              <a:t>以及</a:t>
            </a:r>
            <a:r>
              <a:rPr lang="en-US" altLang="zh-CN" sz="2400" dirty="0"/>
              <a:t>dictionary</a:t>
            </a:r>
            <a:r>
              <a:rPr lang="zh-CN" altLang="en-US" sz="2400" dirty="0"/>
              <a:t>的工作原理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313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821C5-2F51-3EC3-30CF-4AF21525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D5097C-6A39-9DAD-7EA4-7F3AC66CEBED}"/>
              </a:ext>
            </a:extLst>
          </p:cNvPr>
          <p:cNvSpPr txBox="1"/>
          <p:nvPr/>
        </p:nvSpPr>
        <p:spPr>
          <a:xfrm>
            <a:off x="993341" y="1240044"/>
            <a:ext cx="9137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lang="zh-CN" altLang="en-US" sz="2000" dirty="0"/>
              <a:t>使用算法，将任意长度输入转化为</a:t>
            </a:r>
            <a:r>
              <a:rPr lang="zh-CN" altLang="en-US" sz="2000" dirty="0">
                <a:solidFill>
                  <a:srgbClr val="FF0000"/>
                </a:solidFill>
              </a:rPr>
              <a:t>固定长度</a:t>
            </a:r>
            <a:r>
              <a:rPr lang="zh-CN" altLang="en-US" sz="2000" dirty="0"/>
              <a:t>的一串字符，通常由字母和数字组成。</a:t>
            </a:r>
            <a:endParaRPr lang="en-US" altLang="zh-CN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C0F2EE-97EE-5AAE-F33B-D6665EB298D5}"/>
              </a:ext>
            </a:extLst>
          </p:cNvPr>
          <p:cNvSpPr txBox="1"/>
          <p:nvPr/>
        </p:nvSpPr>
        <p:spPr>
          <a:xfrm>
            <a:off x="993341" y="4107275"/>
            <a:ext cx="9137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特点</a:t>
            </a:r>
            <a:endParaRPr lang="en-US" altLang="zh-CN" sz="2400" b="1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、确定性：同样的输入永远得到同样的输出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、等长性：同样的算法，输出的字符串长度永远相同（部分算法会输出不等长字符串）</a:t>
            </a:r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、单向性：从输出反向计算出输入所需的时间比正向要长许多许多倍。对于加密用的</a:t>
            </a:r>
            <a:r>
              <a:rPr lang="en-US" altLang="zh-CN" sz="2000" dirty="0"/>
              <a:t>hash</a:t>
            </a:r>
            <a:r>
              <a:rPr lang="zh-CN" altLang="en-US" sz="2000" dirty="0"/>
              <a:t>算法（如</a:t>
            </a:r>
            <a:r>
              <a:rPr lang="en-US" altLang="zh-CN" sz="2000" dirty="0"/>
              <a:t>SHA-256</a:t>
            </a:r>
            <a:r>
              <a:rPr lang="zh-CN" altLang="en-US" sz="2000" dirty="0"/>
              <a:t>），当前的计算机算力几乎是不可能反向计算的（例如可能需要几百年）。</a:t>
            </a:r>
            <a:endParaRPr lang="en-US" altLang="zh-CN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DE98008-6939-664B-4202-41FB042BD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04" y="2953124"/>
            <a:ext cx="1911448" cy="82554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25A4026-5CC5-9017-B242-943C46529C41}"/>
              </a:ext>
            </a:extLst>
          </p:cNvPr>
          <p:cNvSpPr txBox="1"/>
          <p:nvPr/>
        </p:nvSpPr>
        <p:spPr>
          <a:xfrm>
            <a:off x="993341" y="2491459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示意</a:t>
            </a:r>
            <a:endParaRPr lang="zh-CN" altLang="en-US" sz="24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EDDABD1-5292-EC8A-62ED-9DBE64CED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840" y="2953124"/>
            <a:ext cx="1778091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7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D152B-05CD-D0B8-1390-5A511C4CD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355"/>
            <a:ext cx="10515600" cy="1325563"/>
          </a:xfrm>
        </p:spPr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699515-F334-4D94-09D9-1E2A76FC2102}"/>
              </a:ext>
            </a:extLst>
          </p:cNvPr>
          <p:cNvSpPr txBox="1"/>
          <p:nvPr/>
        </p:nvSpPr>
        <p:spPr>
          <a:xfrm>
            <a:off x="973605" y="792697"/>
            <a:ext cx="913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算法简介</a:t>
            </a:r>
            <a:endParaRPr lang="en-US" altLang="zh-CN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6C07B4-DD91-5331-CA15-41ECE5050527}"/>
              </a:ext>
            </a:extLst>
          </p:cNvPr>
          <p:cNvSpPr txBox="1"/>
          <p:nvPr/>
        </p:nvSpPr>
        <p:spPr>
          <a:xfrm>
            <a:off x="1047612" y="1726258"/>
            <a:ext cx="9859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、将输入拆为</a:t>
            </a:r>
            <a:r>
              <a:rPr lang="en-US" altLang="zh-CN" sz="2000" dirty="0"/>
              <a:t>bit</a:t>
            </a:r>
            <a:r>
              <a:rPr lang="zh-CN" altLang="en-US" sz="2000" dirty="0"/>
              <a:t>层面等长的</a:t>
            </a:r>
            <a:r>
              <a:rPr lang="en-US" altLang="zh-CN" sz="2000" dirty="0"/>
              <a:t>block</a:t>
            </a:r>
            <a:r>
              <a:rPr lang="zh-CN" altLang="en-US" sz="2000" dirty="0"/>
              <a:t>，假定此处长度规定为</a:t>
            </a:r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A8653D-8C6E-541B-B338-281DC9514291}"/>
              </a:ext>
            </a:extLst>
          </p:cNvPr>
          <p:cNvSpPr txBox="1"/>
          <p:nvPr/>
        </p:nvSpPr>
        <p:spPr>
          <a:xfrm>
            <a:off x="1047613" y="1290255"/>
            <a:ext cx="6094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以对密码“</a:t>
            </a:r>
            <a:r>
              <a:rPr lang="en-US" altLang="zh-CN" sz="2000" dirty="0"/>
              <a:t>hello_1</a:t>
            </a:r>
            <a:r>
              <a:rPr lang="zh-CN" altLang="en-US" sz="2000" dirty="0"/>
              <a:t>”进行</a:t>
            </a:r>
            <a:r>
              <a:rPr lang="en-US" altLang="zh-CN" sz="2000" dirty="0"/>
              <a:t>hash</a:t>
            </a:r>
            <a:r>
              <a:rPr lang="zh-CN" altLang="en-US" sz="2000" dirty="0"/>
              <a:t>算法为例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85CC81-0DC5-518C-7216-5FD88CA67762}"/>
              </a:ext>
            </a:extLst>
          </p:cNvPr>
          <p:cNvSpPr txBox="1"/>
          <p:nvPr/>
        </p:nvSpPr>
        <p:spPr>
          <a:xfrm>
            <a:off x="1455475" y="2082748"/>
            <a:ext cx="93133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“hello</a:t>
            </a:r>
            <a:r>
              <a:rPr lang="en-US" altLang="zh-CN" dirty="0"/>
              <a:t>_1</a:t>
            </a:r>
            <a:r>
              <a:rPr lang="zh-CN" altLang="zh-CN" dirty="0"/>
              <a:t>” → bytes: [104, 101, 108, 108, 111</a:t>
            </a:r>
            <a:r>
              <a:rPr lang="en-US" altLang="zh-CN" dirty="0"/>
              <a:t>, 95, 49</a:t>
            </a:r>
            <a:r>
              <a:rPr lang="zh-CN" altLang="zh-CN" dirty="0"/>
              <a:t>]</a:t>
            </a:r>
            <a:r>
              <a:rPr lang="en-US" altLang="zh-CN" dirty="0"/>
              <a:t> (ascii </a:t>
            </a:r>
            <a:r>
              <a:rPr lang="zh-CN" altLang="en-US" dirty="0"/>
              <a:t>码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		bits: </a:t>
            </a:r>
            <a:r>
              <a:rPr lang="zh-CN" altLang="zh-CN" dirty="0"/>
              <a:t>01101000 01100101 01101100 01101100 01101111</a:t>
            </a:r>
            <a:r>
              <a:rPr lang="en-US" altLang="zh-CN" dirty="0"/>
              <a:t> 01011111 00110001</a:t>
            </a:r>
          </a:p>
          <a:p>
            <a:endParaRPr lang="en-US" altLang="zh-CN" dirty="0"/>
          </a:p>
          <a:p>
            <a:r>
              <a:rPr lang="en-US" altLang="zh-CN" dirty="0"/>
              <a:t>		 blocks:</a:t>
            </a:r>
            <a:r>
              <a:rPr lang="zh-CN" altLang="en-US" dirty="0"/>
              <a:t> </a:t>
            </a:r>
            <a:r>
              <a:rPr lang="zh-CN" altLang="zh-CN" dirty="0"/>
              <a:t>0110</a:t>
            </a:r>
            <a:r>
              <a:rPr lang="en-US" altLang="zh-CN" dirty="0"/>
              <a:t>  </a:t>
            </a:r>
            <a:r>
              <a:rPr lang="zh-CN" altLang="zh-CN" dirty="0"/>
              <a:t>1000</a:t>
            </a:r>
            <a:r>
              <a:rPr lang="en-US" altLang="zh-CN" dirty="0"/>
              <a:t>  </a:t>
            </a:r>
            <a:r>
              <a:rPr lang="zh-CN" altLang="zh-CN" dirty="0"/>
              <a:t>0110</a:t>
            </a:r>
            <a:r>
              <a:rPr lang="en-US" altLang="zh-CN" dirty="0"/>
              <a:t>  </a:t>
            </a:r>
            <a:r>
              <a:rPr lang="zh-CN" altLang="zh-CN" dirty="0"/>
              <a:t>0101</a:t>
            </a:r>
            <a:r>
              <a:rPr lang="en-US" altLang="zh-CN" dirty="0"/>
              <a:t>  </a:t>
            </a:r>
            <a:r>
              <a:rPr lang="zh-CN" altLang="zh-CN" dirty="0"/>
              <a:t>0110</a:t>
            </a:r>
            <a:r>
              <a:rPr lang="en-US" altLang="zh-CN" dirty="0"/>
              <a:t>  1100  …</a:t>
            </a:r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D8A2399-9F27-9A16-F0EC-F6E1E61C1FB9}"/>
              </a:ext>
            </a:extLst>
          </p:cNvPr>
          <p:cNvCxnSpPr/>
          <p:nvPr/>
        </p:nvCxnSpPr>
        <p:spPr>
          <a:xfrm>
            <a:off x="3006336" y="2942196"/>
            <a:ext cx="8815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718F6E3-1151-82D4-3833-8F4727E33AC4}"/>
              </a:ext>
            </a:extLst>
          </p:cNvPr>
          <p:cNvCxnSpPr/>
          <p:nvPr/>
        </p:nvCxnSpPr>
        <p:spPr>
          <a:xfrm>
            <a:off x="3348414" y="2940552"/>
            <a:ext cx="59206" cy="34865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751C2CD-CF5B-E1AB-DB0C-5A04C9B9D48F}"/>
              </a:ext>
            </a:extLst>
          </p:cNvPr>
          <p:cNvCxnSpPr>
            <a:cxnSpLocks/>
          </p:cNvCxnSpPr>
          <p:nvPr/>
        </p:nvCxnSpPr>
        <p:spPr>
          <a:xfrm>
            <a:off x="3486561" y="2940552"/>
            <a:ext cx="578901" cy="27629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400AE52-F740-5934-0094-003ED0A74149}"/>
              </a:ext>
            </a:extLst>
          </p:cNvPr>
          <p:cNvCxnSpPr>
            <a:cxnSpLocks/>
          </p:cNvCxnSpPr>
          <p:nvPr/>
        </p:nvCxnSpPr>
        <p:spPr>
          <a:xfrm>
            <a:off x="3802324" y="2442236"/>
            <a:ext cx="40786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AB412D2-710C-F37B-BA87-2F5D34BE82E0}"/>
              </a:ext>
            </a:extLst>
          </p:cNvPr>
          <p:cNvCxnSpPr>
            <a:cxnSpLocks/>
          </p:cNvCxnSpPr>
          <p:nvPr/>
        </p:nvCxnSpPr>
        <p:spPr>
          <a:xfrm flipH="1">
            <a:off x="3486561" y="2442236"/>
            <a:ext cx="447333" cy="27629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350AAE1-540E-B39B-B179-C1504196B1B9}"/>
              </a:ext>
            </a:extLst>
          </p:cNvPr>
          <p:cNvSpPr txBox="1"/>
          <p:nvPr/>
        </p:nvSpPr>
        <p:spPr>
          <a:xfrm>
            <a:off x="1047612" y="3693205"/>
            <a:ext cx="11144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、从第一个</a:t>
            </a:r>
            <a:r>
              <a:rPr lang="en-US" altLang="zh-CN" sz="2000" dirty="0"/>
              <a:t>block</a:t>
            </a:r>
            <a:r>
              <a:rPr lang="zh-CN" altLang="en-US" sz="2000" dirty="0"/>
              <a:t>开始进行一串位加减</a:t>
            </a:r>
            <a:r>
              <a:rPr lang="en-US" altLang="zh-CN" sz="2000" dirty="0"/>
              <a:t>/</a:t>
            </a:r>
            <a:r>
              <a:rPr lang="zh-CN" altLang="en-US" sz="2000" dirty="0"/>
              <a:t>与或运算处理，并将输出的结果用于下一个</a:t>
            </a:r>
            <a:r>
              <a:rPr lang="en-US" altLang="zh-CN" sz="2000" dirty="0"/>
              <a:t>block</a:t>
            </a:r>
            <a:r>
              <a:rPr lang="zh-CN" altLang="en-US" sz="2000" dirty="0"/>
              <a:t>的运算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B6EE462-1BEB-7DE6-C9D6-06FE3946694D}"/>
              </a:ext>
            </a:extLst>
          </p:cNvPr>
          <p:cNvSpPr txBox="1"/>
          <p:nvPr/>
        </p:nvSpPr>
        <p:spPr>
          <a:xfrm>
            <a:off x="1815643" y="4093696"/>
            <a:ext cx="119069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472C4"/>
                </a:solidFill>
              </a:rPr>
              <a:t>初始基数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73F7D4-317A-BF67-7DB6-E082ED7ED746}"/>
              </a:ext>
            </a:extLst>
          </p:cNvPr>
          <p:cNvSpPr txBox="1"/>
          <p:nvPr/>
        </p:nvSpPr>
        <p:spPr>
          <a:xfrm>
            <a:off x="2060689" y="4463028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101</a:t>
            </a:r>
            <a:r>
              <a:rPr lang="zh-CN" altLang="zh-CN" dirty="0"/>
              <a:t>0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41C746A-17FD-F8FD-7E12-D326F4B2688F}"/>
              </a:ext>
            </a:extLst>
          </p:cNvPr>
          <p:cNvSpPr txBox="1"/>
          <p:nvPr/>
        </p:nvSpPr>
        <p:spPr>
          <a:xfrm>
            <a:off x="4532529" y="4093696"/>
            <a:ext cx="119069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4472C4"/>
                </a:solidFill>
              </a:rPr>
              <a:t>blocks</a:t>
            </a:r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E46564B-8923-205B-97A5-470EC53E5B25}"/>
              </a:ext>
            </a:extLst>
          </p:cNvPr>
          <p:cNvSpPr txBox="1"/>
          <p:nvPr/>
        </p:nvSpPr>
        <p:spPr>
          <a:xfrm>
            <a:off x="4757840" y="4463028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0110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7A4B0A-4B69-9C82-9B5C-F46EE228CAA8}"/>
              </a:ext>
            </a:extLst>
          </p:cNvPr>
          <p:cNvSpPr txBox="1"/>
          <p:nvPr/>
        </p:nvSpPr>
        <p:spPr>
          <a:xfrm>
            <a:off x="3345124" y="4486713"/>
            <a:ext cx="113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2979801-7BF5-32C3-48BF-08830F8959FA}"/>
              </a:ext>
            </a:extLst>
          </p:cNvPr>
          <p:cNvCxnSpPr/>
          <p:nvPr/>
        </p:nvCxnSpPr>
        <p:spPr>
          <a:xfrm>
            <a:off x="5977313" y="4671379"/>
            <a:ext cx="7787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C075AC8-7B46-F766-E638-AA73013F208F}"/>
              </a:ext>
            </a:extLst>
          </p:cNvPr>
          <p:cNvSpPr txBox="1"/>
          <p:nvPr/>
        </p:nvSpPr>
        <p:spPr>
          <a:xfrm>
            <a:off x="7033972" y="4463028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0010</a:t>
            </a:r>
            <a:endParaRPr lang="zh-CN" altLang="en-US" dirty="0"/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6F105905-05B0-DC9E-0DA2-619F5F2BBC86}"/>
              </a:ext>
            </a:extLst>
          </p:cNvPr>
          <p:cNvCxnSpPr>
            <a:cxnSpLocks/>
            <a:stCxn id="40" idx="3"/>
            <a:endCxn id="44" idx="0"/>
          </p:cNvCxnSpPr>
          <p:nvPr/>
        </p:nvCxnSpPr>
        <p:spPr>
          <a:xfrm flipH="1">
            <a:off x="2410990" y="4647694"/>
            <a:ext cx="5344964" cy="543521"/>
          </a:xfrm>
          <a:prstGeom prst="bentConnector4">
            <a:avLst>
              <a:gd name="adj1" fmla="val -4277"/>
              <a:gd name="adj2" fmla="val 6698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6EE90844-F004-9444-D795-F992D1DB8B05}"/>
              </a:ext>
            </a:extLst>
          </p:cNvPr>
          <p:cNvSpPr txBox="1"/>
          <p:nvPr/>
        </p:nvSpPr>
        <p:spPr>
          <a:xfrm>
            <a:off x="2049999" y="5191215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0010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C0C9A80-7D58-62D2-D0DB-4847413609E8}"/>
              </a:ext>
            </a:extLst>
          </p:cNvPr>
          <p:cNvSpPr txBox="1"/>
          <p:nvPr/>
        </p:nvSpPr>
        <p:spPr>
          <a:xfrm>
            <a:off x="4757840" y="5180075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1000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AB5819-7EEC-FD0C-BD58-53869EDE57DD}"/>
              </a:ext>
            </a:extLst>
          </p:cNvPr>
          <p:cNvSpPr txBox="1"/>
          <p:nvPr/>
        </p:nvSpPr>
        <p:spPr>
          <a:xfrm>
            <a:off x="3345124" y="5170869"/>
            <a:ext cx="113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</a:t>
            </a:r>
            <a:endParaRPr lang="zh-CN" altLang="en-US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24C9A50-669F-74B4-4A4A-3DEDDBF758DF}"/>
              </a:ext>
            </a:extLst>
          </p:cNvPr>
          <p:cNvCxnSpPr/>
          <p:nvPr/>
        </p:nvCxnSpPr>
        <p:spPr>
          <a:xfrm>
            <a:off x="5977313" y="5348956"/>
            <a:ext cx="7787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F59AF8EC-6648-C06E-F17E-73DDB31970BA}"/>
              </a:ext>
            </a:extLst>
          </p:cNvPr>
          <p:cNvSpPr txBox="1"/>
          <p:nvPr/>
        </p:nvSpPr>
        <p:spPr>
          <a:xfrm>
            <a:off x="7033972" y="5140605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0000</a:t>
            </a:r>
            <a:endParaRPr lang="zh-CN" altLang="en-US" dirty="0"/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DE15222F-EF36-6705-6E7D-A3B33610A87F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2410990" y="5279222"/>
            <a:ext cx="5344964" cy="543521"/>
          </a:xfrm>
          <a:prstGeom prst="bentConnector4">
            <a:avLst>
              <a:gd name="adj1" fmla="val -4277"/>
              <a:gd name="adj2" fmla="val 6698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1F822AF-C1BA-1F83-78E2-135281224CDE}"/>
              </a:ext>
            </a:extLst>
          </p:cNvPr>
          <p:cNvSpPr txBox="1"/>
          <p:nvPr/>
        </p:nvSpPr>
        <p:spPr>
          <a:xfrm>
            <a:off x="2049999" y="5822743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0000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67FFBF1-2A12-02F5-AB38-250393220B3D}"/>
              </a:ext>
            </a:extLst>
          </p:cNvPr>
          <p:cNvSpPr txBox="1"/>
          <p:nvPr/>
        </p:nvSpPr>
        <p:spPr>
          <a:xfrm>
            <a:off x="4757840" y="5831338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0110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E1396E-AB7E-94E6-AD4A-85DD3C86CB87}"/>
              </a:ext>
            </a:extLst>
          </p:cNvPr>
          <p:cNvSpPr txBox="1"/>
          <p:nvPr/>
        </p:nvSpPr>
        <p:spPr>
          <a:xfrm>
            <a:off x="3345124" y="5822132"/>
            <a:ext cx="113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</a:t>
            </a:r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0318C78-B9CF-CCB9-236E-37CB29D91864}"/>
              </a:ext>
            </a:extLst>
          </p:cNvPr>
          <p:cNvCxnSpPr/>
          <p:nvPr/>
        </p:nvCxnSpPr>
        <p:spPr>
          <a:xfrm>
            <a:off x="5977313" y="6013376"/>
            <a:ext cx="7787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744FF88-17CB-0B57-D4E6-F9B419592B5B}"/>
              </a:ext>
            </a:extLst>
          </p:cNvPr>
          <p:cNvSpPr txBox="1"/>
          <p:nvPr/>
        </p:nvSpPr>
        <p:spPr>
          <a:xfrm>
            <a:off x="7033972" y="5851074"/>
            <a:ext cx="72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28D2F32-99C6-EEC4-B6B6-DC859BC631A3}"/>
              </a:ext>
            </a:extLst>
          </p:cNvPr>
          <p:cNvSpPr txBox="1"/>
          <p:nvPr/>
        </p:nvSpPr>
        <p:spPr>
          <a:xfrm>
            <a:off x="1047612" y="6366163"/>
            <a:ext cx="11144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如此一直进行直到得出一个最终的结果。这样可以保证输入中的每一位都对最终的结果产生了影响</a:t>
            </a:r>
          </a:p>
        </p:txBody>
      </p:sp>
    </p:spTree>
    <p:extLst>
      <p:ext uri="{BB962C8B-B14F-4D97-AF65-F5344CB8AC3E}">
        <p14:creationId xmlns:p14="http://schemas.microsoft.com/office/powerpoint/2010/main" val="15197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412BDD-DDD0-59C5-D135-3CDAF71EA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03" y="2488062"/>
            <a:ext cx="8788852" cy="1638384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DD438B-D114-A292-3197-336B9BB24C9B}"/>
              </a:ext>
            </a:extLst>
          </p:cNvPr>
          <p:cNvCxnSpPr>
            <a:cxnSpLocks/>
          </p:cNvCxnSpPr>
          <p:nvPr/>
        </p:nvCxnSpPr>
        <p:spPr>
          <a:xfrm>
            <a:off x="1083203" y="3530119"/>
            <a:ext cx="30875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0D3FACA-0138-F341-116E-96194F314C50}"/>
              </a:ext>
            </a:extLst>
          </p:cNvPr>
          <p:cNvSpPr txBox="1"/>
          <p:nvPr/>
        </p:nvSpPr>
        <p:spPr>
          <a:xfrm>
            <a:off x="993340" y="1115018"/>
            <a:ext cx="96044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编程语言中的应用</a:t>
            </a:r>
            <a:endParaRPr lang="en-US" altLang="zh-CN" sz="2400" b="1" dirty="0"/>
          </a:p>
          <a:p>
            <a:r>
              <a:rPr lang="zh-CN" altLang="en-US" sz="2000" dirty="0"/>
              <a:t>将</a:t>
            </a:r>
            <a:r>
              <a:rPr lang="en-US" altLang="zh-CN" sz="2000" dirty="0"/>
              <a:t>hash</a:t>
            </a:r>
            <a:r>
              <a:rPr lang="zh-CN" altLang="en-US" sz="2000" dirty="0"/>
              <a:t>值作为索引可以进行快速查找。</a:t>
            </a:r>
            <a:r>
              <a:rPr lang="en-US" altLang="zh-CN" sz="2000" dirty="0"/>
              <a:t>Python</a:t>
            </a:r>
            <a:r>
              <a:rPr lang="zh-CN" altLang="en-US" sz="2000" dirty="0"/>
              <a:t>中的</a:t>
            </a:r>
            <a:r>
              <a:rPr lang="en-US" altLang="zh-CN" sz="2000" dirty="0"/>
              <a:t>dictionary</a:t>
            </a:r>
            <a:r>
              <a:rPr lang="zh-CN" altLang="en-US" sz="2000" dirty="0"/>
              <a:t>和</a:t>
            </a:r>
            <a:r>
              <a:rPr lang="en-US" altLang="zh-CN" sz="2000" dirty="0"/>
              <a:t>set</a:t>
            </a:r>
            <a:r>
              <a:rPr lang="zh-CN" altLang="en-US" sz="2000" dirty="0"/>
              <a:t>做的就是这样的事</a:t>
            </a:r>
            <a:endParaRPr lang="en-US" altLang="zh-CN" sz="2000" dirty="0"/>
          </a:p>
          <a:p>
            <a:r>
              <a:rPr lang="zh-CN" altLang="en-US" sz="2000" dirty="0"/>
              <a:t>我们已经发现如果尝试用</a:t>
            </a:r>
            <a:r>
              <a:rPr lang="en-US" altLang="zh-CN" sz="2000" dirty="0"/>
              <a:t>list</a:t>
            </a:r>
            <a:r>
              <a:rPr lang="zh-CN" altLang="en-US" sz="2000" dirty="0"/>
              <a:t>作为</a:t>
            </a:r>
            <a:r>
              <a:rPr lang="en-US" altLang="zh-CN" sz="2000" dirty="0" err="1"/>
              <a:t>dict</a:t>
            </a:r>
            <a:r>
              <a:rPr lang="zh-CN" altLang="en-US" sz="2000" dirty="0"/>
              <a:t>的键，会看到这样的报错信息：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96D3A6A-E7CA-B99B-37F8-3051CD87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8D3DAF-E7F2-FBA3-7F52-39960DCE29A7}"/>
              </a:ext>
            </a:extLst>
          </p:cNvPr>
          <p:cNvSpPr txBox="1"/>
          <p:nvPr/>
        </p:nvSpPr>
        <p:spPr>
          <a:xfrm>
            <a:off x="993340" y="4430541"/>
            <a:ext cx="9604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要知道为什么会这样，就需要先了解</a:t>
            </a:r>
            <a:r>
              <a:rPr lang="en-US" altLang="zh-CN" sz="2000" dirty="0"/>
              <a:t>dictionary</a:t>
            </a:r>
            <a:r>
              <a:rPr lang="zh-CN" altLang="en-US" sz="2000" dirty="0"/>
              <a:t>的工作原理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18619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21E2-DB0D-508E-94AA-CA6D7C38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E0FDB30-95EB-4825-0406-EED7D371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Dictionary</a:t>
            </a:r>
            <a:r>
              <a:rPr lang="zh-CN" altLang="en-US" dirty="0"/>
              <a:t>的工作原理</a:t>
            </a:r>
          </a:p>
        </p:txBody>
      </p:sp>
      <p:pic>
        <p:nvPicPr>
          <p:cNvPr id="2" name="图片 1" descr="Hashing Working, Types, and Functions | Spiceworks - Spiceworks">
            <a:extLst>
              <a:ext uri="{FF2B5EF4-FFF2-40B4-BE49-F238E27FC236}">
                <a16:creationId xmlns:a16="http://schemas.microsoft.com/office/drawing/2014/main" id="{ADF5B5FB-50CC-2756-C431-9F10D2384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397" y="3154093"/>
            <a:ext cx="5749785" cy="32567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E41D09-D3D4-AE60-0E77-5B2B73806003}"/>
              </a:ext>
            </a:extLst>
          </p:cNvPr>
          <p:cNvSpPr txBox="1"/>
          <p:nvPr/>
        </p:nvSpPr>
        <p:spPr>
          <a:xfrm>
            <a:off x="1058877" y="1037620"/>
            <a:ext cx="97034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这部分属于底层实现细节，因此会出现</a:t>
            </a:r>
            <a:r>
              <a:rPr lang="en-US" altLang="zh-CN" dirty="0"/>
              <a:t>C</a:t>
            </a:r>
            <a:r>
              <a:rPr lang="zh-CN" altLang="en-US" dirty="0"/>
              <a:t>语言的数据类型，例如数组</a:t>
            </a:r>
            <a:endParaRPr lang="en-US" altLang="zh-CN" dirty="0"/>
          </a:p>
          <a:p>
            <a:endParaRPr lang="en-US" altLang="zh-CN" sz="1800" dirty="0"/>
          </a:p>
          <a:p>
            <a:r>
              <a:rPr lang="en-US" altLang="zh-CN" sz="1800" dirty="0"/>
              <a:t>0</a:t>
            </a:r>
            <a:r>
              <a:rPr lang="zh-CN" altLang="en-US" sz="1800" dirty="0"/>
              <a:t>、准备一个等长数组。此处长度为</a:t>
            </a:r>
            <a:r>
              <a:rPr lang="en-US" altLang="zh-CN" sz="1800" dirty="0"/>
              <a:t>7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sz="1800" dirty="0"/>
              <a:t>计算出键的</a:t>
            </a:r>
            <a:r>
              <a:rPr lang="en-US" altLang="zh-CN" sz="1800" dirty="0"/>
              <a:t>hash</a:t>
            </a:r>
            <a:r>
              <a:rPr lang="zh-CN" altLang="en-US" sz="1800" dirty="0"/>
              <a:t>值</a:t>
            </a:r>
            <a:endParaRPr lang="en-US" altLang="zh-CN" dirty="0"/>
          </a:p>
          <a:p>
            <a:r>
              <a:rPr lang="en-US" altLang="zh-CN" sz="1800" dirty="0"/>
              <a:t>2</a:t>
            </a:r>
            <a:r>
              <a:rPr lang="zh-CN" altLang="en-US" sz="1800" dirty="0"/>
              <a:t>、用</a:t>
            </a:r>
            <a:r>
              <a:rPr lang="en-US" altLang="zh-CN" sz="1800" dirty="0"/>
              <a:t>hash % 7 </a:t>
            </a:r>
            <a:r>
              <a:rPr lang="zh-CN" altLang="en-US" sz="1800" dirty="0"/>
              <a:t>得到一个小于</a:t>
            </a:r>
            <a:r>
              <a:rPr lang="en-US" altLang="zh-CN" dirty="0"/>
              <a:t>7</a:t>
            </a:r>
            <a:r>
              <a:rPr lang="zh-CN" altLang="en-US" dirty="0"/>
              <a:t>的余数，这就是这个键在数组里的索引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、将键存放在该索引的位置（值可能随键存放也可能存放在另一个数组里，不同版本有不同实现，属于不重要的细节）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5512C01-57AA-D43C-2C55-32F4855588DF}"/>
              </a:ext>
            </a:extLst>
          </p:cNvPr>
          <p:cNvCxnSpPr>
            <a:cxnSpLocks/>
          </p:cNvCxnSpPr>
          <p:nvPr/>
        </p:nvCxnSpPr>
        <p:spPr>
          <a:xfrm>
            <a:off x="4861450" y="1789329"/>
            <a:ext cx="427597" cy="18156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B3732FA-B068-4858-CB37-4B3D64260682}"/>
              </a:ext>
            </a:extLst>
          </p:cNvPr>
          <p:cNvSpPr/>
          <p:nvPr/>
        </p:nvSpPr>
        <p:spPr>
          <a:xfrm>
            <a:off x="5071959" y="5085117"/>
            <a:ext cx="1190693" cy="269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James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8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C529-ED95-D2D3-CD89-D1D3BDDF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72F0537-A865-932D-BABD-89F80FC6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Dictionary</a:t>
            </a:r>
            <a:r>
              <a:rPr lang="zh-CN" altLang="en-US" dirty="0"/>
              <a:t>的工作原理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99311E-36C7-8A43-70DA-160EEADCF5BD}"/>
              </a:ext>
            </a:extLst>
          </p:cNvPr>
          <p:cNvSpPr txBox="1"/>
          <p:nvPr/>
        </p:nvSpPr>
        <p:spPr>
          <a:xfrm>
            <a:off x="1058877" y="1636256"/>
            <a:ext cx="97034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2000" dirty="0"/>
              <a:t>这就是为什么可变数据不可计算</a:t>
            </a:r>
            <a:r>
              <a:rPr lang="en-US" altLang="zh-CN" sz="2000" dirty="0"/>
              <a:t>hash</a:t>
            </a:r>
            <a:r>
              <a:rPr lang="zh-CN" altLang="en-US" sz="2000" dirty="0"/>
              <a:t>值，并且只有不可变的数据才能作为</a:t>
            </a:r>
            <a:r>
              <a:rPr lang="en-US" altLang="zh-CN" sz="2000" dirty="0"/>
              <a:t>dictionary</a:t>
            </a:r>
            <a:r>
              <a:rPr lang="zh-CN" altLang="en-US" sz="2000" dirty="0"/>
              <a:t>的键。</a:t>
            </a:r>
            <a:r>
              <a:rPr lang="en-US" altLang="zh-CN" sz="2000" dirty="0"/>
              <a:t>Hash</a:t>
            </a:r>
            <a:r>
              <a:rPr lang="zh-CN" altLang="en-US" sz="2000" dirty="0"/>
              <a:t>的发明初衷就是给每个物件一个唯一标识。例如</a:t>
            </a:r>
            <a:r>
              <a:rPr lang="en-US" altLang="zh-CN" sz="2000" dirty="0"/>
              <a:t>hash(“hello”)</a:t>
            </a:r>
            <a:r>
              <a:rPr lang="zh-CN" altLang="en-US" sz="2000" dirty="0"/>
              <a:t>永远返回同一个值。若一个物件本质可变，</a:t>
            </a:r>
            <a:r>
              <a:rPr lang="en-US" altLang="zh-CN" sz="2000" dirty="0"/>
              <a:t>hash</a:t>
            </a:r>
            <a:r>
              <a:rPr lang="zh-CN" altLang="en-US" sz="2000" dirty="0"/>
              <a:t>的存在就没有任何意义。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550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7370-979B-9DE3-A922-E9F19B58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712FF05-ED81-A8E0-2F55-D154E226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693"/>
            <a:ext cx="10515600" cy="1325563"/>
          </a:xfrm>
        </p:spPr>
        <p:txBody>
          <a:bodyPr/>
          <a:lstStyle/>
          <a:p>
            <a:r>
              <a:rPr lang="en-US" altLang="zh-CN" dirty="0"/>
              <a:t>Dictionary</a:t>
            </a:r>
            <a:r>
              <a:rPr lang="zh-CN" altLang="en-US" dirty="0"/>
              <a:t>的工作原理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sz="3600" dirty="0"/>
              <a:t>——</a:t>
            </a:r>
            <a:r>
              <a:rPr lang="zh-CN" altLang="en-US" sz="3600" dirty="0"/>
              <a:t>应对</a:t>
            </a:r>
            <a:r>
              <a:rPr lang="en-US" altLang="zh-CN" sz="3600" dirty="0"/>
              <a:t>hash</a:t>
            </a:r>
            <a:r>
              <a:rPr lang="zh-CN" altLang="en-US" sz="3600" dirty="0"/>
              <a:t>冲突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9E6517-47CF-0FBA-91B7-5A119AE9BFF1}"/>
              </a:ext>
            </a:extLst>
          </p:cNvPr>
          <p:cNvSpPr txBox="1"/>
          <p:nvPr/>
        </p:nvSpPr>
        <p:spPr>
          <a:xfrm>
            <a:off x="1058877" y="1557315"/>
            <a:ext cx="97034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b="1" dirty="0"/>
          </a:p>
          <a:p>
            <a:r>
              <a:rPr lang="zh-CN" altLang="en-US" sz="2000" dirty="0"/>
              <a:t>同个</a:t>
            </a:r>
            <a:r>
              <a:rPr lang="en-US" altLang="zh-CN" sz="2000" dirty="0"/>
              <a:t>hash</a:t>
            </a:r>
            <a:r>
              <a:rPr lang="zh-CN" altLang="en-US" sz="2000" dirty="0"/>
              <a:t>算法下，两个不同的数据产生了同样的</a:t>
            </a:r>
            <a:r>
              <a:rPr lang="en-US" altLang="zh-CN" sz="2000" dirty="0"/>
              <a:t>hash</a:t>
            </a:r>
            <a:r>
              <a:rPr lang="zh-CN" altLang="en-US" sz="2000" dirty="0"/>
              <a:t>值</a:t>
            </a: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B7B70F-0187-E9AF-D031-19D1FEE74548}"/>
              </a:ext>
            </a:extLst>
          </p:cNvPr>
          <p:cNvSpPr txBox="1"/>
          <p:nvPr/>
        </p:nvSpPr>
        <p:spPr>
          <a:xfrm>
            <a:off x="1058877" y="2556544"/>
            <a:ext cx="97034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特性</a:t>
            </a:r>
            <a:endParaRPr lang="en-US" altLang="zh-CN" b="1" dirty="0"/>
          </a:p>
          <a:p>
            <a:r>
              <a:rPr lang="zh-CN" altLang="en-US" sz="2000" dirty="0"/>
              <a:t>数学层面上不可避免</a:t>
            </a:r>
            <a:r>
              <a:rPr lang="en-US" altLang="zh-CN" sz="2000" dirty="0"/>
              <a:t>——</a:t>
            </a:r>
            <a:r>
              <a:rPr lang="zh-CN" altLang="en-US" sz="2000" dirty="0"/>
              <a:t>因为</a:t>
            </a:r>
            <a:r>
              <a:rPr lang="en-US" altLang="zh-CN" sz="2000" dirty="0"/>
              <a:t>hash</a:t>
            </a:r>
            <a:r>
              <a:rPr lang="zh-CN" altLang="en-US" sz="2000" dirty="0"/>
              <a:t>算法是在用有限的位数</a:t>
            </a:r>
            <a:r>
              <a:rPr lang="en-US" altLang="zh-CN" sz="2000" dirty="0"/>
              <a:t>+</a:t>
            </a:r>
            <a:r>
              <a:rPr lang="zh-CN" altLang="en-US" sz="2000" dirty="0"/>
              <a:t>数字字母组合去对应无限的数据</a:t>
            </a:r>
            <a:endParaRPr lang="en-US" altLang="zh-CN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8D01CF-A768-8883-47C1-56800AC87F99}"/>
              </a:ext>
            </a:extLst>
          </p:cNvPr>
          <p:cNvSpPr txBox="1"/>
          <p:nvPr/>
        </p:nvSpPr>
        <p:spPr>
          <a:xfrm>
            <a:off x="1058877" y="5767671"/>
            <a:ext cx="9703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如何处理？？</a:t>
            </a:r>
            <a:endParaRPr lang="en-US" altLang="zh-CN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00867B-0288-C7DC-8212-384E44A72421}"/>
              </a:ext>
            </a:extLst>
          </p:cNvPr>
          <p:cNvSpPr/>
          <p:nvPr/>
        </p:nvSpPr>
        <p:spPr>
          <a:xfrm>
            <a:off x="3249739" y="4611290"/>
            <a:ext cx="1447252" cy="394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“James”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3D5D70C-EC91-E496-AA16-51D6D95E6417}"/>
              </a:ext>
            </a:extLst>
          </p:cNvPr>
          <p:cNvCxnSpPr>
            <a:stCxn id="7" idx="3"/>
          </p:cNvCxnSpPr>
          <p:nvPr/>
        </p:nvCxnSpPr>
        <p:spPr>
          <a:xfrm flipV="1">
            <a:off x="4696991" y="4802064"/>
            <a:ext cx="1532771" cy="6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B15E39C-9679-4EAD-1704-D8B75F898B2D}"/>
              </a:ext>
            </a:extLst>
          </p:cNvPr>
          <p:cNvSpPr txBox="1"/>
          <p:nvPr/>
        </p:nvSpPr>
        <p:spPr>
          <a:xfrm>
            <a:off x="3764377" y="4166144"/>
            <a:ext cx="45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值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BED706-AB2A-9A34-32C4-81A86FCFEB34}"/>
              </a:ext>
            </a:extLst>
          </p:cNvPr>
          <p:cNvSpPr txBox="1"/>
          <p:nvPr/>
        </p:nvSpPr>
        <p:spPr>
          <a:xfrm>
            <a:off x="2290811" y="4166144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类型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E9AC9A-06CC-D676-43AE-571BFE1FA727}"/>
              </a:ext>
            </a:extLst>
          </p:cNvPr>
          <p:cNvSpPr txBox="1"/>
          <p:nvPr/>
        </p:nvSpPr>
        <p:spPr>
          <a:xfrm>
            <a:off x="2389487" y="4626633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str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EEFEC4-BFCE-C151-1041-B7F3D55991B5}"/>
              </a:ext>
            </a:extLst>
          </p:cNvPr>
          <p:cNvSpPr/>
          <p:nvPr/>
        </p:nvSpPr>
        <p:spPr>
          <a:xfrm>
            <a:off x="3249739" y="5078358"/>
            <a:ext cx="1447252" cy="394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201043251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1AB7F77-1181-7BBE-313B-7C3BD87976C8}"/>
              </a:ext>
            </a:extLst>
          </p:cNvPr>
          <p:cNvCxnSpPr>
            <a:stCxn id="14" idx="3"/>
          </p:cNvCxnSpPr>
          <p:nvPr/>
        </p:nvCxnSpPr>
        <p:spPr>
          <a:xfrm flipV="1">
            <a:off x="4696991" y="5269132"/>
            <a:ext cx="1532771" cy="6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4BD16A4-B200-C040-F824-E3D020252A3C}"/>
              </a:ext>
            </a:extLst>
          </p:cNvPr>
          <p:cNvSpPr txBox="1"/>
          <p:nvPr/>
        </p:nvSpPr>
        <p:spPr>
          <a:xfrm>
            <a:off x="2389487" y="5093701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int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EEE664-F927-144F-1E69-2109C5D72917}"/>
              </a:ext>
            </a:extLst>
          </p:cNvPr>
          <p:cNvSpPr txBox="1"/>
          <p:nvPr/>
        </p:nvSpPr>
        <p:spPr>
          <a:xfrm>
            <a:off x="6402323" y="4166144"/>
            <a:ext cx="1208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Hash</a:t>
            </a:r>
            <a:r>
              <a:rPr lang="zh-CN" altLang="en-US" sz="1800" b="1" dirty="0"/>
              <a:t>值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54E7B5-816D-FE52-3798-5EA1CD492614}"/>
              </a:ext>
            </a:extLst>
          </p:cNvPr>
          <p:cNvSpPr txBox="1"/>
          <p:nvPr/>
        </p:nvSpPr>
        <p:spPr>
          <a:xfrm>
            <a:off x="6454948" y="4626633"/>
            <a:ext cx="1532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201043251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8C49A1-1491-B3D6-7CD8-FB1D40FEEFCB}"/>
              </a:ext>
            </a:extLst>
          </p:cNvPr>
          <p:cNvSpPr txBox="1"/>
          <p:nvPr/>
        </p:nvSpPr>
        <p:spPr>
          <a:xfrm>
            <a:off x="6454948" y="5113436"/>
            <a:ext cx="1532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201043251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7334CD-954E-FB9A-58C6-37D0AFB962BC}"/>
              </a:ext>
            </a:extLst>
          </p:cNvPr>
          <p:cNvSpPr txBox="1"/>
          <p:nvPr/>
        </p:nvSpPr>
        <p:spPr>
          <a:xfrm>
            <a:off x="9198150" y="3449096"/>
            <a:ext cx="926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数组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536829-FA09-879A-D8BD-E0946597DAE2}"/>
              </a:ext>
            </a:extLst>
          </p:cNvPr>
          <p:cNvSpPr txBox="1"/>
          <p:nvPr/>
        </p:nvSpPr>
        <p:spPr>
          <a:xfrm>
            <a:off x="9316560" y="3796812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B3CC18-A48A-622D-3A86-DC5586FB8CA4}"/>
              </a:ext>
            </a:extLst>
          </p:cNvPr>
          <p:cNvSpPr/>
          <p:nvPr/>
        </p:nvSpPr>
        <p:spPr>
          <a:xfrm>
            <a:off x="9032167" y="4174390"/>
            <a:ext cx="1453830" cy="296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另外一个键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88AFB0-F192-BF3B-F5F7-F06DED3EE951}"/>
              </a:ext>
            </a:extLst>
          </p:cNvPr>
          <p:cNvSpPr/>
          <p:nvPr/>
        </p:nvSpPr>
        <p:spPr>
          <a:xfrm>
            <a:off x="8513993" y="4174390"/>
            <a:ext cx="458968" cy="296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9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5E562B-82C4-3545-A10E-FC9B7F648452}"/>
              </a:ext>
            </a:extLst>
          </p:cNvPr>
          <p:cNvSpPr/>
          <p:nvPr/>
        </p:nvSpPr>
        <p:spPr>
          <a:xfrm>
            <a:off x="9032167" y="4496732"/>
            <a:ext cx="1453830" cy="296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9FE5F6-8A41-8FD1-B6BE-75A0AE66CFE1}"/>
              </a:ext>
            </a:extLst>
          </p:cNvPr>
          <p:cNvSpPr/>
          <p:nvPr/>
        </p:nvSpPr>
        <p:spPr>
          <a:xfrm>
            <a:off x="8513993" y="4496732"/>
            <a:ext cx="458968" cy="296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A8BBA2C-EB45-FEB5-7D42-FF0BF93BF974}"/>
              </a:ext>
            </a:extLst>
          </p:cNvPr>
          <p:cNvCxnSpPr>
            <a:cxnSpLocks/>
          </p:cNvCxnSpPr>
          <p:nvPr/>
        </p:nvCxnSpPr>
        <p:spPr>
          <a:xfrm flipV="1">
            <a:off x="7808581" y="4690412"/>
            <a:ext cx="605215" cy="5787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CC7F568-2574-36ED-0024-D486791D928C}"/>
              </a:ext>
            </a:extLst>
          </p:cNvPr>
          <p:cNvCxnSpPr>
            <a:cxnSpLocks/>
          </p:cNvCxnSpPr>
          <p:nvPr/>
        </p:nvCxnSpPr>
        <p:spPr>
          <a:xfrm flipV="1">
            <a:off x="7749375" y="4690412"/>
            <a:ext cx="664421" cy="102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ABBDFC4-98A8-C4C3-BB2C-0442EF8B61D8}"/>
              </a:ext>
            </a:extLst>
          </p:cNvPr>
          <p:cNvSpPr txBox="1"/>
          <p:nvPr/>
        </p:nvSpPr>
        <p:spPr>
          <a:xfrm>
            <a:off x="9316560" y="4803310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837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E2A4-58AE-4F44-C8FD-033C6F2B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B84FC21-6BED-817D-F3F6-752427FC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693"/>
            <a:ext cx="10515600" cy="1325563"/>
          </a:xfrm>
        </p:spPr>
        <p:txBody>
          <a:bodyPr/>
          <a:lstStyle/>
          <a:p>
            <a:r>
              <a:rPr lang="en-US" altLang="zh-CN" dirty="0"/>
              <a:t>Dictionary</a:t>
            </a:r>
            <a:r>
              <a:rPr lang="zh-CN" altLang="en-US" dirty="0"/>
              <a:t>的工作原理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sz="3600" dirty="0"/>
              <a:t>——</a:t>
            </a:r>
            <a:r>
              <a:rPr lang="zh-CN" altLang="en-US" sz="3600" dirty="0"/>
              <a:t>应对</a:t>
            </a:r>
            <a:r>
              <a:rPr lang="en-US" altLang="zh-CN" sz="3600" dirty="0"/>
              <a:t>hash</a:t>
            </a:r>
            <a:r>
              <a:rPr lang="zh-CN" altLang="en-US" sz="3600" dirty="0"/>
              <a:t>冲突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1C858B-4416-D0AF-260A-A0D26B22A556}"/>
              </a:ext>
            </a:extLst>
          </p:cNvPr>
          <p:cNvSpPr txBox="1"/>
          <p:nvPr/>
        </p:nvSpPr>
        <p:spPr>
          <a:xfrm>
            <a:off x="1058877" y="1557315"/>
            <a:ext cx="970341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处理方式</a:t>
            </a:r>
            <a:endParaRPr lang="en-US" altLang="zh-CN" b="1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、当</a:t>
            </a:r>
            <a:r>
              <a:rPr lang="en-US" altLang="zh-CN" sz="2000" dirty="0"/>
              <a:t>hash</a:t>
            </a:r>
            <a:r>
              <a:rPr lang="zh-CN" altLang="en-US" sz="2000" dirty="0"/>
              <a:t>冲突时，调用</a:t>
            </a:r>
            <a:r>
              <a:rPr lang="en-US" altLang="zh-CN" sz="2000" dirty="0"/>
              <a:t>__eq__</a:t>
            </a:r>
            <a:r>
              <a:rPr lang="zh-CN" altLang="en-US" sz="2000" dirty="0"/>
              <a:t>判断两个物件到底是否相等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/>
              <a:t>对于内置的类型，</a:t>
            </a:r>
            <a:r>
              <a:rPr lang="en-US" altLang="zh-CN" sz="2000" dirty="0"/>
              <a:t>__eq__</a:t>
            </a:r>
            <a:r>
              <a:rPr lang="zh-CN" altLang="en-US" sz="2000" dirty="0"/>
              <a:t>已经由</a:t>
            </a:r>
            <a:r>
              <a:rPr lang="en-US" altLang="zh-CN" sz="2000" dirty="0"/>
              <a:t>python</a:t>
            </a:r>
            <a:r>
              <a:rPr lang="zh-CN" altLang="en-US" sz="2000" dirty="0"/>
              <a:t>写好实现了。我们已经用过的</a:t>
            </a:r>
            <a:r>
              <a:rPr lang="en-US" altLang="zh-CN" sz="2000" dirty="0"/>
              <a:t>[1, 2, 3] == [3, 2, 1]</a:t>
            </a:r>
            <a:r>
              <a:rPr lang="zh-CN" altLang="en-US" sz="2000" dirty="0"/>
              <a:t>或是</a:t>
            </a:r>
            <a:r>
              <a:rPr lang="en-US" altLang="zh-CN" sz="2000" dirty="0"/>
              <a:t>”hello” == “hello” </a:t>
            </a:r>
            <a:r>
              <a:rPr lang="zh-CN" altLang="en-US" sz="2000" dirty="0"/>
              <a:t>就是</a:t>
            </a:r>
            <a:r>
              <a:rPr lang="en-US" altLang="zh-CN" sz="2000" dirty="0"/>
              <a:t>python</a:t>
            </a:r>
            <a:r>
              <a:rPr lang="zh-CN" altLang="en-US" sz="2000" dirty="0"/>
              <a:t>在后面调用</a:t>
            </a:r>
            <a:r>
              <a:rPr lang="en-US" altLang="zh-CN" sz="2000" dirty="0"/>
              <a:t>__eq__</a:t>
            </a:r>
            <a:r>
              <a:rPr lang="zh-CN" altLang="en-US" sz="2000" dirty="0"/>
              <a:t>函数进行比较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、若</a:t>
            </a:r>
            <a:r>
              <a:rPr lang="en-US" altLang="zh-CN" sz="2000" dirty="0"/>
              <a:t>__eq__</a:t>
            </a:r>
            <a:r>
              <a:rPr lang="zh-CN" altLang="en-US" sz="2000" dirty="0"/>
              <a:t>判断两个物件等同，返回</a:t>
            </a:r>
            <a:r>
              <a:rPr lang="en-US" altLang="zh-CN" sz="2000" dirty="0"/>
              <a:t>True</a:t>
            </a:r>
            <a:r>
              <a:rPr lang="zh-CN" altLang="en-US" sz="2000" dirty="0"/>
              <a:t>，则认为这两个键一致，用后出现的键值对覆盖前一个键值对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、若</a:t>
            </a:r>
            <a:r>
              <a:rPr lang="en-US" altLang="zh-CN" sz="2000" dirty="0"/>
              <a:t>__eq__</a:t>
            </a:r>
            <a:r>
              <a:rPr lang="zh-CN" altLang="en-US" sz="2000" dirty="0"/>
              <a:t>返回</a:t>
            </a:r>
            <a:r>
              <a:rPr lang="en-US" altLang="zh-CN" sz="2000" dirty="0"/>
              <a:t>False</a:t>
            </a:r>
            <a:r>
              <a:rPr lang="zh-CN" altLang="en-US" sz="2000" dirty="0"/>
              <a:t>，则认为两个键不等同。</a:t>
            </a:r>
            <a:r>
              <a:rPr lang="en-US" altLang="zh-CN" sz="2000" dirty="0"/>
              <a:t>Python</a:t>
            </a:r>
            <a:r>
              <a:rPr lang="zh-CN" altLang="en-US" sz="2000" dirty="0"/>
              <a:t>将在数组里另外找一个位子存放后出现的键值对</a:t>
            </a:r>
            <a:endParaRPr lang="en-US" altLang="zh-CN" sz="20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04995F-C54F-4152-F36A-97C39FF14286}"/>
              </a:ext>
            </a:extLst>
          </p:cNvPr>
          <p:cNvGrpSpPr/>
          <p:nvPr/>
        </p:nvGrpSpPr>
        <p:grpSpPr>
          <a:xfrm>
            <a:off x="427598" y="5191988"/>
            <a:ext cx="9008891" cy="1355319"/>
            <a:chOff x="1210430" y="4127449"/>
            <a:chExt cx="9008891" cy="135531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0FA673-AE7A-A978-8C49-B781A472DFB0}"/>
                </a:ext>
              </a:extLst>
            </p:cNvPr>
            <p:cNvSpPr/>
            <p:nvPr/>
          </p:nvSpPr>
          <p:spPr>
            <a:xfrm>
              <a:off x="3249739" y="4611290"/>
              <a:ext cx="1447252" cy="39434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“James”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7B66628-5266-84E7-40C8-11606338D1F6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4696991" y="4802064"/>
              <a:ext cx="1532771" cy="63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210C5E-E537-1F06-D065-7643086B527A}"/>
                </a:ext>
              </a:extLst>
            </p:cNvPr>
            <p:cNvSpPr txBox="1"/>
            <p:nvPr/>
          </p:nvSpPr>
          <p:spPr>
            <a:xfrm>
              <a:off x="3764377" y="4166144"/>
              <a:ext cx="458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/>
                <a:t>值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BB142F-BCEE-04E4-A2AA-6C4036640EB3}"/>
                </a:ext>
              </a:extLst>
            </p:cNvPr>
            <p:cNvSpPr txBox="1"/>
            <p:nvPr/>
          </p:nvSpPr>
          <p:spPr>
            <a:xfrm>
              <a:off x="2290811" y="4166144"/>
              <a:ext cx="807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/>
                <a:t>类型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D5BB57-BC4C-6310-A592-A0406651AD9E}"/>
                </a:ext>
              </a:extLst>
            </p:cNvPr>
            <p:cNvSpPr txBox="1"/>
            <p:nvPr/>
          </p:nvSpPr>
          <p:spPr>
            <a:xfrm>
              <a:off x="2389487" y="4626633"/>
              <a:ext cx="807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str</a:t>
              </a:r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F9B4B39-D7C1-5CD1-4370-7D134A272202}"/>
                </a:ext>
              </a:extLst>
            </p:cNvPr>
            <p:cNvSpPr/>
            <p:nvPr/>
          </p:nvSpPr>
          <p:spPr>
            <a:xfrm>
              <a:off x="3249739" y="5078358"/>
              <a:ext cx="1447252" cy="39434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201043251</a:t>
              </a:r>
              <a:endParaRPr lang="zh-CN" altLang="en-US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8EB585F-D5A7-4EA8-7054-B0D8BA5483B0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4696991" y="5269132"/>
              <a:ext cx="1532771" cy="63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CBF6271-BCDC-338D-A75D-03CE7F9FE28E}"/>
                </a:ext>
              </a:extLst>
            </p:cNvPr>
            <p:cNvSpPr txBox="1"/>
            <p:nvPr/>
          </p:nvSpPr>
          <p:spPr>
            <a:xfrm>
              <a:off x="2389487" y="5093701"/>
              <a:ext cx="807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int</a:t>
              </a:r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C775412-DE58-DD02-D4E6-368B541327B7}"/>
                </a:ext>
              </a:extLst>
            </p:cNvPr>
            <p:cNvSpPr txBox="1"/>
            <p:nvPr/>
          </p:nvSpPr>
          <p:spPr>
            <a:xfrm>
              <a:off x="6616880" y="4166144"/>
              <a:ext cx="12089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/>
                <a:t>Hash</a:t>
              </a:r>
              <a:r>
                <a:rPr lang="zh-CN" altLang="en-US" sz="1800" b="1" dirty="0"/>
                <a:t>值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779BD6C-D561-89AA-AEFF-9217FE3DA6C4}"/>
                </a:ext>
              </a:extLst>
            </p:cNvPr>
            <p:cNvSpPr txBox="1"/>
            <p:nvPr/>
          </p:nvSpPr>
          <p:spPr>
            <a:xfrm>
              <a:off x="6454948" y="4626633"/>
              <a:ext cx="15327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201043251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A769195-82E1-9D30-766C-A65DCF140006}"/>
                </a:ext>
              </a:extLst>
            </p:cNvPr>
            <p:cNvSpPr txBox="1"/>
            <p:nvPr/>
          </p:nvSpPr>
          <p:spPr>
            <a:xfrm>
              <a:off x="6454948" y="5113436"/>
              <a:ext cx="15327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201043251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A9B515-C747-4549-2397-D47784ED849E}"/>
                </a:ext>
              </a:extLst>
            </p:cNvPr>
            <p:cNvSpPr txBox="1"/>
            <p:nvPr/>
          </p:nvSpPr>
          <p:spPr>
            <a:xfrm>
              <a:off x="1210430" y="4166144"/>
              <a:ext cx="9538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/>
                <a:t>变量名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4172EAE-5CEE-FE7C-D21F-BA1F455750BC}"/>
                </a:ext>
              </a:extLst>
            </p:cNvPr>
            <p:cNvSpPr txBox="1"/>
            <p:nvPr/>
          </p:nvSpPr>
          <p:spPr>
            <a:xfrm>
              <a:off x="1264580" y="4626633"/>
              <a:ext cx="807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 err="1"/>
                <a:t>james</a:t>
              </a:r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6858E84-EF58-F481-C247-60B5DA9B3D33}"/>
                </a:ext>
              </a:extLst>
            </p:cNvPr>
            <p:cNvSpPr txBox="1"/>
            <p:nvPr/>
          </p:nvSpPr>
          <p:spPr>
            <a:xfrm>
              <a:off x="1210430" y="5093701"/>
              <a:ext cx="10130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number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657376F-4F8C-ADBF-C1FF-BC4E63AECB67}"/>
                </a:ext>
              </a:extLst>
            </p:cNvPr>
            <p:cNvSpPr txBox="1"/>
            <p:nvPr/>
          </p:nvSpPr>
          <p:spPr>
            <a:xfrm>
              <a:off x="9010415" y="4127449"/>
              <a:ext cx="12089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判断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6EC65CDD-A8CA-4626-E594-63DEB95BB806}"/>
              </a:ext>
            </a:extLst>
          </p:cNvPr>
          <p:cNvSpPr txBox="1"/>
          <p:nvPr/>
        </p:nvSpPr>
        <p:spPr>
          <a:xfrm>
            <a:off x="7301794" y="5660522"/>
            <a:ext cx="2848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James.__eq</a:t>
            </a:r>
            <a:r>
              <a:rPr lang="en-US" altLang="zh-CN" sz="1800" dirty="0"/>
              <a:t>__(number)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24BA155-4FB9-5B75-9028-BA12A9EE0246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8726146" y="6029854"/>
            <a:ext cx="0" cy="3038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DA2E84E-4905-EF8E-3BEB-65F1851D4623}"/>
              </a:ext>
            </a:extLst>
          </p:cNvPr>
          <p:cNvSpPr txBox="1"/>
          <p:nvPr/>
        </p:nvSpPr>
        <p:spPr>
          <a:xfrm>
            <a:off x="8301838" y="6333671"/>
            <a:ext cx="1532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False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4354DC1-775D-9928-EB14-83958F3D0249}"/>
              </a:ext>
            </a:extLst>
          </p:cNvPr>
          <p:cNvSpPr txBox="1"/>
          <p:nvPr/>
        </p:nvSpPr>
        <p:spPr>
          <a:xfrm>
            <a:off x="10834655" y="5012868"/>
            <a:ext cx="926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数组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BDC1A6D-672F-F114-F90F-42F62C00B814}"/>
              </a:ext>
            </a:extLst>
          </p:cNvPr>
          <p:cNvSpPr txBox="1"/>
          <p:nvPr/>
        </p:nvSpPr>
        <p:spPr>
          <a:xfrm>
            <a:off x="10953065" y="5360584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86EA08C-6026-5B9E-F2B4-EA55FFE6E4E4}"/>
              </a:ext>
            </a:extLst>
          </p:cNvPr>
          <p:cNvSpPr/>
          <p:nvPr/>
        </p:nvSpPr>
        <p:spPr>
          <a:xfrm>
            <a:off x="10668672" y="5738162"/>
            <a:ext cx="1453830" cy="296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另外一个键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AB21719-1C9D-7F2C-32E2-62721C23D8E2}"/>
              </a:ext>
            </a:extLst>
          </p:cNvPr>
          <p:cNvSpPr/>
          <p:nvPr/>
        </p:nvSpPr>
        <p:spPr>
          <a:xfrm>
            <a:off x="10150498" y="5738162"/>
            <a:ext cx="458968" cy="296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9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EA762D-A05A-233D-E63C-FCE8134C50C9}"/>
              </a:ext>
            </a:extLst>
          </p:cNvPr>
          <p:cNvSpPr/>
          <p:nvPr/>
        </p:nvSpPr>
        <p:spPr>
          <a:xfrm>
            <a:off x="10668672" y="6060504"/>
            <a:ext cx="1453830" cy="296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james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F14B619-E30A-84D9-990B-294AA7CB7438}"/>
              </a:ext>
            </a:extLst>
          </p:cNvPr>
          <p:cNvSpPr/>
          <p:nvPr/>
        </p:nvSpPr>
        <p:spPr>
          <a:xfrm>
            <a:off x="10150498" y="6060504"/>
            <a:ext cx="458968" cy="296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4627FD-A012-2BC0-5EE4-FAAAAA8FBB36}"/>
              </a:ext>
            </a:extLst>
          </p:cNvPr>
          <p:cNvSpPr txBox="1"/>
          <p:nvPr/>
        </p:nvSpPr>
        <p:spPr>
          <a:xfrm>
            <a:off x="10953065" y="6367082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2480F0A-A0DF-8F28-B7F7-51774CE8AE31}"/>
              </a:ext>
            </a:extLst>
          </p:cNvPr>
          <p:cNvCxnSpPr>
            <a:cxnSpLocks/>
          </p:cNvCxnSpPr>
          <p:nvPr/>
        </p:nvCxnSpPr>
        <p:spPr>
          <a:xfrm flipV="1">
            <a:off x="9150455" y="6129056"/>
            <a:ext cx="875053" cy="418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9848D8F9-57E3-5CDD-8290-D3550B6F285F}"/>
              </a:ext>
            </a:extLst>
          </p:cNvPr>
          <p:cNvSpPr/>
          <p:nvPr/>
        </p:nvSpPr>
        <p:spPr>
          <a:xfrm>
            <a:off x="10668672" y="6389425"/>
            <a:ext cx="1453830" cy="296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number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F9FBDD9-A16D-50CC-08BA-508E490B5559}"/>
              </a:ext>
            </a:extLst>
          </p:cNvPr>
          <p:cNvSpPr/>
          <p:nvPr/>
        </p:nvSpPr>
        <p:spPr>
          <a:xfrm>
            <a:off x="10150498" y="6389425"/>
            <a:ext cx="458968" cy="296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241FCE8-FACC-8F8C-C72D-73E489496A32}"/>
              </a:ext>
            </a:extLst>
          </p:cNvPr>
          <p:cNvSpPr txBox="1"/>
          <p:nvPr/>
        </p:nvSpPr>
        <p:spPr>
          <a:xfrm>
            <a:off x="10953065" y="6524964"/>
            <a:ext cx="80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66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509B-6414-4583-9D85-359F601D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ABC5F24-253A-F415-92D6-55FCBEDD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693"/>
            <a:ext cx="10515600" cy="1325563"/>
          </a:xfrm>
        </p:spPr>
        <p:txBody>
          <a:bodyPr/>
          <a:lstStyle/>
          <a:p>
            <a:r>
              <a:rPr lang="en-US" altLang="zh-CN" dirty="0"/>
              <a:t>Dictionary</a:t>
            </a:r>
            <a:r>
              <a:rPr lang="zh-CN" altLang="en-US" dirty="0"/>
              <a:t>的工作原理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sz="3600" dirty="0"/>
              <a:t>——</a:t>
            </a:r>
            <a:r>
              <a:rPr lang="zh-CN" altLang="en-US" sz="3600" dirty="0"/>
              <a:t>应对</a:t>
            </a:r>
            <a:r>
              <a:rPr lang="en-US" altLang="zh-CN" sz="3600" dirty="0"/>
              <a:t>hash</a:t>
            </a:r>
            <a:r>
              <a:rPr lang="zh-CN" altLang="en-US" sz="3600" dirty="0"/>
              <a:t>冲突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3B5E26-1C13-94EF-C774-9FA704A7EDCB}"/>
              </a:ext>
            </a:extLst>
          </p:cNvPr>
          <p:cNvSpPr txBox="1"/>
          <p:nvPr/>
        </p:nvSpPr>
        <p:spPr>
          <a:xfrm>
            <a:off x="1058877" y="1919128"/>
            <a:ext cx="9703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代码演示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766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26D4-2DFD-E0F8-A73D-4B815506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1D53A-47B4-2AB4-CD92-3411F729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下节内容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EE5379-8FC4-586E-5307-DC2C7B7BC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05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错误和异常（</a:t>
            </a:r>
            <a:r>
              <a:rPr lang="en-US" altLang="zh-CN" sz="2400" dirty="0"/>
              <a:t>exception</a:t>
            </a:r>
            <a:r>
              <a:rPr lang="zh-CN" altLang="en-US" sz="2400" dirty="0"/>
              <a:t>） </a:t>
            </a:r>
            <a:r>
              <a:rPr lang="en-US" altLang="zh-CN" sz="2400" dirty="0"/>
              <a:t>——</a:t>
            </a:r>
            <a:r>
              <a:rPr lang="zh-CN" altLang="en-US" sz="2400" dirty="0"/>
              <a:t>讲完这个就是把一门编程语言的基础讲完了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8287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3F53-27E7-C81F-2AB2-17751204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C2F9FCB-2CC2-E0B6-5712-2BCFECBC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附录：</a:t>
            </a:r>
            <a:r>
              <a:rPr lang="en-US" altLang="zh-CN" dirty="0"/>
              <a:t>hash</a:t>
            </a:r>
            <a:r>
              <a:rPr lang="zh-CN" altLang="en-US" dirty="0"/>
              <a:t>的查找优越性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955C3F-7295-EF94-0EFE-401121277456}"/>
              </a:ext>
            </a:extLst>
          </p:cNvPr>
          <p:cNvSpPr txBox="1"/>
          <p:nvPr/>
        </p:nvSpPr>
        <p:spPr>
          <a:xfrm>
            <a:off x="943330" y="1984156"/>
            <a:ext cx="3276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如果把数据存放在</a:t>
            </a:r>
            <a:r>
              <a:rPr lang="en-US" altLang="zh-CN" dirty="0"/>
              <a:t>list</a:t>
            </a:r>
            <a:r>
              <a:rPr lang="zh-CN" altLang="en-US" dirty="0"/>
              <a:t>里，要想查找一个元素，</a:t>
            </a:r>
            <a:r>
              <a:rPr lang="en-US" altLang="zh-CN" dirty="0"/>
              <a:t>python</a:t>
            </a:r>
            <a:r>
              <a:rPr lang="zh-CN" altLang="en-US" dirty="0"/>
              <a:t>需要遍历整个</a:t>
            </a:r>
            <a:r>
              <a:rPr lang="en-US" altLang="zh-CN" dirty="0"/>
              <a:t>list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55E5169-F5CD-B65C-7BB2-19C113FFA94D}"/>
              </a:ext>
            </a:extLst>
          </p:cNvPr>
          <p:cNvGrpSpPr/>
          <p:nvPr/>
        </p:nvGrpSpPr>
        <p:grpSpPr>
          <a:xfrm>
            <a:off x="838200" y="3261001"/>
            <a:ext cx="3578658" cy="1934996"/>
            <a:chOff x="309187" y="1803076"/>
            <a:chExt cx="3578658" cy="193499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D82872A-275F-35DA-FC88-1ED4E7B659AE}"/>
                </a:ext>
              </a:extLst>
            </p:cNvPr>
            <p:cNvSpPr/>
            <p:nvPr/>
          </p:nvSpPr>
          <p:spPr>
            <a:xfrm>
              <a:off x="2170878" y="2172408"/>
              <a:ext cx="1624869" cy="381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香蕉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DB996-45FB-0F4A-88EC-EA0658B53243}"/>
                </a:ext>
              </a:extLst>
            </p:cNvPr>
            <p:cNvSpPr txBox="1"/>
            <p:nvPr/>
          </p:nvSpPr>
          <p:spPr>
            <a:xfrm>
              <a:off x="2723465" y="1803076"/>
              <a:ext cx="116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list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310F831-6C6B-3EB4-BFC5-415DBA06FAC9}"/>
                </a:ext>
              </a:extLst>
            </p:cNvPr>
            <p:cNvSpPr/>
            <p:nvPr/>
          </p:nvSpPr>
          <p:spPr>
            <a:xfrm>
              <a:off x="2170878" y="2567113"/>
              <a:ext cx="1624869" cy="381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西瓜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8313B87-1676-63F8-73FE-BB56AF710D9A}"/>
                </a:ext>
              </a:extLst>
            </p:cNvPr>
            <p:cNvSpPr/>
            <p:nvPr/>
          </p:nvSpPr>
          <p:spPr>
            <a:xfrm>
              <a:off x="2170878" y="2955239"/>
              <a:ext cx="1624869" cy="381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番茄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F0E944-326F-8596-884C-E1E442FCB50A}"/>
                </a:ext>
              </a:extLst>
            </p:cNvPr>
            <p:cNvSpPr/>
            <p:nvPr/>
          </p:nvSpPr>
          <p:spPr>
            <a:xfrm>
              <a:off x="309187" y="2172408"/>
              <a:ext cx="1164380" cy="381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苹果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7E8EF36-56CB-E475-CE05-DD825FCCFEF0}"/>
                </a:ext>
              </a:extLst>
            </p:cNvPr>
            <p:cNvSpPr txBox="1"/>
            <p:nvPr/>
          </p:nvSpPr>
          <p:spPr>
            <a:xfrm>
              <a:off x="381000" y="1803076"/>
              <a:ext cx="116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查找元素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C7350CC-2E1A-BE66-01AB-5EAA232FDA4C}"/>
                </a:ext>
              </a:extLst>
            </p:cNvPr>
            <p:cNvSpPr/>
            <p:nvPr/>
          </p:nvSpPr>
          <p:spPr>
            <a:xfrm>
              <a:off x="2170878" y="3356523"/>
              <a:ext cx="1624869" cy="381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苹果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AE3AB5E-FC77-1785-A569-C47B92E1BA21}"/>
                </a:ext>
              </a:extLst>
            </p:cNvPr>
            <p:cNvCxnSpPr/>
            <p:nvPr/>
          </p:nvCxnSpPr>
          <p:spPr>
            <a:xfrm>
              <a:off x="1828800" y="2236662"/>
              <a:ext cx="0" cy="3172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27F7348-1B3A-0ACA-2E7A-41749A78A67F}"/>
                </a:ext>
              </a:extLst>
            </p:cNvPr>
            <p:cNvCxnSpPr/>
            <p:nvPr/>
          </p:nvCxnSpPr>
          <p:spPr>
            <a:xfrm>
              <a:off x="1828800" y="2624788"/>
              <a:ext cx="0" cy="3172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A06B77D-D9B7-1158-9F9D-C26C72DB3B73}"/>
                </a:ext>
              </a:extLst>
            </p:cNvPr>
            <p:cNvCxnSpPr/>
            <p:nvPr/>
          </p:nvCxnSpPr>
          <p:spPr>
            <a:xfrm>
              <a:off x="1828800" y="3019493"/>
              <a:ext cx="0" cy="3172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376ADC8-B137-F7A0-21B5-57F6CA4B67D6}"/>
                </a:ext>
              </a:extLst>
            </p:cNvPr>
            <p:cNvCxnSpPr>
              <a:cxnSpLocks/>
            </p:cNvCxnSpPr>
            <p:nvPr/>
          </p:nvCxnSpPr>
          <p:spPr>
            <a:xfrm>
              <a:off x="1776173" y="3552346"/>
              <a:ext cx="27629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8D17EDE-544B-4950-43D7-3A1413B0E2E3}"/>
              </a:ext>
            </a:extLst>
          </p:cNvPr>
          <p:cNvSpPr txBox="1"/>
          <p:nvPr/>
        </p:nvSpPr>
        <p:spPr>
          <a:xfrm>
            <a:off x="6962159" y="1887008"/>
            <a:ext cx="42865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dictionary/set</a:t>
            </a:r>
            <a:r>
              <a:rPr lang="zh-CN" altLang="en-US" dirty="0"/>
              <a:t>，只需要对查找元素再进行一次</a:t>
            </a:r>
            <a:r>
              <a:rPr lang="en-US" altLang="zh-CN" dirty="0"/>
              <a:t>hash % </a:t>
            </a:r>
            <a:r>
              <a:rPr lang="zh-CN" altLang="en-US" dirty="0"/>
              <a:t>数组长度 的计算，即可直接得出索引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56F4EF-B976-194D-B30F-90438964B51F}"/>
              </a:ext>
            </a:extLst>
          </p:cNvPr>
          <p:cNvSpPr txBox="1"/>
          <p:nvPr/>
        </p:nvSpPr>
        <p:spPr>
          <a:xfrm>
            <a:off x="1869640" y="1353157"/>
            <a:ext cx="11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list </a:t>
            </a:r>
            <a:endParaRPr lang="zh-CN" altLang="en-US" sz="28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AE4F23-B945-8776-D996-21D038E63B6E}"/>
              </a:ext>
            </a:extLst>
          </p:cNvPr>
          <p:cNvSpPr txBox="1"/>
          <p:nvPr/>
        </p:nvSpPr>
        <p:spPr>
          <a:xfrm>
            <a:off x="7934405" y="1378095"/>
            <a:ext cx="2662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Dictionary/set</a:t>
            </a:r>
            <a:endParaRPr lang="zh-CN" altLang="en-US" sz="28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8F4A2B-9980-82ED-A7CB-639075F054D6}"/>
              </a:ext>
            </a:extLst>
          </p:cNvPr>
          <p:cNvSpPr txBox="1"/>
          <p:nvPr/>
        </p:nvSpPr>
        <p:spPr>
          <a:xfrm>
            <a:off x="5375936" y="1259036"/>
            <a:ext cx="114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VS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B633A5-A629-0616-36A7-702A13673503}"/>
              </a:ext>
            </a:extLst>
          </p:cNvPr>
          <p:cNvSpPr/>
          <p:nvPr/>
        </p:nvSpPr>
        <p:spPr>
          <a:xfrm>
            <a:off x="6799342" y="3503812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苹果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2E0B14F-0DF0-416A-E83B-310930EDC026}"/>
              </a:ext>
            </a:extLst>
          </p:cNvPr>
          <p:cNvSpPr txBox="1"/>
          <p:nvPr/>
        </p:nvSpPr>
        <p:spPr>
          <a:xfrm>
            <a:off x="6871155" y="3134480"/>
            <a:ext cx="116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查找元素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492D8B0-C9F7-EFE8-6F88-39292FAFB6F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963722" y="3694587"/>
            <a:ext cx="4106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A3465DD-F8B0-7CF0-0297-5416CB077013}"/>
              </a:ext>
            </a:extLst>
          </p:cNvPr>
          <p:cNvSpPr/>
          <p:nvPr/>
        </p:nvSpPr>
        <p:spPr>
          <a:xfrm>
            <a:off x="8384740" y="3503812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58213B-D6B7-678D-DA73-14E375BCFDA0}"/>
              </a:ext>
            </a:extLst>
          </p:cNvPr>
          <p:cNvSpPr txBox="1"/>
          <p:nvPr/>
        </p:nvSpPr>
        <p:spPr>
          <a:xfrm>
            <a:off x="8268793" y="3134480"/>
            <a:ext cx="188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Hash % </a:t>
            </a:r>
            <a:r>
              <a:rPr lang="zh-CN" altLang="en-US" dirty="0"/>
              <a:t>数组长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83601A-4F09-69DC-75AF-474D83A24E2D}"/>
              </a:ext>
            </a:extLst>
          </p:cNvPr>
          <p:cNvSpPr/>
          <p:nvPr/>
        </p:nvSpPr>
        <p:spPr>
          <a:xfrm>
            <a:off x="10338529" y="3503812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香蕉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48C490-1E1F-BE60-4453-5305A35D1086}"/>
              </a:ext>
            </a:extLst>
          </p:cNvPr>
          <p:cNvSpPr/>
          <p:nvPr/>
        </p:nvSpPr>
        <p:spPr>
          <a:xfrm>
            <a:off x="10338529" y="3918252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西瓜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D7B4FA9-717E-119D-6261-185ED1A40149}"/>
              </a:ext>
            </a:extLst>
          </p:cNvPr>
          <p:cNvSpPr/>
          <p:nvPr/>
        </p:nvSpPr>
        <p:spPr>
          <a:xfrm>
            <a:off x="10338529" y="4332692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番茄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166BED-A34A-598A-F47D-346849ECD72B}"/>
              </a:ext>
            </a:extLst>
          </p:cNvPr>
          <p:cNvSpPr/>
          <p:nvPr/>
        </p:nvSpPr>
        <p:spPr>
          <a:xfrm>
            <a:off x="10338529" y="4733976"/>
            <a:ext cx="1164380" cy="381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苹果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FC054AB-E7A1-3E00-B811-6E2D7D78939C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9555699" y="3681430"/>
            <a:ext cx="782830" cy="1243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AAC6B24-2B70-CA8E-DEAA-84F7D49A33ED}"/>
              </a:ext>
            </a:extLst>
          </p:cNvPr>
          <p:cNvSpPr txBox="1"/>
          <p:nvPr/>
        </p:nvSpPr>
        <p:spPr>
          <a:xfrm>
            <a:off x="10158446" y="2844325"/>
            <a:ext cx="1952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Dictioanry</a:t>
            </a:r>
            <a:r>
              <a:rPr lang="zh-CN" altLang="en-US" dirty="0"/>
              <a:t>键</a:t>
            </a:r>
            <a:r>
              <a:rPr lang="en-US" altLang="zh-CN" dirty="0"/>
              <a:t>/set</a:t>
            </a:r>
            <a:r>
              <a:rPr lang="zh-CN" altLang="en-US" dirty="0"/>
              <a:t>元素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0EF058-85BB-7253-5D74-ED5D5A9DD005}"/>
              </a:ext>
            </a:extLst>
          </p:cNvPr>
          <p:cNvSpPr txBox="1"/>
          <p:nvPr/>
        </p:nvSpPr>
        <p:spPr>
          <a:xfrm>
            <a:off x="4099704" y="1445975"/>
            <a:ext cx="7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O(n)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BC49B8-4E05-CE85-4D68-55D79699B495}"/>
              </a:ext>
            </a:extLst>
          </p:cNvPr>
          <p:cNvSpPr txBox="1"/>
          <p:nvPr/>
        </p:nvSpPr>
        <p:spPr>
          <a:xfrm>
            <a:off x="10853615" y="1429726"/>
            <a:ext cx="7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137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9F3E-AF19-B7CE-8D30-88A38A48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8212A25-2CEF-3F0B-34CE-FE741AC45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71" y="1272548"/>
            <a:ext cx="7246128" cy="4793305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318AB71E-94AA-AED9-C157-2AC00677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附录：</a:t>
            </a:r>
            <a:r>
              <a:rPr lang="en-US" altLang="zh-CN" dirty="0"/>
              <a:t>Ascii</a:t>
            </a:r>
            <a:r>
              <a:rPr lang="zh-CN" altLang="en-US" dirty="0"/>
              <a:t>码表</a:t>
            </a:r>
          </a:p>
        </p:txBody>
      </p:sp>
    </p:spTree>
    <p:extLst>
      <p:ext uri="{BB962C8B-B14F-4D97-AF65-F5344CB8AC3E}">
        <p14:creationId xmlns:p14="http://schemas.microsoft.com/office/powerpoint/2010/main" val="93754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1967</TotalTime>
  <Words>921</Words>
  <Application>Microsoft Office PowerPoint</Application>
  <PresentationFormat>宽屏</PresentationFormat>
  <Paragraphs>146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等线</vt:lpstr>
      <vt:lpstr>Arial</vt:lpstr>
      <vt:lpstr>Office 主题​​</vt:lpstr>
      <vt:lpstr>Python</vt:lpstr>
      <vt:lpstr>本节内容</vt:lpstr>
      <vt:lpstr>hash</vt:lpstr>
      <vt:lpstr>hash</vt:lpstr>
      <vt:lpstr>hash</vt:lpstr>
      <vt:lpstr>Dictionary的工作原理</vt:lpstr>
      <vt:lpstr>Dictionary的工作原理</vt:lpstr>
      <vt:lpstr>Dictionary的工作原理  ——应对hash冲突</vt:lpstr>
      <vt:lpstr>Dictionary的工作原理  ——应对hash冲突</vt:lpstr>
      <vt:lpstr>Dictionary的工作原理  ——应对hash冲突</vt:lpstr>
      <vt:lpstr>下节内容</vt:lpstr>
      <vt:lpstr>附录：hash的查找优越性</vt:lpstr>
      <vt:lpstr>附录：Ascii码表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383</cp:revision>
  <dcterms:created xsi:type="dcterms:W3CDTF">2026-04-14T21:03:52Z</dcterms:created>
  <dcterms:modified xsi:type="dcterms:W3CDTF">2026-06-11T13:40:09Z</dcterms:modified>
</cp:coreProperties>
</file>