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90" r:id="rId3"/>
    <p:sldId id="305" r:id="rId4"/>
    <p:sldId id="302" r:id="rId5"/>
    <p:sldId id="304" r:id="rId6"/>
    <p:sldId id="307" r:id="rId7"/>
    <p:sldId id="308" r:id="rId8"/>
    <p:sldId id="309" r:id="rId9"/>
    <p:sldId id="310" r:id="rId10"/>
    <p:sldId id="312" r:id="rId11"/>
    <p:sldId id="31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87727" autoAdjust="0"/>
  </p:normalViewPr>
  <p:slideViewPr>
    <p:cSldViewPr snapToGrid="0">
      <p:cViewPr varScale="1">
        <p:scale>
          <a:sx n="105" d="100"/>
          <a:sy n="105" d="100"/>
        </p:scale>
        <p:origin x="429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98F1-4929-4136-A9CC-2BB66C9B3A9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36BA4-AC12-4B47-A9B7-4DBFC532E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D92D-571D-72F0-3FF6-D3D19902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396CD0-3FC9-24AA-E2AB-6463BF58A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C5114E-81A9-68F1-DD26-44C768733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1C920-508A-899F-1570-FF162867F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007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734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971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3952-883B-3297-3509-133C1861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C886C2-A1F6-7FC3-FF15-918C779A9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0D56D3-F110-0193-8789-D00E91330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AF4EB6-1274-8D57-1A78-8B371778B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98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629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36BA4-AC12-4B47-A9B7-4DBFC532E78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63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0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8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6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77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95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68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4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7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2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89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A9CC7-114C-49AD-8DE5-1FF5B4BC8B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BA448-8E9A-4223-B1A7-3DA347271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84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12E11-7C8B-699E-AFF6-F06255C44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CC62B-10E0-FB1D-6444-C409AD203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Ⅹ</a:t>
            </a:r>
            <a:r>
              <a:rPr lang="zh-CN" altLang="en-US" dirty="0"/>
              <a:t>课</a:t>
            </a:r>
          </a:p>
        </p:txBody>
      </p:sp>
    </p:spTree>
    <p:extLst>
      <p:ext uri="{BB962C8B-B14F-4D97-AF65-F5344CB8AC3E}">
        <p14:creationId xmlns:p14="http://schemas.microsoft.com/office/powerpoint/2010/main" val="197343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7CDE-C91D-4CCC-48FF-31809B56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CECAC65-8DA0-FDDC-BC64-E0400415EA91}"/>
              </a:ext>
            </a:extLst>
          </p:cNvPr>
          <p:cNvSpPr txBox="1">
            <a:spLocks/>
          </p:cNvSpPr>
          <p:nvPr/>
        </p:nvSpPr>
        <p:spPr>
          <a:xfrm>
            <a:off x="1265797" y="2338741"/>
            <a:ext cx="10515600" cy="3772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0599A4-CF26-4408-B2CE-9CC95C47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5DB4E-3BEA-360E-1AD7-1609D9D9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055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程序运行与</a:t>
            </a:r>
            <a:r>
              <a:rPr lang="en-US" altLang="zh-CN" sz="2400" dirty="0"/>
              <a:t>IDE</a:t>
            </a:r>
            <a:r>
              <a:rPr lang="zh-CN" altLang="en-US" sz="2400" dirty="0"/>
              <a:t>（主要）</a:t>
            </a:r>
            <a:endParaRPr lang="en-US" altLang="zh-CN" sz="2400" dirty="0"/>
          </a:p>
          <a:p>
            <a:r>
              <a:rPr lang="zh-CN" altLang="en-US" sz="2400" dirty="0"/>
              <a:t>程序运行前传入参数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3139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1FF68-9C18-E50C-3797-46D0CED4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程序运行与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AB2F3E-8B64-3078-E9F1-80EDB49C8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0413"/>
          </a:xfrm>
        </p:spPr>
        <p:txBody>
          <a:bodyPr>
            <a:normAutofit/>
          </a:bodyPr>
          <a:lstStyle/>
          <a:p>
            <a:r>
              <a:rPr lang="en-US" altLang="zh-CN" dirty="0"/>
              <a:t>IDE</a:t>
            </a:r>
            <a:r>
              <a:rPr lang="zh-CN" altLang="en-US" dirty="0"/>
              <a:t>：</a:t>
            </a:r>
            <a:r>
              <a:rPr lang="en-US" altLang="zh-CN" dirty="0"/>
              <a:t>Integrated Development Environment</a:t>
            </a:r>
            <a:r>
              <a:rPr lang="zh-CN" altLang="en-US" dirty="0"/>
              <a:t>，集成编辑器。</a:t>
            </a:r>
            <a:endParaRPr lang="en-US" altLang="zh-CN" dirty="0"/>
          </a:p>
          <a:p>
            <a:pPr lvl="1"/>
            <a:r>
              <a:rPr lang="zh-CN" altLang="en-US" dirty="0"/>
              <a:t>我们目前为止写的程序都是在</a:t>
            </a:r>
            <a:r>
              <a:rPr lang="en-US" altLang="zh-CN" dirty="0"/>
              <a:t>IDE</a:t>
            </a:r>
            <a:r>
              <a:rPr lang="zh-CN" altLang="en-US" dirty="0"/>
              <a:t>里写的。</a:t>
            </a:r>
            <a:r>
              <a:rPr lang="en-US" altLang="zh-CN" dirty="0"/>
              <a:t>VS code</a:t>
            </a:r>
            <a:r>
              <a:rPr lang="zh-CN" altLang="en-US" dirty="0"/>
              <a:t>、</a:t>
            </a:r>
            <a:r>
              <a:rPr lang="en-GB" altLang="zh-CN" dirty="0"/>
              <a:t>PyCharm</a:t>
            </a:r>
            <a:r>
              <a:rPr lang="zh-CN" altLang="en-US" dirty="0"/>
              <a:t>都是</a:t>
            </a:r>
            <a:r>
              <a:rPr lang="en-US" altLang="zh-CN" dirty="0"/>
              <a:t>IDE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把编程比喻成打铁的话，</a:t>
            </a:r>
            <a:r>
              <a:rPr lang="en-US" altLang="zh-CN" dirty="0"/>
              <a:t>IDE</a:t>
            </a:r>
            <a:r>
              <a:rPr lang="zh-CN" altLang="en-US" dirty="0"/>
              <a:t>就是铁匠铺，提供了一套趁手的工具，比如</a:t>
            </a:r>
            <a:r>
              <a:rPr lang="en-US" altLang="zh-CN" dirty="0"/>
              <a:t>debugger</a:t>
            </a:r>
            <a:r>
              <a:rPr lang="zh-CN" altLang="en-US" dirty="0"/>
              <a:t>、语法检查器（彩色字体显示</a:t>
            </a:r>
            <a:r>
              <a:rPr lang="en-US" altLang="zh-CN" dirty="0"/>
              <a:t>+</a:t>
            </a:r>
            <a:r>
              <a:rPr lang="zh-CN" altLang="en-US" dirty="0"/>
              <a:t>报错）等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程序运行</a:t>
            </a:r>
            <a:endParaRPr lang="en-US" altLang="zh-CN" dirty="0"/>
          </a:p>
          <a:p>
            <a:pPr lvl="1"/>
            <a:r>
              <a:rPr lang="zh-CN" altLang="en-US" dirty="0"/>
              <a:t>程序运行分为两种方式：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UI</a:t>
            </a:r>
            <a:r>
              <a:rPr lang="zh-CN" altLang="en-US" dirty="0"/>
              <a:t>交互、</a:t>
            </a:r>
            <a:r>
              <a:rPr lang="en-US" altLang="zh-CN" dirty="0"/>
              <a:t>2</a:t>
            </a:r>
            <a:r>
              <a:rPr lang="zh-CN" altLang="en-US" dirty="0"/>
              <a:t>）控制台指令。</a:t>
            </a:r>
            <a:endParaRPr lang="en-US" altLang="zh-CN" dirty="0"/>
          </a:p>
          <a:p>
            <a:pPr lvl="1"/>
            <a:r>
              <a:rPr lang="en-US" altLang="zh-CN" dirty="0"/>
              <a:t>UI</a:t>
            </a:r>
            <a:r>
              <a:rPr lang="zh-CN" altLang="en-US" dirty="0"/>
              <a:t>交互，也就是双击程序图标，是现下最主流的方式，无需介绍。</a:t>
            </a:r>
            <a:endParaRPr lang="en-US" altLang="zh-CN" dirty="0"/>
          </a:p>
          <a:p>
            <a:pPr lvl="1"/>
            <a:r>
              <a:rPr lang="zh-CN" altLang="en-US" dirty="0"/>
              <a:t>控制台指令：</a:t>
            </a:r>
            <a:r>
              <a:rPr lang="zh-CN" altLang="en-US" b="1" dirty="0">
                <a:solidFill>
                  <a:srgbClr val="FF0000"/>
                </a:solidFill>
              </a:rPr>
              <a:t>键入程序名运行程序</a:t>
            </a:r>
            <a:r>
              <a:rPr lang="zh-CN" altLang="en-US" dirty="0"/>
              <a:t>（如果在同一文件夹，即可运行，如果在不同文件夹，则需要键入程序所在路径）。</a:t>
            </a:r>
          </a:p>
        </p:txBody>
      </p:sp>
    </p:spTree>
    <p:extLst>
      <p:ext uri="{BB962C8B-B14F-4D97-AF65-F5344CB8AC3E}">
        <p14:creationId xmlns:p14="http://schemas.microsoft.com/office/powerpoint/2010/main" val="320093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C9026-4037-DCC1-D46D-BBF91FC3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程序运行与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FDA16D6-87BB-7539-5D19-D4E7BBB9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644"/>
            <a:ext cx="10515600" cy="1768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迄今为止，我们在运行少量行时，会在</a:t>
            </a:r>
            <a:r>
              <a:rPr lang="en-US" altLang="zh-CN" sz="2400" dirty="0"/>
              <a:t>IDE</a:t>
            </a:r>
            <a:r>
              <a:rPr lang="zh-CN" altLang="en-US" sz="2400" dirty="0"/>
              <a:t>内置终端（</a:t>
            </a:r>
            <a:r>
              <a:rPr lang="en-US" altLang="zh-CN" sz="2400" dirty="0"/>
              <a:t>terminal</a:t>
            </a:r>
            <a:r>
              <a:rPr lang="zh-CN" altLang="en-US" sz="2400" dirty="0"/>
              <a:t>）里键入</a:t>
            </a:r>
            <a:r>
              <a:rPr lang="en-US" altLang="zh-CN" sz="2400" dirty="0"/>
              <a:t>python</a:t>
            </a:r>
            <a:r>
              <a:rPr lang="zh-CN" altLang="en-US" sz="2400" dirty="0"/>
              <a:t>进入</a:t>
            </a:r>
            <a:r>
              <a:rPr lang="en-US" altLang="zh-CN" sz="2400" dirty="0"/>
              <a:t>python</a:t>
            </a:r>
            <a:r>
              <a:rPr lang="zh-CN" altLang="en-US" sz="2400" dirty="0"/>
              <a:t>程序；在执行完整脚本时，会点击</a:t>
            </a:r>
            <a:r>
              <a:rPr lang="en-US" altLang="zh-CN" sz="2400" dirty="0"/>
              <a:t>IDE</a:t>
            </a:r>
            <a:r>
              <a:rPr lang="zh-CN" altLang="en-US" sz="2400" dirty="0"/>
              <a:t>里的运行按钮。似乎这是两个单独的过程。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E127388-3260-9258-224E-AF740E98A40E}"/>
              </a:ext>
            </a:extLst>
          </p:cNvPr>
          <p:cNvSpPr/>
          <p:nvPr/>
        </p:nvSpPr>
        <p:spPr>
          <a:xfrm>
            <a:off x="838200" y="2905346"/>
            <a:ext cx="558210" cy="5582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1B44443-3E92-6C65-D179-58EBE9C4E182}"/>
              </a:ext>
            </a:extLst>
          </p:cNvPr>
          <p:cNvSpPr/>
          <p:nvPr/>
        </p:nvSpPr>
        <p:spPr>
          <a:xfrm>
            <a:off x="6998102" y="2695196"/>
            <a:ext cx="558210" cy="5582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C2C0051-199C-BA5E-4C72-483A44DC1B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26"/>
          <a:stretch>
            <a:fillRect/>
          </a:stretch>
        </p:blipFill>
        <p:spPr>
          <a:xfrm>
            <a:off x="784860" y="3907809"/>
            <a:ext cx="6088164" cy="165540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24A26BB-95FA-11FB-1E00-E598E42E7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082" y="3142335"/>
            <a:ext cx="3752805" cy="342034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991C2A2-4493-51B7-2F9C-DD6207C079F4}"/>
              </a:ext>
            </a:extLst>
          </p:cNvPr>
          <p:cNvSpPr txBox="1"/>
          <p:nvPr/>
        </p:nvSpPr>
        <p:spPr>
          <a:xfrm>
            <a:off x="1564944" y="3059668"/>
            <a:ext cx="159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运行少量行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512D46-E7D0-A3F1-3729-99BD9AB7D59D}"/>
              </a:ext>
            </a:extLst>
          </p:cNvPr>
          <p:cNvSpPr txBox="1"/>
          <p:nvPr/>
        </p:nvSpPr>
        <p:spPr>
          <a:xfrm>
            <a:off x="7610902" y="2775572"/>
            <a:ext cx="159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运行完整脚本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98FB4-C80D-822C-A189-7BF5972DA0C7}"/>
              </a:ext>
            </a:extLst>
          </p:cNvPr>
          <p:cNvSpPr/>
          <p:nvPr/>
        </p:nvSpPr>
        <p:spPr>
          <a:xfrm>
            <a:off x="838200" y="4103427"/>
            <a:ext cx="663054" cy="1774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C4A298-6F99-FD67-3C67-8C9ED2843F3B}"/>
              </a:ext>
            </a:extLst>
          </p:cNvPr>
          <p:cNvSpPr/>
          <p:nvPr/>
        </p:nvSpPr>
        <p:spPr>
          <a:xfrm>
            <a:off x="9007522" y="3435824"/>
            <a:ext cx="1999397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0EAC9B8B-1CC5-D302-4C07-3360E0A38607}"/>
              </a:ext>
            </a:extLst>
          </p:cNvPr>
          <p:cNvSpPr txBox="1">
            <a:spLocks/>
          </p:cNvSpPr>
          <p:nvPr/>
        </p:nvSpPr>
        <p:spPr>
          <a:xfrm>
            <a:off x="838200" y="5920557"/>
            <a:ext cx="10515600" cy="1768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FFC000"/>
                </a:solidFill>
              </a:rPr>
              <a:t>问：如果不点运行按钮，怎么运行脚本呢？</a:t>
            </a:r>
            <a:endParaRPr lang="en-US" altLang="zh-C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39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97284-7919-D987-823A-7C41E925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CDFCE-046F-B7F3-07CC-7DF5810F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程序运行与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8EA1FD4-A95B-A973-6BB6-8670B3789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7146"/>
            <a:ext cx="10848975" cy="4800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实际上，在</a:t>
            </a:r>
            <a:r>
              <a:rPr lang="en-US" altLang="zh-CN" sz="2400" dirty="0"/>
              <a:t>IDE</a:t>
            </a:r>
            <a:r>
              <a:rPr lang="zh-CN" altLang="en-US" sz="2400" dirty="0"/>
              <a:t>里点击“运行”的时候，是让</a:t>
            </a:r>
            <a:r>
              <a:rPr lang="en-US" altLang="zh-CN" sz="2400" dirty="0"/>
              <a:t>IDE</a:t>
            </a:r>
            <a:r>
              <a:rPr lang="zh-CN" altLang="en-US" sz="2400" dirty="0"/>
              <a:t>代替我们在终端里输入了：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你或许注意过，每次点击运行的时候，终端里会出现这样一行提示：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EF656B9-E94F-8DB6-A6C6-5AD2ED152F14}"/>
              </a:ext>
            </a:extLst>
          </p:cNvPr>
          <p:cNvGrpSpPr/>
          <p:nvPr/>
        </p:nvGrpSpPr>
        <p:grpSpPr>
          <a:xfrm>
            <a:off x="923925" y="2305050"/>
            <a:ext cx="4591049" cy="537904"/>
            <a:chOff x="952501" y="2228850"/>
            <a:chExt cx="2262188" cy="53790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5B55995-FDB3-6AC4-B62B-5D8421696DAA}"/>
                </a:ext>
              </a:extLst>
            </p:cNvPr>
            <p:cNvSpPr/>
            <p:nvPr/>
          </p:nvSpPr>
          <p:spPr>
            <a:xfrm>
              <a:off x="952501" y="2228850"/>
              <a:ext cx="2262188" cy="537904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C71C516-3F0F-321A-306D-A061C12CAF6D}"/>
                </a:ext>
              </a:extLst>
            </p:cNvPr>
            <p:cNvSpPr txBox="1"/>
            <p:nvPr/>
          </p:nvSpPr>
          <p:spPr>
            <a:xfrm>
              <a:off x="1038225" y="2276237"/>
              <a:ext cx="20431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&lt;python</a:t>
              </a:r>
              <a:r>
                <a:rPr lang="zh-CN" altLang="en-US" dirty="0">
                  <a:latin typeface="+mj-ea"/>
                  <a:ea typeface="+mj-ea"/>
                </a:rPr>
                <a:t>路径</a:t>
              </a:r>
              <a:r>
                <a:rPr lang="en-US" altLang="zh-CN" dirty="0">
                  <a:latin typeface="+mj-ea"/>
                  <a:ea typeface="+mj-ea"/>
                </a:rPr>
                <a:t>&gt; &lt;</a:t>
              </a:r>
              <a:r>
                <a:rPr lang="zh-CN" altLang="en-US" dirty="0">
                  <a:latin typeface="+mj-ea"/>
                  <a:ea typeface="+mj-ea"/>
                </a:rPr>
                <a:t>脚本名</a:t>
              </a:r>
              <a:r>
                <a:rPr lang="en-US" altLang="zh-CN" dirty="0">
                  <a:latin typeface="+mj-ea"/>
                  <a:ea typeface="+mj-ea"/>
                </a:rPr>
                <a:t>&gt;</a:t>
              </a:r>
              <a:endParaRPr lang="zh-CN" altLang="en-US" dirty="0">
                <a:latin typeface="+mj-ea"/>
                <a:ea typeface="+mj-ea"/>
              </a:endParaRP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D4AF6B8-14A5-F004-8D8C-C748BA514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0" y="3591181"/>
            <a:ext cx="10517768" cy="93795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15123E0-86FD-03B8-993D-1FC61BD93007}"/>
              </a:ext>
            </a:extLst>
          </p:cNvPr>
          <p:cNvSpPr/>
          <p:nvPr/>
        </p:nvSpPr>
        <p:spPr>
          <a:xfrm>
            <a:off x="838200" y="3852863"/>
            <a:ext cx="10641558" cy="228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645104A-157A-3691-0147-8AFAFEAA0578}"/>
              </a:ext>
            </a:extLst>
          </p:cNvPr>
          <p:cNvCxnSpPr/>
          <p:nvPr/>
        </p:nvCxnSpPr>
        <p:spPr>
          <a:xfrm flipH="1">
            <a:off x="3186114" y="4091246"/>
            <a:ext cx="752475" cy="1028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12098B1-8C28-16BA-7A1E-3F72E551FC41}"/>
              </a:ext>
            </a:extLst>
          </p:cNvPr>
          <p:cNvSpPr txBox="1"/>
          <p:nvPr/>
        </p:nvSpPr>
        <p:spPr>
          <a:xfrm>
            <a:off x="1990724" y="5196404"/>
            <a:ext cx="302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程序所处的绝对路径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868CD0-EEB3-7CBE-48F6-F92DFA822E6A}"/>
              </a:ext>
            </a:extLst>
          </p:cNvPr>
          <p:cNvSpPr txBox="1"/>
          <p:nvPr/>
        </p:nvSpPr>
        <p:spPr>
          <a:xfrm>
            <a:off x="7653337" y="5196404"/>
            <a:ext cx="302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待运行脚本所处的绝对路径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76A0292-4C63-9DB3-FB73-5A3CDDC43862}"/>
              </a:ext>
            </a:extLst>
          </p:cNvPr>
          <p:cNvCxnSpPr>
            <a:cxnSpLocks/>
          </p:cNvCxnSpPr>
          <p:nvPr/>
        </p:nvCxnSpPr>
        <p:spPr>
          <a:xfrm>
            <a:off x="8572500" y="4129088"/>
            <a:ext cx="189183" cy="1052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E21B3BA-DF2F-8CA0-8EB1-E83D1C7C0BE0}"/>
              </a:ext>
            </a:extLst>
          </p:cNvPr>
          <p:cNvSpPr txBox="1"/>
          <p:nvPr/>
        </p:nvSpPr>
        <p:spPr>
          <a:xfrm>
            <a:off x="4867274" y="5844104"/>
            <a:ext cx="3929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IDE</a:t>
            </a:r>
            <a:r>
              <a:rPr lang="zh-CN" altLang="en-US" dirty="0"/>
              <a:t>所在的工作路径，与</a:t>
            </a:r>
            <a:r>
              <a:rPr lang="en-US" altLang="zh-CN" dirty="0"/>
              <a:t>python</a:t>
            </a:r>
            <a:r>
              <a:rPr lang="zh-CN" altLang="en-US" dirty="0"/>
              <a:t>所在路径或是脚本所在路径不在同一个文件夹下 </a:t>
            </a:r>
            <a:r>
              <a:rPr lang="en-US" altLang="zh-CN" dirty="0"/>
              <a:t>--&gt; </a:t>
            </a:r>
            <a:r>
              <a:rPr lang="zh-CN" altLang="en-US" dirty="0"/>
              <a:t>需要输入绝对路径的原因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085971F-3959-D027-92B7-657391539A13}"/>
              </a:ext>
            </a:extLst>
          </p:cNvPr>
          <p:cNvCxnSpPr>
            <a:cxnSpLocks/>
          </p:cNvCxnSpPr>
          <p:nvPr/>
        </p:nvCxnSpPr>
        <p:spPr>
          <a:xfrm>
            <a:off x="4119563" y="3805238"/>
            <a:ext cx="1856057" cy="2024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64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E9E9D-D2B6-915D-6D4A-A2A3B62E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D33A6-8B4D-BDD7-7CD8-8958517D2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15475" cy="22987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用</a:t>
            </a:r>
            <a:r>
              <a:rPr lang="en-US" altLang="zh-CN" dirty="0"/>
              <a:t>windows</a:t>
            </a:r>
            <a:r>
              <a:rPr lang="zh-CN" altLang="en-US" dirty="0"/>
              <a:t>的终端运行</a:t>
            </a:r>
            <a:r>
              <a:rPr lang="en-US" altLang="zh-CN" dirty="0"/>
              <a:t>everything.exe</a:t>
            </a:r>
          </a:p>
          <a:p>
            <a:pPr lvl="1"/>
            <a:r>
              <a:rPr lang="zh-CN" altLang="en-US" dirty="0"/>
              <a:t>目的：理解通过终端运行程序的方式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572CDC-1827-60E1-86FF-9711D387F90E}"/>
              </a:ext>
            </a:extLst>
          </p:cNvPr>
          <p:cNvSpPr txBox="1"/>
          <p:nvPr/>
        </p:nvSpPr>
        <p:spPr>
          <a:xfrm>
            <a:off x="897873" y="4124325"/>
            <a:ext cx="621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</a:schemeClr>
                </a:solidFill>
              </a:rPr>
              <a:t>注：直接输入</a:t>
            </a:r>
            <a:r>
              <a:rPr lang="en-US" altLang="zh-CN" sz="1400" dirty="0">
                <a:solidFill>
                  <a:schemeClr val="tx1">
                    <a:lumMod val="65000"/>
                  </a:schemeClr>
                </a:solidFill>
              </a:rPr>
              <a:t>python</a:t>
            </a:r>
            <a:r>
              <a:rPr lang="zh-CN" altLang="en-US" sz="1400" dirty="0">
                <a:solidFill>
                  <a:schemeClr val="tx1">
                    <a:lumMod val="65000"/>
                  </a:schemeClr>
                </a:solidFill>
              </a:rPr>
              <a:t>会进入互动式运行模式。后面带上脚本名作为传入参数，</a:t>
            </a:r>
            <a:r>
              <a:rPr lang="en-US" altLang="zh-CN" sz="1400" dirty="0">
                <a:solidFill>
                  <a:schemeClr val="tx1">
                    <a:lumMod val="65000"/>
                  </a:schemeClr>
                </a:solidFill>
              </a:rPr>
              <a:t>python</a:t>
            </a:r>
            <a:r>
              <a:rPr lang="zh-CN" altLang="en-US" sz="1400" dirty="0">
                <a:solidFill>
                  <a:schemeClr val="tx1">
                    <a:lumMod val="65000"/>
                  </a:schemeClr>
                </a:solidFill>
              </a:rPr>
              <a:t>会进入脚本运行模式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E6243D-7BD1-9EC5-6DCF-892713A04649}"/>
              </a:ext>
            </a:extLst>
          </p:cNvPr>
          <p:cNvSpPr txBox="1"/>
          <p:nvPr/>
        </p:nvSpPr>
        <p:spPr>
          <a:xfrm>
            <a:off x="8162782" y="6371899"/>
            <a:ext cx="4076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路径：</a:t>
            </a:r>
            <a:r>
              <a:rPr lang="en-GB" altLang="zh-CN" sz="1400" dirty="0"/>
              <a:t>E:\Everything\Everything.exe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2637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49248-6E56-89FF-E6CB-DA229728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环境变量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C0A8AAE-5AF7-48F8-0588-D17C66F497FF}"/>
              </a:ext>
            </a:extLst>
          </p:cNvPr>
          <p:cNvSpPr txBox="1">
            <a:spLocks/>
          </p:cNvSpPr>
          <p:nvPr/>
        </p:nvSpPr>
        <p:spPr>
          <a:xfrm>
            <a:off x="838199" y="1495683"/>
            <a:ext cx="10848975" cy="5162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本质：键值对。类似于编程语言中变量名</a:t>
            </a:r>
            <a:r>
              <a:rPr lang="en-US" altLang="zh-CN" sz="2400" dirty="0"/>
              <a:t>=</a:t>
            </a:r>
            <a:r>
              <a:rPr lang="zh-CN" altLang="en-US" sz="2400" dirty="0"/>
              <a:t>值。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对于</a:t>
            </a:r>
            <a:r>
              <a:rPr lang="en-US" altLang="zh-CN" sz="2400" dirty="0"/>
              <a:t>windows</a:t>
            </a:r>
            <a:r>
              <a:rPr lang="zh-CN" altLang="en-US" sz="2400" dirty="0"/>
              <a:t>操作系统，在环境变量中把</a:t>
            </a:r>
            <a:r>
              <a:rPr lang="en-US" altLang="zh-CN" sz="2400" dirty="0"/>
              <a:t>python</a:t>
            </a:r>
            <a:r>
              <a:rPr lang="zh-CN" altLang="en-US" sz="2400" dirty="0"/>
              <a:t>程序所处的路径配置进</a:t>
            </a:r>
            <a:r>
              <a:rPr lang="en-US" altLang="zh-CN" sz="2400" dirty="0"/>
              <a:t>path</a:t>
            </a:r>
            <a:r>
              <a:rPr lang="zh-CN" altLang="en-US" sz="2400" dirty="0"/>
              <a:t>，即可直接输入</a:t>
            </a:r>
            <a:r>
              <a:rPr lang="en-US" altLang="zh-CN" sz="2400" dirty="0"/>
              <a:t>python</a:t>
            </a:r>
            <a:r>
              <a:rPr lang="zh-CN" altLang="en-US" sz="2400" dirty="0"/>
              <a:t>替代</a:t>
            </a:r>
            <a:r>
              <a:rPr lang="en-US" altLang="zh-CN" sz="2400" dirty="0"/>
              <a:t>python</a:t>
            </a:r>
            <a:r>
              <a:rPr lang="zh-CN" altLang="en-US" sz="2400" dirty="0"/>
              <a:t>所处的具体的绝对路径，操作系统会在</a:t>
            </a:r>
            <a:r>
              <a:rPr lang="en-US" altLang="zh-CN" sz="2400" dirty="0"/>
              <a:t>path</a:t>
            </a:r>
            <a:r>
              <a:rPr lang="zh-CN" altLang="en-US" sz="2400" dirty="0"/>
              <a:t>的路径表中自行搜索找到</a:t>
            </a:r>
            <a:r>
              <a:rPr lang="en-US" altLang="zh-CN" sz="2400" dirty="0"/>
              <a:t>python.exe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配置环境变量：</a:t>
            </a:r>
            <a:r>
              <a:rPr lang="en-US" altLang="zh-CN" sz="2400" dirty="0" err="1"/>
              <a:t>win+R</a:t>
            </a:r>
            <a:r>
              <a:rPr lang="en-US" altLang="zh-CN" sz="2400" dirty="0"/>
              <a:t> -&gt; </a:t>
            </a:r>
            <a:r>
              <a:rPr lang="zh-CN" altLang="en-US" sz="2400" dirty="0"/>
              <a:t>输入</a:t>
            </a:r>
            <a:r>
              <a:rPr lang="en-US" altLang="zh-CN" sz="2400" dirty="0" err="1"/>
              <a:t>sysdm.cpl</a:t>
            </a:r>
            <a:r>
              <a:rPr lang="zh-CN" altLang="en-US" sz="2400" dirty="0"/>
              <a:t>后回车</a:t>
            </a:r>
            <a:r>
              <a:rPr lang="en-US" altLang="zh-CN" sz="2400" dirty="0"/>
              <a:t> -&gt; </a:t>
            </a:r>
            <a:r>
              <a:rPr lang="zh-CN" altLang="en-US" sz="2400" dirty="0"/>
              <a:t>高级</a:t>
            </a:r>
            <a:r>
              <a:rPr lang="en-US" altLang="zh-CN" sz="2400" dirty="0"/>
              <a:t> -&gt; </a:t>
            </a:r>
            <a:r>
              <a:rPr lang="zh-CN" altLang="en-US" sz="2400" dirty="0"/>
              <a:t>环境变量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FFE7EE-DE51-A679-03AD-464001D37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963" y="2512955"/>
            <a:ext cx="3652843" cy="35413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BD646B-C503-5F2F-4371-0652BC45E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" y="2520153"/>
            <a:ext cx="3617123" cy="35341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DDEE3B6-1E68-BC2A-E70D-C00A9E16C10D}"/>
              </a:ext>
            </a:extLst>
          </p:cNvPr>
          <p:cNvSpPr txBox="1"/>
          <p:nvPr/>
        </p:nvSpPr>
        <p:spPr>
          <a:xfrm>
            <a:off x="9217326" y="6350198"/>
            <a:ext cx="274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400" dirty="0">
                <a:solidFill>
                  <a:srgbClr val="92D050"/>
                </a:solidFill>
              </a:rPr>
              <a:t>PS C:\Users\Kexin&gt; $</a:t>
            </a:r>
            <a:r>
              <a:rPr lang="en-GB" altLang="zh-CN" sz="1400" dirty="0" err="1">
                <a:solidFill>
                  <a:srgbClr val="92D050"/>
                </a:solidFill>
              </a:rPr>
              <a:t>env:OS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81D34F-E378-1C19-39E6-4CF624A63FE8}"/>
              </a:ext>
            </a:extLst>
          </p:cNvPr>
          <p:cNvSpPr txBox="1"/>
          <p:nvPr/>
        </p:nvSpPr>
        <p:spPr>
          <a:xfrm>
            <a:off x="9448943" y="5940620"/>
            <a:ext cx="274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在控制台呼出环境变量的语法（</a:t>
            </a:r>
            <a:r>
              <a:rPr lang="en-US" altLang="zh-CN" sz="1400" dirty="0"/>
              <a:t>windows</a:t>
            </a:r>
            <a:r>
              <a:rPr lang="zh-CN" altLang="en-US" sz="1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0393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6BC1-8FA3-8BCA-7E50-0EE9C568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63A17-5BB9-0DBE-3C8D-8D689610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34457-3027-0307-F819-98B2F0504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44063" cy="34940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）在环境变量中找到</a:t>
            </a:r>
            <a:r>
              <a:rPr lang="en-US" altLang="zh-CN" dirty="0"/>
              <a:t>IDE</a:t>
            </a:r>
            <a:r>
              <a:rPr lang="zh-CN" altLang="en-US" dirty="0"/>
              <a:t>运行的</a:t>
            </a:r>
            <a:r>
              <a:rPr lang="en-US" altLang="zh-CN" dirty="0"/>
              <a:t>python</a:t>
            </a:r>
            <a:r>
              <a:rPr lang="zh-CN" altLang="en-US" dirty="0"/>
              <a:t>程序所在的路径。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）在</a:t>
            </a:r>
            <a:r>
              <a:rPr lang="en-US" altLang="zh-CN" dirty="0"/>
              <a:t>windows</a:t>
            </a:r>
            <a:r>
              <a:rPr lang="zh-CN" altLang="en-US" dirty="0"/>
              <a:t>终端直接运行</a:t>
            </a:r>
            <a:r>
              <a:rPr lang="en-US" altLang="zh-CN" dirty="0"/>
              <a:t>python + </a:t>
            </a:r>
            <a:r>
              <a:rPr lang="zh-CN" altLang="en-US" dirty="0"/>
              <a:t>脚本名，观察是否和</a:t>
            </a:r>
            <a:r>
              <a:rPr lang="en-US" altLang="zh-CN" dirty="0"/>
              <a:t>IDE</a:t>
            </a:r>
            <a:r>
              <a:rPr lang="zh-CN" altLang="en-US" dirty="0"/>
              <a:t>运行的结果一致。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）删除环境变量中对应路径，观察是否仍然能在</a:t>
            </a:r>
            <a:r>
              <a:rPr lang="en-US" altLang="zh-CN" dirty="0"/>
              <a:t>windows</a:t>
            </a:r>
            <a:r>
              <a:rPr lang="zh-CN" altLang="en-US" dirty="0"/>
              <a:t>终端这样运行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）将</a:t>
            </a:r>
            <a:r>
              <a:rPr lang="en-US" altLang="zh-CN" dirty="0"/>
              <a:t>everything</a:t>
            </a:r>
            <a:r>
              <a:rPr lang="zh-CN" altLang="en-US" dirty="0"/>
              <a:t>路径配置进环境变量，然后测试能否直接输入“</a:t>
            </a:r>
            <a:r>
              <a:rPr lang="en-US" altLang="zh-CN" dirty="0"/>
              <a:t>everything</a:t>
            </a:r>
            <a:r>
              <a:rPr lang="zh-CN" altLang="en-US" dirty="0"/>
              <a:t>”启动</a:t>
            </a:r>
            <a:r>
              <a:rPr lang="en-US" altLang="zh-CN" dirty="0"/>
              <a:t>everything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目的：理解能够在</a:t>
            </a:r>
            <a:r>
              <a:rPr lang="en-US" altLang="zh-CN" sz="2400" dirty="0"/>
              <a:t>windows</a:t>
            </a:r>
            <a:r>
              <a:rPr lang="zh-CN" altLang="en-US" sz="2400" dirty="0"/>
              <a:t>终端中直接通过</a:t>
            </a:r>
            <a:r>
              <a:rPr lang="en-US" altLang="zh-CN" sz="2400" dirty="0"/>
              <a:t>python</a:t>
            </a:r>
            <a:r>
              <a:rPr lang="zh-CN" altLang="en-US" sz="2400" dirty="0"/>
              <a:t>启动</a:t>
            </a:r>
            <a:r>
              <a:rPr lang="en-US" altLang="zh-CN" sz="2400" dirty="0"/>
              <a:t>python</a:t>
            </a:r>
            <a:r>
              <a:rPr lang="zh-CN" altLang="en-US" sz="2400" dirty="0"/>
              <a:t>并非因为</a:t>
            </a:r>
            <a:r>
              <a:rPr lang="en-US" altLang="zh-CN" sz="2400" dirty="0"/>
              <a:t>python</a:t>
            </a:r>
            <a:r>
              <a:rPr lang="zh-CN" altLang="en-US" sz="2400" dirty="0"/>
              <a:t>的特殊性，而是因为进行了配置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8777B-95B9-066F-5DD9-FFCF47D85EDB}"/>
              </a:ext>
            </a:extLst>
          </p:cNvPr>
          <p:cNvSpPr txBox="1"/>
          <p:nvPr/>
        </p:nvSpPr>
        <p:spPr>
          <a:xfrm>
            <a:off x="3100388" y="5802313"/>
            <a:ext cx="9353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100" dirty="0"/>
              <a:t>C:/Users/Kexin/AppData/Local/Microsoft/WindowsApps/python3.12.exe "e:/Development/PythonTeaching/Course 8/deal_with_exceptions.py"</a:t>
            </a:r>
            <a:endParaRPr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ED99C7-A876-7D0D-C495-EE0A2134BA41}"/>
              </a:ext>
            </a:extLst>
          </p:cNvPr>
          <p:cNvSpPr txBox="1"/>
          <p:nvPr/>
        </p:nvSpPr>
        <p:spPr>
          <a:xfrm>
            <a:off x="1871662" y="5725369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测试用脚本：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C89C21-4904-C76A-DE47-A4B75FF0BE05}"/>
              </a:ext>
            </a:extLst>
          </p:cNvPr>
          <p:cNvSpPr txBox="1"/>
          <p:nvPr/>
        </p:nvSpPr>
        <p:spPr>
          <a:xfrm>
            <a:off x="3100388" y="6064250"/>
            <a:ext cx="9353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100" dirty="0"/>
              <a:t>C:\Users\Kexin\AppData\Local\Microsoft\WindowsApps\</a:t>
            </a:r>
            <a:endParaRPr lang="zh-CN" alt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24AEF3-09B2-9B96-4C37-5E96FF7FF6AB}"/>
              </a:ext>
            </a:extLst>
          </p:cNvPr>
          <p:cNvSpPr txBox="1"/>
          <p:nvPr/>
        </p:nvSpPr>
        <p:spPr>
          <a:xfrm>
            <a:off x="1414463" y="5987306"/>
            <a:ext cx="1981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python</a:t>
            </a:r>
            <a:r>
              <a:rPr lang="zh-CN" altLang="en-US" sz="1600" dirty="0"/>
              <a:t>所在路径：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DF3F78-199F-94AC-C78B-4A849903A279}"/>
              </a:ext>
            </a:extLst>
          </p:cNvPr>
          <p:cNvSpPr txBox="1"/>
          <p:nvPr/>
        </p:nvSpPr>
        <p:spPr>
          <a:xfrm>
            <a:off x="3341499" y="6345238"/>
            <a:ext cx="9353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100" dirty="0"/>
              <a:t>E:\Everything\</a:t>
            </a:r>
            <a:endParaRPr lang="zh-CN" alt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9E213D-3A85-5565-6A22-273C2CF25E67}"/>
              </a:ext>
            </a:extLst>
          </p:cNvPr>
          <p:cNvSpPr txBox="1"/>
          <p:nvPr/>
        </p:nvSpPr>
        <p:spPr>
          <a:xfrm>
            <a:off x="1414463" y="6268294"/>
            <a:ext cx="1981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everything</a:t>
            </a:r>
            <a:r>
              <a:rPr lang="zh-CN" altLang="en-US" sz="1600" dirty="0"/>
              <a:t>所在路径：</a:t>
            </a:r>
          </a:p>
        </p:txBody>
      </p:sp>
    </p:spTree>
    <p:extLst>
      <p:ext uri="{BB962C8B-B14F-4D97-AF65-F5344CB8AC3E}">
        <p14:creationId xmlns:p14="http://schemas.microsoft.com/office/powerpoint/2010/main" val="222024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426B0-B3F3-3192-7DA8-301CD9CC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程序运行与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82128-CBA7-ADE5-FA2B-69A89A22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39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经过以上的实验，可以发现</a:t>
            </a:r>
            <a:r>
              <a:rPr lang="en-US" altLang="zh-CN" dirty="0"/>
              <a:t>IDE</a:t>
            </a:r>
            <a:r>
              <a:rPr lang="zh-CN" altLang="en-US" dirty="0"/>
              <a:t>并不具有运行程序的魔法，而只是一个工作台。</a:t>
            </a:r>
            <a:endParaRPr lang="en-US" altLang="zh-CN" dirty="0"/>
          </a:p>
          <a:p>
            <a:r>
              <a:rPr lang="zh-CN" altLang="en-US" dirty="0"/>
              <a:t>程序并不是只能在</a:t>
            </a:r>
            <a:r>
              <a:rPr lang="en-US" altLang="zh-CN" dirty="0"/>
              <a:t>IDE</a:t>
            </a:r>
            <a:r>
              <a:rPr lang="zh-CN" altLang="en-US" dirty="0"/>
              <a:t>里写和运行。记事本一样可以（演示：</a:t>
            </a:r>
            <a:r>
              <a:rPr lang="en-GB" altLang="zh-CN" dirty="0"/>
              <a:t>hello_world.py</a:t>
            </a:r>
            <a:r>
              <a:rPr lang="zh-CN" altLang="en-US" dirty="0"/>
              <a:t>）。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3FF582-7D6D-36E4-F2D3-07A9BC92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68" y="3512024"/>
            <a:ext cx="4303592" cy="29587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A31F266-DEF1-BF57-201C-655D37890315}"/>
              </a:ext>
            </a:extLst>
          </p:cNvPr>
          <p:cNvSpPr txBox="1"/>
          <p:nvPr/>
        </p:nvSpPr>
        <p:spPr>
          <a:xfrm>
            <a:off x="6200629" y="4571998"/>
            <a:ext cx="466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python .\hello_world.txt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6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B36B-D685-2D07-4C3A-F0D233B1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38107-61CA-E801-9B99-C0438CC5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程序运行与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05E34-5F13-E2C7-A2EE-AEFA7EF94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6399"/>
          </a:xfrm>
        </p:spPr>
        <p:txBody>
          <a:bodyPr>
            <a:normAutofit/>
          </a:bodyPr>
          <a:lstStyle/>
          <a:p>
            <a:r>
              <a:rPr lang="zh-CN" altLang="en-US" dirty="0"/>
              <a:t>我们运行的</a:t>
            </a:r>
            <a:r>
              <a:rPr lang="en-US" altLang="zh-CN" dirty="0"/>
              <a:t>python</a:t>
            </a:r>
            <a:r>
              <a:rPr lang="zh-CN" altLang="en-US" dirty="0"/>
              <a:t>脚本和浏览器、微信或任何一个其他程序一样，运行后的进程都可以在任务管理器里找到（演示：</a:t>
            </a:r>
            <a:r>
              <a:rPr lang="en-GB" altLang="zh-CN" dirty="0"/>
              <a:t>ask_for_age.py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0E2AC2-2D6C-ACFD-1C13-6643B763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06" y="3429000"/>
            <a:ext cx="8788021" cy="197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6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F2FE9-C934-7C80-5045-995EA2AD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程序运行前传入参数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C4BC2-7309-19A6-D069-3893FDCAC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7416"/>
            <a:ext cx="10515600" cy="4064118"/>
          </a:xfrm>
        </p:spPr>
        <p:txBody>
          <a:bodyPr>
            <a:normAutofit fontScale="92500"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程序在运行前可以接受参数，此处的</a:t>
            </a:r>
            <a:r>
              <a:rPr lang="en-US" altLang="zh-CN" dirty="0"/>
              <a:t>-h</a:t>
            </a:r>
            <a:r>
              <a:rPr lang="en-US" altLang="zh-CN"/>
              <a:t>/--help</a:t>
            </a:r>
            <a:r>
              <a:rPr lang="zh-CN" altLang="en-US"/>
              <a:t>是</a:t>
            </a:r>
            <a:r>
              <a:rPr lang="zh-CN" altLang="en-US" dirty="0"/>
              <a:t>一个旗帜（</a:t>
            </a:r>
            <a:r>
              <a:rPr lang="en-US" altLang="zh-CN" dirty="0"/>
              <a:t>flag</a:t>
            </a:r>
            <a:r>
              <a:rPr lang="zh-CN" altLang="en-US" dirty="0"/>
              <a:t>），用于让</a:t>
            </a:r>
            <a:r>
              <a:rPr lang="en-US" altLang="zh-CN" dirty="0"/>
              <a:t>python</a:t>
            </a:r>
            <a:r>
              <a:rPr lang="zh-CN" altLang="en-US" dirty="0"/>
              <a:t>显示帮助信息。</a:t>
            </a:r>
            <a:endParaRPr lang="en-US" altLang="zh-CN" dirty="0"/>
          </a:p>
          <a:p>
            <a:r>
              <a:rPr lang="zh-CN" altLang="en-US" dirty="0"/>
              <a:t>运行前传参相较于在运行中通过</a:t>
            </a:r>
            <a:r>
              <a:rPr lang="en-US" altLang="zh-CN" dirty="0"/>
              <a:t>input()</a:t>
            </a:r>
            <a:r>
              <a:rPr lang="zh-CN" altLang="en-US" dirty="0"/>
              <a:t>请求用户输入的优势在于批量处理</a:t>
            </a:r>
            <a:r>
              <a:rPr lang="en-US" altLang="zh-CN" dirty="0"/>
              <a:t>/</a:t>
            </a:r>
            <a:r>
              <a:rPr lang="zh-CN" altLang="en-US" dirty="0"/>
              <a:t>自动化的情况。比起被</a:t>
            </a:r>
            <a:r>
              <a:rPr lang="en-US" altLang="zh-CN" dirty="0"/>
              <a:t>input()</a:t>
            </a:r>
            <a:r>
              <a:rPr lang="zh-CN" altLang="en-US" dirty="0"/>
              <a:t>频繁打断，需要等待输入来说要快很多。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演示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GB" altLang="zh-CN" dirty="0"/>
              <a:t>sys.argv.py</a:t>
            </a:r>
          </a:p>
          <a:p>
            <a:r>
              <a:rPr lang="zh-CN" altLang="en-US" dirty="0"/>
              <a:t>演示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GB" altLang="zh-CN" dirty="0"/>
              <a:t>annual_yield_v1.0.py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CB9002F-D88F-4B26-5414-F15C631BB29F}"/>
              </a:ext>
            </a:extLst>
          </p:cNvPr>
          <p:cNvGrpSpPr/>
          <p:nvPr/>
        </p:nvGrpSpPr>
        <p:grpSpPr>
          <a:xfrm>
            <a:off x="1128642" y="2345993"/>
            <a:ext cx="4591049" cy="537904"/>
            <a:chOff x="952501" y="2228850"/>
            <a:chExt cx="2262188" cy="53790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8E815FA-0ACF-D76A-FA84-B55729A24A68}"/>
                </a:ext>
              </a:extLst>
            </p:cNvPr>
            <p:cNvSpPr/>
            <p:nvPr/>
          </p:nvSpPr>
          <p:spPr>
            <a:xfrm>
              <a:off x="952501" y="2228850"/>
              <a:ext cx="2262188" cy="537904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CB51FF4-6222-5599-FDC9-B3A341C88B66}"/>
                </a:ext>
              </a:extLst>
            </p:cNvPr>
            <p:cNvSpPr txBox="1"/>
            <p:nvPr/>
          </p:nvSpPr>
          <p:spPr>
            <a:xfrm>
              <a:off x="1038225" y="2276237"/>
              <a:ext cx="20431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+mj-ea"/>
                  <a:ea typeface="+mj-ea"/>
                </a:rPr>
                <a:t>python -h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00B9C25-28A2-2A93-CD58-3609E8936643}"/>
              </a:ext>
            </a:extLst>
          </p:cNvPr>
          <p:cNvSpPr txBox="1"/>
          <p:nvPr/>
        </p:nvSpPr>
        <p:spPr>
          <a:xfrm>
            <a:off x="838200" y="1690688"/>
            <a:ext cx="592982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你是否见过类似这样的命令行语句？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974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3412</TotalTime>
  <Words>848</Words>
  <Application>Microsoft Office PowerPoint</Application>
  <PresentationFormat>宽屏</PresentationFormat>
  <Paragraphs>89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等线</vt:lpstr>
      <vt:lpstr>Arial</vt:lpstr>
      <vt:lpstr>Office 主题​​</vt:lpstr>
      <vt:lpstr>Python</vt:lpstr>
      <vt:lpstr>本节内容</vt:lpstr>
      <vt:lpstr>程序运行与IDE</vt:lpstr>
      <vt:lpstr>程序运行与IDE</vt:lpstr>
      <vt:lpstr>程序运行与IDE</vt:lpstr>
      <vt:lpstr>小实验</vt:lpstr>
      <vt:lpstr>环境变量</vt:lpstr>
      <vt:lpstr>小实验</vt:lpstr>
      <vt:lpstr>程序运行与IDE</vt:lpstr>
      <vt:lpstr>程序运行与IDE</vt:lpstr>
      <vt:lpstr>程序运行前传入参数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Kexin Wang</dc:creator>
  <cp:lastModifiedBy>Kexin Wang</cp:lastModifiedBy>
  <cp:revision>618</cp:revision>
  <dcterms:created xsi:type="dcterms:W3CDTF">2026-04-14T21:03:52Z</dcterms:created>
  <dcterms:modified xsi:type="dcterms:W3CDTF">2026-07-09T14:15:06Z</dcterms:modified>
</cp:coreProperties>
</file>